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334" r:id="rId2"/>
    <p:sldId id="265" r:id="rId3"/>
    <p:sldId id="258" r:id="rId4"/>
    <p:sldId id="259" r:id="rId5"/>
    <p:sldId id="260" r:id="rId6"/>
    <p:sldId id="349" r:id="rId7"/>
    <p:sldId id="348" r:id="rId8"/>
    <p:sldId id="338" r:id="rId9"/>
    <p:sldId id="261" r:id="rId10"/>
    <p:sldId id="343" r:id="rId11"/>
    <p:sldId id="263" r:id="rId12"/>
    <p:sldId id="344" r:id="rId13"/>
    <p:sldId id="347" r:id="rId14"/>
    <p:sldId id="270" r:id="rId15"/>
    <p:sldId id="271" r:id="rId16"/>
    <p:sldId id="264" r:id="rId17"/>
    <p:sldId id="333" r:id="rId18"/>
    <p:sldId id="308" r:id="rId19"/>
    <p:sldId id="309" r:id="rId20"/>
    <p:sldId id="336" r:id="rId21"/>
    <p:sldId id="339" r:id="rId22"/>
    <p:sldId id="340" r:id="rId23"/>
    <p:sldId id="34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41E"/>
    <a:srgbClr val="2C2255"/>
    <a:srgbClr val="FF9900"/>
    <a:srgbClr val="F6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316" autoAdjust="0"/>
  </p:normalViewPr>
  <p:slideViewPr>
    <p:cSldViewPr snapToGrid="0">
      <p:cViewPr varScale="1">
        <p:scale>
          <a:sx n="83" d="100"/>
          <a:sy n="83" d="100"/>
        </p:scale>
        <p:origin x="68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F7272-9B1D-4C9A-BAA4-A2C3BF62B1D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9100B-F611-4B83-9AF4-01D82287C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2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9100B-F611-4B83-9AF4-01D82287C5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39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877B5-DBE6-3F46-B290-E941D6ED0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D97D8-1881-94D9-5C3F-017AAD3BC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D83FF-B319-E078-A02D-D484E56B2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9EC34-11B5-9226-36CB-9EDDE40E0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9100B-F611-4B83-9AF4-01D82287C5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16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595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9100B-F611-4B83-9AF4-01D82287C5E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06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A925-E073-1352-4E7A-21B73E753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4F156-E62D-66EE-FCDC-6D3926EAF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CD391-3C43-DFD0-9F66-2DBA31F7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E448-34E0-46DC-9FDB-1B326907CA8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1ECB1-D1B7-A4B3-ABEB-255191D5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AD3C4-4128-4E01-8A40-E85EC52A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094D-1336-F9EB-9410-5AC7FF8A5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C5061-A23C-68D7-6DC7-69469FA74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B7132-991D-1E65-604B-E9C145161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593FE-CF93-4F9B-AC56-75BC55C6F32F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FBAC5-40B8-83F4-84EA-01EF882C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85073-C5F3-8286-188D-F9F9EA29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7" name="Straight Connector 7">
            <a:extLst>
              <a:ext uri="{FF2B5EF4-FFF2-40B4-BE49-F238E27FC236}">
                <a16:creationId xmlns:a16="http://schemas.microsoft.com/office/drawing/2014/main" id="{CF321A31-2616-DCBF-8531-B17C24BD02A1}"/>
              </a:ext>
            </a:extLst>
          </p:cNvPr>
          <p:cNvSpPr/>
          <p:nvPr userDrawn="1"/>
        </p:nvSpPr>
        <p:spPr>
          <a:xfrm>
            <a:off x="838200" y="960120"/>
            <a:ext cx="10515601" cy="1"/>
          </a:xfrm>
          <a:prstGeom prst="line">
            <a:avLst/>
          </a:prstGeom>
          <a:ln w="19050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2989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9CE8-3EFF-2D4C-15F5-7E99BE8A5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C618E-CD17-C6D2-FC47-2B5123A65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384A6-5333-EE21-43C1-16A36F7DA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9679-8FFF-4A98-A10B-7B9208840F9A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56D9F-BBA6-CB91-0C55-D4BA0543E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211C7-67BB-93D9-1FDC-C0B11263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44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83BC3-AF71-DEAD-9659-297C3DC2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6C076-CE50-F5A7-F9C9-1461DC19B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4152A-B5FD-36A5-5634-D6799284C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02D4C-0990-B05A-D857-534368D1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6605E-1528-4FCA-84AE-4988E530378F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D6045-0A4E-BA7F-2D52-3F5D18E2B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4C539-102A-A0E0-5484-64D0C1B0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47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0EF3-EA5C-CB77-F151-EAF17DF6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D74E4-25D8-5225-5249-87DC90867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BBA45-7B63-7F1C-A067-28574A14A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DAB50-5088-0827-0FB5-B342767B6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929AF9-7D4A-8D40-993E-A9418A8C9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BE4F92-DE73-BC10-9492-C2F67DA49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67F88-E15A-423E-8C0E-ED81B2AD200B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445B52-B932-8510-352A-0816B3CE1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E3782E-CDC0-417C-C8A2-07BF34EB7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01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420B4-F8FB-3523-76E3-DDD8550D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01F1B-3F09-C742-AB27-EAFA5300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AEE9-0B70-4E11-9251-71473506E641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9AB55-FA9C-CFB9-D544-3754A81F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8082B-44FA-D2A9-D3BD-9284FD8F9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6" name="Straight Connector 7">
            <a:extLst>
              <a:ext uri="{FF2B5EF4-FFF2-40B4-BE49-F238E27FC236}">
                <a16:creationId xmlns:a16="http://schemas.microsoft.com/office/drawing/2014/main" id="{BEC36D4D-203D-4D95-7FF0-2C38FE001EB5}"/>
              </a:ext>
            </a:extLst>
          </p:cNvPr>
          <p:cNvSpPr/>
          <p:nvPr userDrawn="1"/>
        </p:nvSpPr>
        <p:spPr>
          <a:xfrm>
            <a:off x="838200" y="960120"/>
            <a:ext cx="10515601" cy="1"/>
          </a:xfrm>
          <a:prstGeom prst="line">
            <a:avLst/>
          </a:prstGeom>
          <a:ln w="19050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81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12927-BCF6-D71D-DBC8-6D5EF5C96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A6C2F-4429-4DEF-9F7B-968D133361D9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879E2-0EA0-77F9-CBB8-D827091C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7983D-2467-9A9A-D2E1-DFC7489C0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41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3FB50-F548-3A92-B738-B657E58E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F0F81-AE7B-8FAF-072E-A4D8C30A2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0FE31-CD5C-FA74-787B-6FDE7C0A4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E22BD-F087-F4F5-2828-2EB0CB24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D99-E1A7-4CEB-A5F5-1115ADD4759D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12E01-670B-7FB9-2477-16B43AECA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C55FC-7357-EF61-2A1C-2C846A99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01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AA0B5-09E4-C0A1-5FC1-319D885B6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8AE16C-98C4-DC0F-D35B-37F173FF9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6D893-93D7-1592-F20E-B2469E2DF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97C78-F8AE-7E51-F1A6-6E31AF7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C830-A156-4095-8DF1-654325C78F63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67550-5A06-201C-FCBA-E19CCD01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84005-F19A-47DB-EE9A-84827E96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01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8A92-C8E5-20FC-58B5-14406984A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8A3B5-9F3C-560F-2CE3-C43A18909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92985-F393-6DBE-EEBA-044F1849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C9A0-71EB-4C46-BFAE-DCF0AF3A0EC8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AF541-A58C-5F96-F1AB-58718D3D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1AD23-804C-FDD2-C7E3-C70C4D1CD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12BE8-6BA6-3FFB-F49A-60496B7BB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591720-C204-4B3E-0BFA-655895412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08C33-BBE4-41C8-DBA0-E396B160A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F7C9-88A6-4437-8948-DF2F3F9B25C1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9C718-6874-5B7D-0FBE-C532B9CF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7FCB4-C288-4078-3512-4A0D01FC7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07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D86B40-7313-A41C-3591-57A0EC368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82296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ED253-66BC-7411-BF01-C98FF7F5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32747"/>
            <a:ext cx="10515600" cy="4944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A6324-66EE-A965-20FF-AD9A47E14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568D0-A24C-431A-888C-8829CA6D36F6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F221D-9C12-DA76-2B9F-692A6FF49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BF2ED-5C79-4FD8-B35E-819455480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4CE7D-5D74-4EC3-A871-8F42005E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8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ldmansachs/gs-collection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eclipse/eclipse-collections/blob/master/CONTRIBUTING.md" TargetMode="External"/><Relationship Id="rId5" Type="http://schemas.openxmlformats.org/officeDocument/2006/relationships/hyperlink" Target="https://github.com/eclipse/eclipse-collections-kata" TargetMode="External"/><Relationship Id="rId4" Type="http://schemas.openxmlformats.org/officeDocument/2006/relationships/hyperlink" Target="https://www.eclipse.org/collections/index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javarevisited/how-do-you-know-if-a-java-collection-is-mutable-or-immutable-b397dfc5d231?source=friends_link&amp;sk=4f29c9d4977f76884a75efa51dec353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javarevisited/how-do-you-know-if-a-java-collection-is-mutable-or-immutable-b397dfc5d231?source=friends_link&amp;sk=4f29c9d4977f76884a75efa51dec353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java-memory-layout" TargetMode="External"/><Relationship Id="rId2" Type="http://schemas.openxmlformats.org/officeDocument/2006/relationships/hyperlink" Target="https://openjdk.org/projects/code-tools/jol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tackoverflow.com/questions/79769855/does-java-object-layout-jol-work-with-java-25-and-compact-object-headers-enabl" TargetMode="External"/><Relationship Id="rId4" Type="http://schemas.openxmlformats.org/officeDocument/2006/relationships/hyperlink" Target="https://stackoverflow.com/questions/76130264/does-java-object-layout-work-with-java-record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clipse-collections/eclipse-collections-kata" TargetMode="External"/><Relationship Id="rId2" Type="http://schemas.openxmlformats.org/officeDocument/2006/relationships/hyperlink" Target="https://github.com/eclipse-collections/eclipse-collection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8F5AA-0871-8876-19DB-00AFD273A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>
            <a:extLst>
              <a:ext uri="{FF2B5EF4-FFF2-40B4-BE49-F238E27FC236}">
                <a16:creationId xmlns:a16="http://schemas.microsoft.com/office/drawing/2014/main" id="{48A42719-47BA-FEA3-3944-F8ACA128C5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10766" y="879473"/>
            <a:ext cx="10091738" cy="2387601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sz="48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R</a:t>
            </a:r>
            <a:r>
              <a:rPr sz="48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efactoring</a:t>
            </a:r>
            <a:r>
              <a:rPr lang="en-US" sz="48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. </a:t>
            </a:r>
            <a:r>
              <a:rPr sz="48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to </a:t>
            </a:r>
            <a:br>
              <a:rPr sz="4800" dirty="0"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</a:br>
            <a:endParaRPr sz="4800" dirty="0"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</p:txBody>
      </p:sp>
      <p:sp>
        <p:nvSpPr>
          <p:cNvPr id="114" name="Subtitle 2">
            <a:extLst>
              <a:ext uri="{FF2B5EF4-FFF2-40B4-BE49-F238E27FC236}">
                <a16:creationId xmlns:a16="http://schemas.microsoft.com/office/drawing/2014/main" id="{CAC379AF-70D8-E715-0558-F253007ED9D7}"/>
              </a:ext>
            </a:extLst>
          </p:cNvPr>
          <p:cNvSpPr txBox="1">
            <a:spLocks noGrp="1"/>
          </p:cNvSpPr>
          <p:nvPr>
            <p:ph type="subTitle" sz="quarter" idx="1"/>
          </p:nvPr>
        </p:nvSpPr>
        <p:spPr>
          <a:xfrm>
            <a:off x="1524000" y="3659190"/>
            <a:ext cx="9144000" cy="11557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solidFill>
                  <a:srgbClr val="808080"/>
                </a:solidFill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Making Your Java Streams</a:t>
            </a:r>
            <a:b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</a:b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Leaner, Meaner, and Cleaner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28D06-FDEE-DBF2-1974-7291C483823E}"/>
              </a:ext>
            </a:extLst>
          </p:cNvPr>
          <p:cNvSpPr txBox="1"/>
          <p:nvPr/>
        </p:nvSpPr>
        <p:spPr>
          <a:xfrm>
            <a:off x="0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🦤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8B405-AAF4-89D5-BBEB-99CBB32DF92B}"/>
              </a:ext>
            </a:extLst>
          </p:cNvPr>
          <p:cNvSpPr txBox="1"/>
          <p:nvPr/>
        </p:nvSpPr>
        <p:spPr>
          <a:xfrm>
            <a:off x="521493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🐿️</a:t>
            </a:r>
            <a:endParaRPr lang="en-US" sz="320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94E2E0C-60BE-525B-66B3-A158A54C6C43}"/>
              </a:ext>
            </a:extLst>
          </p:cNvPr>
          <p:cNvSpPr txBox="1">
            <a:spLocks/>
          </p:cNvSpPr>
          <p:nvPr/>
        </p:nvSpPr>
        <p:spPr>
          <a:xfrm>
            <a:off x="1524000" y="5385311"/>
            <a:ext cx="9144000" cy="1121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 lnSpcReduction="10000"/>
          </a:bodyPr>
          <a:lstStyle>
            <a:lvl1pPr marL="0" marR="0" indent="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Univers"/>
                <a:ea typeface="Univers"/>
                <a:cs typeface="Univers"/>
                <a:sym typeface="Univers"/>
              </a:defRPr>
            </a:lvl1pPr>
            <a:lvl2pPr marL="0" marR="0" indent="4572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Univers"/>
                <a:ea typeface="Univers"/>
                <a:cs typeface="Univers"/>
                <a:sym typeface="Univers"/>
              </a:defRPr>
            </a:lvl2pPr>
            <a:lvl3pPr marL="0" marR="0" indent="9144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Univers"/>
                <a:ea typeface="Univers"/>
                <a:cs typeface="Univers"/>
                <a:sym typeface="Univers"/>
              </a:defRPr>
            </a:lvl3pPr>
            <a:lvl4pPr marL="0" marR="0" indent="13716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Univers"/>
                <a:ea typeface="Univers"/>
                <a:cs typeface="Univers"/>
                <a:sym typeface="Univers"/>
              </a:defRPr>
            </a:lvl4pPr>
            <a:lvl5pPr marL="0" marR="0" indent="18288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Univers"/>
                <a:ea typeface="Univers"/>
                <a:cs typeface="Univers"/>
                <a:sym typeface="Univers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Univers"/>
                <a:ea typeface="Univers"/>
                <a:cs typeface="Univers"/>
                <a:sym typeface="Univers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Univers"/>
                <a:ea typeface="Univers"/>
                <a:cs typeface="Univers"/>
                <a:sym typeface="Univers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Univers"/>
                <a:ea typeface="Univers"/>
                <a:cs typeface="Univers"/>
                <a:sym typeface="Univers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Univers"/>
                <a:ea typeface="Univers"/>
                <a:cs typeface="Univers"/>
                <a:sym typeface="Univers"/>
              </a:defRPr>
            </a:lvl9pPr>
          </a:lstStyle>
          <a:p>
            <a:pPr hangingPunct="1">
              <a:defRPr sz="3200">
                <a:solidFill>
                  <a:srgbClr val="808080"/>
                </a:solidFill>
              </a:defRPr>
            </a:pPr>
            <a:r>
              <a:rPr lang="en-US" sz="2000" dirty="0">
                <a:solidFill>
                  <a:srgbClr val="808080"/>
                </a:solidFill>
                <a:latin typeface="Aptos" panose="020B0004020202020204" pitchFamily="34" charset="0"/>
              </a:rPr>
              <a:t>Donald Raab, Vladimir Zakharov</a:t>
            </a:r>
          </a:p>
          <a:p>
            <a:pPr hangingPunct="1">
              <a:defRPr sz="3200">
                <a:solidFill>
                  <a:srgbClr val="808080"/>
                </a:solidFill>
              </a:defRPr>
            </a:pPr>
            <a:r>
              <a:rPr lang="en-US" sz="2000" dirty="0">
                <a:solidFill>
                  <a:srgbClr val="808080"/>
                </a:solidFill>
                <a:latin typeface="Aptos" panose="020B0004020202020204" pitchFamily="34" charset="0"/>
              </a:rPr>
              <a:t>dev2next • Colorado Springs, CO • September 29 - October 2, 2025</a:t>
            </a:r>
          </a:p>
          <a:p>
            <a:pPr hangingPunct="1">
              <a:defRPr sz="3200">
                <a:solidFill>
                  <a:srgbClr val="808080"/>
                </a:solidFill>
              </a:defRPr>
            </a:pPr>
            <a:r>
              <a:rPr lang="en-US" sz="1800" dirty="0">
                <a:solidFill>
                  <a:srgbClr val="808080"/>
                </a:solidFill>
                <a:latin typeface="Aptos" panose="020B0004020202020204" pitchFamily="34" charset="0"/>
              </a:rPr>
              <a:t>https://github.com/vmzakharov/refactor-to-ec-remake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7F2FECC-480C-2F02-FCD7-9A91EC5BF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8255" y="1522310"/>
            <a:ext cx="4951962" cy="136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68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68" y="2405269"/>
            <a:ext cx="1257273" cy="958507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itle 1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10515600" cy="82296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18" name="Content Placeholder 2"/>
          <p:cNvSpPr txBox="1">
            <a:spLocks noGrp="1"/>
          </p:cNvSpPr>
          <p:nvPr>
            <p:ph idx="1"/>
          </p:nvPr>
        </p:nvSpPr>
        <p:spPr>
          <a:xfrm>
            <a:off x="838200" y="1232747"/>
            <a:ext cx="10515600" cy="494421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What is Eclipse Collections?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Feature rich, memory efficient Java Collections framework</a:t>
            </a:r>
          </a:p>
          <a:p>
            <a:pPr>
              <a:lnSpc>
                <a:spcPct val="110000"/>
              </a:lnSpc>
            </a:pPr>
            <a:r>
              <a:rPr lang="en-US" dirty="0"/>
              <a:t>History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Eclipse Collections started off as an internal collections</a:t>
            </a:r>
            <a:br>
              <a:rPr lang="en-US" dirty="0"/>
            </a:br>
            <a:r>
              <a:rPr lang="en-US" dirty="0"/>
              <a:t>framework named Caramel at Goldman Sachs in 2004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 2012, it was open sourced to GitHub as a project called </a:t>
            </a:r>
            <a:r>
              <a:rPr lang="en-US" dirty="0">
                <a:hlinkClick r:id="rId3"/>
              </a:rPr>
              <a:t>GS Collections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GS Collections was migrated to the Eclipse Foundation, re-branded as </a:t>
            </a:r>
            <a:r>
              <a:rPr lang="en-US" dirty="0">
                <a:hlinkClick r:id="rId4"/>
              </a:rPr>
              <a:t>Eclipse Collections</a:t>
            </a:r>
            <a:r>
              <a:rPr lang="en-US" dirty="0"/>
              <a:t> in 2015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Eclipse Collections 12.0 (Java 11+) &amp; 13.0 (Java 17+) released in June 2025</a:t>
            </a:r>
          </a:p>
          <a:p>
            <a:pPr>
              <a:lnSpc>
                <a:spcPct val="110000"/>
              </a:lnSpc>
            </a:pPr>
            <a:r>
              <a:rPr lang="en-US" dirty="0"/>
              <a:t>Learn Eclipse Collections with </a:t>
            </a:r>
            <a:r>
              <a:rPr lang="en-US" dirty="0">
                <a:hlinkClick r:id="rId5"/>
              </a:rPr>
              <a:t>Kata</a:t>
            </a:r>
          </a:p>
          <a:p>
            <a:pPr>
              <a:lnSpc>
                <a:spcPct val="110000"/>
              </a:lnSpc>
            </a:pPr>
            <a:r>
              <a:rPr lang="en-US" dirty="0"/>
              <a:t>Eclipse Collections is </a:t>
            </a:r>
            <a:r>
              <a:rPr lang="en-US" dirty="0">
                <a:hlinkClick r:id="rId6"/>
              </a:rPr>
              <a:t>open for contributions</a:t>
            </a:r>
            <a:r>
              <a:rPr lang="en-US" dirty="0"/>
              <a:t>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0951FD-72B5-1819-93DD-3D1D3503E3C2}"/>
              </a:ext>
            </a:extLst>
          </p:cNvPr>
          <p:cNvSpPr txBox="1"/>
          <p:nvPr/>
        </p:nvSpPr>
        <p:spPr>
          <a:xfrm>
            <a:off x="0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🐿️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541E92-7F43-0355-4145-C0CFE4F8B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traight Connector 52"/>
          <p:cNvSpPr/>
          <p:nvPr/>
        </p:nvSpPr>
        <p:spPr>
          <a:xfrm>
            <a:off x="5165294" y="5076153"/>
            <a:ext cx="771532" cy="1162728"/>
          </a:xfrm>
          <a:prstGeom prst="line">
            <a:avLst/>
          </a:prstGeom>
          <a:ln w="28575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2" name="Straight Connector 53"/>
          <p:cNvSpPr/>
          <p:nvPr/>
        </p:nvSpPr>
        <p:spPr>
          <a:xfrm flipH="1">
            <a:off x="2355272" y="4986001"/>
            <a:ext cx="2812962" cy="699382"/>
          </a:xfrm>
          <a:prstGeom prst="line">
            <a:avLst/>
          </a:prstGeom>
          <a:ln w="28575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" name="Straight Connector 72"/>
          <p:cNvSpPr/>
          <p:nvPr/>
        </p:nvSpPr>
        <p:spPr>
          <a:xfrm flipH="1" flipV="1">
            <a:off x="8109398" y="3796048"/>
            <a:ext cx="1714053" cy="431555"/>
          </a:xfrm>
          <a:prstGeom prst="line">
            <a:avLst/>
          </a:prstGeom>
          <a:ln w="28575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4" name="Straight Connector 69"/>
          <p:cNvSpPr/>
          <p:nvPr/>
        </p:nvSpPr>
        <p:spPr>
          <a:xfrm flipH="1">
            <a:off x="8094342" y="2921023"/>
            <a:ext cx="1361717" cy="836029"/>
          </a:xfrm>
          <a:prstGeom prst="line">
            <a:avLst/>
          </a:prstGeom>
          <a:ln w="28575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" name="Oval 55"/>
          <p:cNvSpPr/>
          <p:nvPr/>
        </p:nvSpPr>
        <p:spPr>
          <a:xfrm>
            <a:off x="5467937" y="2576220"/>
            <a:ext cx="146397" cy="14639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6" name="Straight Connector 38"/>
          <p:cNvSpPr/>
          <p:nvPr/>
        </p:nvSpPr>
        <p:spPr>
          <a:xfrm>
            <a:off x="5583508" y="1700347"/>
            <a:ext cx="631229" cy="8893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8575">
            <a:solidFill>
              <a:srgbClr val="2E75B6"/>
            </a:solidFill>
            <a:miter/>
          </a:ln>
        </p:spPr>
        <p:txBody>
          <a:bodyPr/>
          <a:lstStyle/>
          <a:p>
            <a:endParaRPr/>
          </a:p>
        </p:txBody>
      </p:sp>
      <p:sp>
        <p:nvSpPr>
          <p:cNvPr id="187" name="Straight Connector 37"/>
          <p:cNvSpPr/>
          <p:nvPr/>
        </p:nvSpPr>
        <p:spPr>
          <a:xfrm>
            <a:off x="3505610" y="1650249"/>
            <a:ext cx="1969800" cy="9669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2E75B6"/>
            </a:solidFill>
            <a:miter/>
          </a:ln>
        </p:spPr>
        <p:txBody>
          <a:bodyPr/>
          <a:lstStyle/>
          <a:p>
            <a:endParaRPr/>
          </a:p>
        </p:txBody>
      </p:sp>
      <p:sp>
        <p:nvSpPr>
          <p:cNvPr id="128" name="Straight Connector 56"/>
          <p:cNvSpPr/>
          <p:nvPr/>
        </p:nvSpPr>
        <p:spPr>
          <a:xfrm flipV="1">
            <a:off x="5434884" y="2722616"/>
            <a:ext cx="106252" cy="1057334"/>
          </a:xfrm>
          <a:prstGeom prst="line">
            <a:avLst/>
          </a:prstGeom>
          <a:ln w="76200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" name="Straight Connector 28"/>
          <p:cNvSpPr/>
          <p:nvPr/>
        </p:nvSpPr>
        <p:spPr>
          <a:xfrm flipH="1" flipV="1">
            <a:off x="5495387" y="3961331"/>
            <a:ext cx="3505302" cy="1242707"/>
          </a:xfrm>
          <a:prstGeom prst="line">
            <a:avLst/>
          </a:prstGeom>
          <a:ln w="76200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" name="Straight Connector 23"/>
          <p:cNvSpPr/>
          <p:nvPr/>
        </p:nvSpPr>
        <p:spPr>
          <a:xfrm flipV="1">
            <a:off x="5168232" y="3992451"/>
            <a:ext cx="266653" cy="934128"/>
          </a:xfrm>
          <a:prstGeom prst="line">
            <a:avLst/>
          </a:prstGeom>
          <a:ln w="76200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1" name="Straight Connector 26"/>
          <p:cNvSpPr/>
          <p:nvPr/>
        </p:nvSpPr>
        <p:spPr>
          <a:xfrm>
            <a:off x="1574443" y="2826859"/>
            <a:ext cx="1015577" cy="1007583"/>
          </a:xfrm>
          <a:prstGeom prst="line">
            <a:avLst/>
          </a:prstGeom>
          <a:ln w="28575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2" name="Straight Connector 34"/>
          <p:cNvSpPr/>
          <p:nvPr/>
        </p:nvSpPr>
        <p:spPr>
          <a:xfrm flipV="1">
            <a:off x="1227485" y="3937959"/>
            <a:ext cx="1362535" cy="870600"/>
          </a:xfrm>
          <a:prstGeom prst="line">
            <a:avLst/>
          </a:prstGeom>
          <a:ln w="28575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3" name="Straight Connector 43"/>
          <p:cNvSpPr/>
          <p:nvPr/>
        </p:nvSpPr>
        <p:spPr>
          <a:xfrm flipH="1">
            <a:off x="2279795" y="3937958"/>
            <a:ext cx="413743" cy="1694934"/>
          </a:xfrm>
          <a:prstGeom prst="line">
            <a:avLst/>
          </a:prstGeom>
          <a:ln w="28575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" name="Straight Connector 14"/>
          <p:cNvSpPr/>
          <p:nvPr/>
        </p:nvSpPr>
        <p:spPr>
          <a:xfrm flipH="1">
            <a:off x="2714976" y="3886200"/>
            <a:ext cx="2634345" cy="0"/>
          </a:xfrm>
          <a:prstGeom prst="line">
            <a:avLst/>
          </a:prstGeom>
          <a:ln w="76200">
            <a:solidFill>
              <a:srgbClr val="2E75B6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" name="Title 1"/>
          <p:cNvSpPr txBox="1">
            <a:spLocks noGrp="1"/>
          </p:cNvSpPr>
          <p:nvPr>
            <p:ph type="title"/>
          </p:nvPr>
        </p:nvSpPr>
        <p:spPr>
          <a:xfrm>
            <a:off x="838200" y="225378"/>
            <a:ext cx="10515600" cy="822960"/>
          </a:xfrm>
          <a:prstGeom prst="rect">
            <a:avLst/>
          </a:prstGeom>
        </p:spPr>
        <p:txBody>
          <a:bodyPr/>
          <a:lstStyle/>
          <a:p>
            <a:r>
              <a:rPr dirty="0"/>
              <a:t>Why Refactor to EC?</a:t>
            </a:r>
          </a:p>
        </p:txBody>
      </p:sp>
      <p:grpSp>
        <p:nvGrpSpPr>
          <p:cNvPr id="139" name="Rectangle: Rounded Corners 8"/>
          <p:cNvGrpSpPr/>
          <p:nvPr/>
        </p:nvGrpSpPr>
        <p:grpSpPr>
          <a:xfrm>
            <a:off x="507106" y="2559212"/>
            <a:ext cx="2134674" cy="357853"/>
            <a:chOff x="0" y="0"/>
            <a:chExt cx="2134672" cy="357851"/>
          </a:xfrm>
        </p:grpSpPr>
        <p:sp>
          <p:nvSpPr>
            <p:cNvPr id="137" name="Rounded Rectangle"/>
            <p:cNvSpPr/>
            <p:nvPr/>
          </p:nvSpPr>
          <p:spPr>
            <a:xfrm>
              <a:off x="0" y="0"/>
              <a:ext cx="2134673" cy="35785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8" name="No “Bun” methods"/>
            <p:cNvSpPr txBox="1"/>
            <p:nvPr/>
          </p:nvSpPr>
          <p:spPr>
            <a:xfrm>
              <a:off x="17468" y="12555"/>
              <a:ext cx="2099737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1F4E79"/>
                  </a:solidFill>
                </a:defRPr>
              </a:lvl1pPr>
            </a:lstStyle>
            <a:p>
              <a:r>
                <a:t>No “Bun” methods</a:t>
              </a:r>
            </a:p>
          </p:txBody>
        </p:sp>
      </p:grpSp>
      <p:grpSp>
        <p:nvGrpSpPr>
          <p:cNvPr id="142" name="Rectangle: Rounded Corners 11"/>
          <p:cNvGrpSpPr/>
          <p:nvPr/>
        </p:nvGrpSpPr>
        <p:grpSpPr>
          <a:xfrm>
            <a:off x="1574441" y="3688079"/>
            <a:ext cx="1947930" cy="396241"/>
            <a:chOff x="0" y="0"/>
            <a:chExt cx="1947928" cy="396240"/>
          </a:xfrm>
        </p:grpSpPr>
        <p:sp>
          <p:nvSpPr>
            <p:cNvPr id="140" name="Rounded Rectangle"/>
            <p:cNvSpPr/>
            <p:nvPr/>
          </p:nvSpPr>
          <p:spPr>
            <a:xfrm>
              <a:off x="0" y="1716"/>
              <a:ext cx="1947929" cy="39280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1" name="Concise Code"/>
            <p:cNvSpPr txBox="1"/>
            <p:nvPr/>
          </p:nvSpPr>
          <p:spPr>
            <a:xfrm>
              <a:off x="19175" y="0"/>
              <a:ext cx="1909579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1F4E79"/>
                  </a:solidFill>
                </a:defRPr>
              </a:lvl1pPr>
            </a:lstStyle>
            <a:p>
              <a:r>
                <a:rPr dirty="0"/>
                <a:t>Concise Code</a:t>
              </a:r>
            </a:p>
          </p:txBody>
        </p:sp>
      </p:grpSp>
      <p:grpSp>
        <p:nvGrpSpPr>
          <p:cNvPr id="145" name="Rectangle: Rounded Corners 41"/>
          <p:cNvGrpSpPr/>
          <p:nvPr/>
        </p:nvGrpSpPr>
        <p:grpSpPr>
          <a:xfrm>
            <a:off x="1035702" y="5376922"/>
            <a:ext cx="2613658" cy="637412"/>
            <a:chOff x="0" y="0"/>
            <a:chExt cx="2613657" cy="637410"/>
          </a:xfrm>
        </p:grpSpPr>
        <p:sp>
          <p:nvSpPr>
            <p:cNvPr id="143" name="Rounded Rectangle"/>
            <p:cNvSpPr/>
            <p:nvPr/>
          </p:nvSpPr>
          <p:spPr>
            <a:xfrm>
              <a:off x="0" y="0"/>
              <a:ext cx="2613658" cy="63741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4" name="Comprehensive Support for Primitive Types"/>
            <p:cNvSpPr txBox="1"/>
            <p:nvPr/>
          </p:nvSpPr>
          <p:spPr>
            <a:xfrm>
              <a:off x="31115" y="31685"/>
              <a:ext cx="2551427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1F4E79"/>
                  </a:solidFill>
                </a:defRPr>
              </a:lvl1pPr>
            </a:lstStyle>
            <a:p>
              <a:r>
                <a:t>Comprehensive Support for Primitive Types</a:t>
              </a:r>
            </a:p>
          </p:txBody>
        </p:sp>
      </p:grpSp>
      <p:grpSp>
        <p:nvGrpSpPr>
          <p:cNvPr id="148" name="Rectangle: Rounded Corners 32"/>
          <p:cNvGrpSpPr/>
          <p:nvPr/>
        </p:nvGrpSpPr>
        <p:grpSpPr>
          <a:xfrm>
            <a:off x="351420" y="4725151"/>
            <a:ext cx="1722080" cy="357853"/>
            <a:chOff x="0" y="0"/>
            <a:chExt cx="1722078" cy="357851"/>
          </a:xfrm>
        </p:grpSpPr>
        <p:sp>
          <p:nvSpPr>
            <p:cNvPr id="146" name="Rounded Rectangle"/>
            <p:cNvSpPr/>
            <p:nvPr/>
          </p:nvSpPr>
          <p:spPr>
            <a:xfrm>
              <a:off x="0" y="0"/>
              <a:ext cx="1722079" cy="35785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7" name="Rich[er] APIs"/>
            <p:cNvSpPr txBox="1"/>
            <p:nvPr/>
          </p:nvSpPr>
          <p:spPr>
            <a:xfrm>
              <a:off x="17468" y="12555"/>
              <a:ext cx="1687142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1F4E79"/>
                  </a:solidFill>
                </a:defRPr>
              </a:lvl1pPr>
            </a:lstStyle>
            <a:p>
              <a:r>
                <a:t>Rich[er] APIs</a:t>
              </a:r>
            </a:p>
          </p:txBody>
        </p:sp>
      </p:grpSp>
      <p:grpSp>
        <p:nvGrpSpPr>
          <p:cNvPr id="151" name="Rectangle: Rounded Corners 54"/>
          <p:cNvGrpSpPr/>
          <p:nvPr/>
        </p:nvGrpSpPr>
        <p:grpSpPr>
          <a:xfrm>
            <a:off x="3772654" y="2451297"/>
            <a:ext cx="3470857" cy="396242"/>
            <a:chOff x="0" y="0"/>
            <a:chExt cx="3470855" cy="396240"/>
          </a:xfrm>
        </p:grpSpPr>
        <p:sp>
          <p:nvSpPr>
            <p:cNvPr id="149" name="Rounded Rectangle"/>
            <p:cNvSpPr/>
            <p:nvPr/>
          </p:nvSpPr>
          <p:spPr>
            <a:xfrm>
              <a:off x="0" y="1716"/>
              <a:ext cx="3470856" cy="39280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0" name="Testability/Debuggability"/>
            <p:cNvSpPr txBox="1"/>
            <p:nvPr/>
          </p:nvSpPr>
          <p:spPr>
            <a:xfrm>
              <a:off x="19175" y="0"/>
              <a:ext cx="3432506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1F4E79"/>
                  </a:solidFill>
                </a:defRPr>
              </a:lvl1pPr>
            </a:lstStyle>
            <a:p>
              <a:r>
                <a:t>Testability/Debuggability</a:t>
              </a:r>
            </a:p>
          </p:txBody>
        </p:sp>
      </p:grpSp>
      <p:grpSp>
        <p:nvGrpSpPr>
          <p:cNvPr id="154" name="Rectangle: Rounded Corners 3"/>
          <p:cNvGrpSpPr/>
          <p:nvPr/>
        </p:nvGrpSpPr>
        <p:grpSpPr>
          <a:xfrm>
            <a:off x="4651850" y="3656329"/>
            <a:ext cx="1566071" cy="459741"/>
            <a:chOff x="0" y="0"/>
            <a:chExt cx="1566070" cy="459740"/>
          </a:xfrm>
        </p:grpSpPr>
        <p:sp>
          <p:nvSpPr>
            <p:cNvPr id="152" name="Rounded Rectangle"/>
            <p:cNvSpPr/>
            <p:nvPr/>
          </p:nvSpPr>
          <p:spPr>
            <a:xfrm>
              <a:off x="0" y="33466"/>
              <a:ext cx="1566071" cy="39280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57150" cap="flat">
              <a:solidFill>
                <a:srgbClr val="FFFFFF">
                  <a:alpha val="50195"/>
                </a:srgb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3" name="Benefits"/>
            <p:cNvSpPr txBox="1"/>
            <p:nvPr/>
          </p:nvSpPr>
          <p:spPr>
            <a:xfrm>
              <a:off x="19174" y="0"/>
              <a:ext cx="1527722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400">
                  <a:solidFill>
                    <a:srgbClr val="1F4E79"/>
                  </a:solidFill>
                </a:defRPr>
              </a:lvl1pPr>
            </a:lstStyle>
            <a:p>
              <a:r>
                <a:t>Benefits</a:t>
              </a:r>
            </a:p>
          </p:txBody>
        </p:sp>
      </p:grpSp>
      <p:grpSp>
        <p:nvGrpSpPr>
          <p:cNvPr id="157" name="Rectangle: Rounded Corners 64"/>
          <p:cNvGrpSpPr/>
          <p:nvPr/>
        </p:nvGrpSpPr>
        <p:grpSpPr>
          <a:xfrm>
            <a:off x="4021804" y="4834709"/>
            <a:ext cx="2292857" cy="396241"/>
            <a:chOff x="0" y="0"/>
            <a:chExt cx="2292855" cy="396240"/>
          </a:xfrm>
        </p:grpSpPr>
        <p:sp>
          <p:nvSpPr>
            <p:cNvPr id="155" name="Rounded Rectangle"/>
            <p:cNvSpPr/>
            <p:nvPr/>
          </p:nvSpPr>
          <p:spPr>
            <a:xfrm>
              <a:off x="0" y="1716"/>
              <a:ext cx="2292856" cy="39280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6" name="Memory Savings"/>
            <p:cNvSpPr txBox="1"/>
            <p:nvPr/>
          </p:nvSpPr>
          <p:spPr>
            <a:xfrm>
              <a:off x="19175" y="0"/>
              <a:ext cx="2254506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1F4E79"/>
                  </a:solidFill>
                </a:defRPr>
              </a:lvl1pPr>
            </a:lstStyle>
            <a:p>
              <a:r>
                <a:t>Memory Savings</a:t>
              </a:r>
            </a:p>
          </p:txBody>
        </p:sp>
      </p:grpSp>
      <p:grpSp>
        <p:nvGrpSpPr>
          <p:cNvPr id="160" name="Rectangle: Rounded Corners 65"/>
          <p:cNvGrpSpPr/>
          <p:nvPr/>
        </p:nvGrpSpPr>
        <p:grpSpPr>
          <a:xfrm>
            <a:off x="7376938" y="5094821"/>
            <a:ext cx="4016777" cy="396241"/>
            <a:chOff x="0" y="0"/>
            <a:chExt cx="4016776" cy="396240"/>
          </a:xfrm>
        </p:grpSpPr>
        <p:sp>
          <p:nvSpPr>
            <p:cNvPr id="158" name="Rounded Rectangle"/>
            <p:cNvSpPr/>
            <p:nvPr/>
          </p:nvSpPr>
          <p:spPr>
            <a:xfrm>
              <a:off x="0" y="1716"/>
              <a:ext cx="4016777" cy="39280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9" name="Better Performance [citation needed ]"/>
            <p:cNvSpPr txBox="1"/>
            <p:nvPr/>
          </p:nvSpPr>
          <p:spPr>
            <a:xfrm>
              <a:off x="19174" y="0"/>
              <a:ext cx="3978428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2000">
                  <a:solidFill>
                    <a:srgbClr val="1F4E79"/>
                  </a:solidFill>
                </a:defRPr>
              </a:pPr>
              <a:r>
                <a:t>Better Performance </a:t>
              </a:r>
              <a:r>
                <a:rPr baseline="30000"/>
                <a:t>[</a:t>
              </a:r>
              <a:r>
                <a:rPr i="1" baseline="30000"/>
                <a:t>citation needed </a:t>
              </a:r>
              <a:r>
                <a:rPr baseline="30000"/>
                <a:t>]</a:t>
              </a:r>
            </a:p>
          </p:txBody>
        </p:sp>
      </p:grpSp>
      <p:grpSp>
        <p:nvGrpSpPr>
          <p:cNvPr id="163" name="Rectangle: Rounded Corners 40"/>
          <p:cNvGrpSpPr/>
          <p:nvPr/>
        </p:nvGrpSpPr>
        <p:grpSpPr>
          <a:xfrm>
            <a:off x="4705124" y="6059954"/>
            <a:ext cx="2613658" cy="357853"/>
            <a:chOff x="0" y="0"/>
            <a:chExt cx="2613656" cy="357851"/>
          </a:xfrm>
        </p:grpSpPr>
        <p:sp>
          <p:nvSpPr>
            <p:cNvPr id="161" name="Rounded Rectangle"/>
            <p:cNvSpPr/>
            <p:nvPr/>
          </p:nvSpPr>
          <p:spPr>
            <a:xfrm>
              <a:off x="0" y="0"/>
              <a:ext cx="2613657" cy="35785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2" name="Efficient Maps and Sets"/>
            <p:cNvSpPr txBox="1"/>
            <p:nvPr/>
          </p:nvSpPr>
          <p:spPr>
            <a:xfrm>
              <a:off x="17469" y="12555"/>
              <a:ext cx="2578719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1F4E79"/>
                  </a:solidFill>
                </a:defRPr>
              </a:lvl1pPr>
            </a:lstStyle>
            <a:p>
              <a:r>
                <a:t>Efficient Maps and Sets</a:t>
              </a:r>
            </a:p>
          </p:txBody>
        </p:sp>
      </p:grpSp>
      <p:sp>
        <p:nvSpPr>
          <p:cNvPr id="188" name="Straight Connector 45"/>
          <p:cNvSpPr/>
          <p:nvPr/>
        </p:nvSpPr>
        <p:spPr>
          <a:xfrm>
            <a:off x="6246493" y="3820158"/>
            <a:ext cx="1061916" cy="37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76200">
            <a:solidFill>
              <a:srgbClr val="2E75B6"/>
            </a:solidFill>
            <a:miter/>
          </a:ln>
        </p:spPr>
        <p:txBody>
          <a:bodyPr/>
          <a:lstStyle/>
          <a:p>
            <a:endParaRPr/>
          </a:p>
        </p:txBody>
      </p:sp>
      <p:grpSp>
        <p:nvGrpSpPr>
          <p:cNvPr id="169" name="Group 82"/>
          <p:cNvGrpSpPr/>
          <p:nvPr/>
        </p:nvGrpSpPr>
        <p:grpSpPr>
          <a:xfrm>
            <a:off x="7308408" y="3597927"/>
            <a:ext cx="1368018" cy="396241"/>
            <a:chOff x="0" y="0"/>
            <a:chExt cx="1368016" cy="396240"/>
          </a:xfrm>
        </p:grpSpPr>
        <p:sp>
          <p:nvSpPr>
            <p:cNvPr id="165" name="Oval 48"/>
            <p:cNvSpPr/>
            <p:nvPr/>
          </p:nvSpPr>
          <p:spPr>
            <a:xfrm>
              <a:off x="698178" y="142968"/>
              <a:ext cx="102813" cy="110303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68" name="Rectangle: Rounded Corners 47"/>
            <p:cNvGrpSpPr/>
            <p:nvPr/>
          </p:nvGrpSpPr>
          <p:grpSpPr>
            <a:xfrm>
              <a:off x="0" y="-1"/>
              <a:ext cx="1368017" cy="396242"/>
              <a:chOff x="0" y="0"/>
              <a:chExt cx="1368016" cy="396240"/>
            </a:xfrm>
          </p:grpSpPr>
          <p:sp>
            <p:nvSpPr>
              <p:cNvPr id="166" name="Rounded Rectangle"/>
              <p:cNvSpPr/>
              <p:nvPr/>
            </p:nvSpPr>
            <p:spPr>
              <a:xfrm>
                <a:off x="0" y="2082"/>
                <a:ext cx="1368017" cy="39207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7" name="It’s Easy!"/>
              <p:cNvSpPr txBox="1"/>
              <p:nvPr/>
            </p:nvSpPr>
            <p:spPr>
              <a:xfrm>
                <a:off x="19139" y="0"/>
                <a:ext cx="1329739" cy="3962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000">
                    <a:solidFill>
                      <a:srgbClr val="1F4E79"/>
                    </a:solidFill>
                  </a:defRPr>
                </a:lvl1pPr>
              </a:lstStyle>
              <a:p>
                <a:r>
                  <a:t>It’s Easy!</a:t>
                </a:r>
              </a:p>
            </p:txBody>
          </p:sp>
        </p:grpSp>
      </p:grpSp>
      <p:grpSp>
        <p:nvGrpSpPr>
          <p:cNvPr id="172" name="Rectangle: Rounded Corners 49"/>
          <p:cNvGrpSpPr/>
          <p:nvPr/>
        </p:nvGrpSpPr>
        <p:grpSpPr>
          <a:xfrm>
            <a:off x="7629753" y="2631531"/>
            <a:ext cx="3659778" cy="332741"/>
            <a:chOff x="0" y="0"/>
            <a:chExt cx="3659776" cy="332740"/>
          </a:xfrm>
        </p:grpSpPr>
        <p:sp>
          <p:nvSpPr>
            <p:cNvPr id="170" name="Rounded Rectangle"/>
            <p:cNvSpPr/>
            <p:nvPr/>
          </p:nvSpPr>
          <p:spPr>
            <a:xfrm>
              <a:off x="0" y="17886"/>
              <a:ext cx="3659777" cy="29696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1" name="Drop-in replacement for JDK types"/>
            <p:cNvSpPr txBox="1"/>
            <p:nvPr/>
          </p:nvSpPr>
          <p:spPr>
            <a:xfrm>
              <a:off x="14496" y="0"/>
              <a:ext cx="3630785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1F4E79"/>
                  </a:solidFill>
                </a:defRPr>
              </a:lvl1pPr>
            </a:lstStyle>
            <a:p>
              <a:r>
                <a:t>Drop-in replacement for JDK types</a:t>
              </a:r>
            </a:p>
          </p:txBody>
        </p:sp>
      </p:grpSp>
      <p:grpSp>
        <p:nvGrpSpPr>
          <p:cNvPr id="175" name="Rectangle: Rounded Corners 50"/>
          <p:cNvGrpSpPr/>
          <p:nvPr/>
        </p:nvGrpSpPr>
        <p:grpSpPr>
          <a:xfrm>
            <a:off x="9146754" y="4241279"/>
            <a:ext cx="2443690" cy="332741"/>
            <a:chOff x="0" y="0"/>
            <a:chExt cx="2443689" cy="332740"/>
          </a:xfrm>
        </p:grpSpPr>
        <p:sp>
          <p:nvSpPr>
            <p:cNvPr id="173" name="Rounded Rectangle"/>
            <p:cNvSpPr/>
            <p:nvPr/>
          </p:nvSpPr>
          <p:spPr>
            <a:xfrm>
              <a:off x="0" y="11046"/>
              <a:ext cx="2443690" cy="31064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4" name="Intuitive humane APIs"/>
            <p:cNvSpPr txBox="1"/>
            <p:nvPr/>
          </p:nvSpPr>
          <p:spPr>
            <a:xfrm>
              <a:off x="15164" y="0"/>
              <a:ext cx="2413361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1F4E79"/>
                  </a:solidFill>
                </a:defRPr>
              </a:lvl1pPr>
            </a:lstStyle>
            <a:p>
              <a:r>
                <a:t>Intuitive humane APIs</a:t>
              </a:r>
            </a:p>
          </p:txBody>
        </p:sp>
      </p:grpSp>
      <p:grpSp>
        <p:nvGrpSpPr>
          <p:cNvPr id="180" name="Group 63"/>
          <p:cNvGrpSpPr/>
          <p:nvPr/>
        </p:nvGrpSpPr>
        <p:grpSpPr>
          <a:xfrm>
            <a:off x="2073499" y="1292268"/>
            <a:ext cx="2134674" cy="357853"/>
            <a:chOff x="0" y="0"/>
            <a:chExt cx="2134672" cy="357851"/>
          </a:xfrm>
        </p:grpSpPr>
        <p:sp>
          <p:nvSpPr>
            <p:cNvPr id="176" name="Oval 60"/>
            <p:cNvSpPr/>
            <p:nvPr/>
          </p:nvSpPr>
          <p:spPr>
            <a:xfrm>
              <a:off x="994137" y="98956"/>
              <a:ext cx="146397" cy="146397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79" name="Rectangle: Rounded Corners 35"/>
            <p:cNvGrpSpPr/>
            <p:nvPr/>
          </p:nvGrpSpPr>
          <p:grpSpPr>
            <a:xfrm>
              <a:off x="0" y="0"/>
              <a:ext cx="2134673" cy="357852"/>
              <a:chOff x="0" y="0"/>
              <a:chExt cx="2134672" cy="357851"/>
            </a:xfrm>
          </p:grpSpPr>
          <p:sp>
            <p:nvSpPr>
              <p:cNvPr id="177" name="Rounded Rectangle"/>
              <p:cNvSpPr/>
              <p:nvPr/>
            </p:nvSpPr>
            <p:spPr>
              <a:xfrm>
                <a:off x="0" y="0"/>
                <a:ext cx="2134673" cy="357852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78" name="Lazy or Eager"/>
              <p:cNvSpPr txBox="1"/>
              <p:nvPr/>
            </p:nvSpPr>
            <p:spPr>
              <a:xfrm>
                <a:off x="17468" y="12555"/>
                <a:ext cx="2099737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600">
                    <a:solidFill>
                      <a:srgbClr val="1F4E79"/>
                    </a:solidFill>
                  </a:defRPr>
                </a:lvl1pPr>
              </a:lstStyle>
              <a:p>
                <a:r>
                  <a:t>Lazy or Eager</a:t>
                </a:r>
              </a:p>
            </p:txBody>
          </p:sp>
        </p:grpSp>
      </p:grpSp>
      <p:grpSp>
        <p:nvGrpSpPr>
          <p:cNvPr id="185" name="Group 68"/>
          <p:cNvGrpSpPr/>
          <p:nvPr/>
        </p:nvGrpSpPr>
        <p:grpSpPr>
          <a:xfrm>
            <a:off x="5642636" y="1342366"/>
            <a:ext cx="1398370" cy="357853"/>
            <a:chOff x="0" y="0"/>
            <a:chExt cx="1398368" cy="357851"/>
          </a:xfrm>
        </p:grpSpPr>
        <p:sp>
          <p:nvSpPr>
            <p:cNvPr id="181" name="Oval 61"/>
            <p:cNvSpPr/>
            <p:nvPr/>
          </p:nvSpPr>
          <p:spPr>
            <a:xfrm>
              <a:off x="624074" y="103460"/>
              <a:ext cx="95901" cy="146397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84" name="Rectangle: Rounded Corners 36"/>
            <p:cNvGrpSpPr/>
            <p:nvPr/>
          </p:nvGrpSpPr>
          <p:grpSpPr>
            <a:xfrm>
              <a:off x="0" y="0"/>
              <a:ext cx="1398369" cy="357852"/>
              <a:chOff x="0" y="0"/>
              <a:chExt cx="1398368" cy="357851"/>
            </a:xfrm>
          </p:grpSpPr>
          <p:sp>
            <p:nvSpPr>
              <p:cNvPr id="182" name="Rounded Rectangle"/>
              <p:cNvSpPr/>
              <p:nvPr/>
            </p:nvSpPr>
            <p:spPr>
              <a:xfrm>
                <a:off x="0" y="0"/>
                <a:ext cx="1398369" cy="357852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1F4E79"/>
                    </a:solidFill>
                  </a:defRPr>
                </a:pPr>
                <a:endParaRPr/>
              </a:p>
            </p:txBody>
          </p:sp>
          <p:sp>
            <p:nvSpPr>
              <p:cNvPr id="183" name="TestUtils"/>
              <p:cNvSpPr txBox="1"/>
              <p:nvPr/>
            </p:nvSpPr>
            <p:spPr>
              <a:xfrm>
                <a:off x="17468" y="12555"/>
                <a:ext cx="1363432" cy="3327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600">
                    <a:solidFill>
                      <a:srgbClr val="1F4E79"/>
                    </a:solidFill>
                  </a:defRPr>
                </a:lvl1pPr>
              </a:lstStyle>
              <a:p>
                <a:r>
                  <a:rPr dirty="0" err="1"/>
                  <a:t>TestUtils</a:t>
                </a:r>
                <a:endParaRPr dirty="0"/>
              </a:p>
            </p:txBody>
          </p:sp>
        </p:grpSp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6D2EE6F9-F522-44CD-81F7-9941C9C51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31" y="1519026"/>
            <a:ext cx="1372089" cy="10588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32450E-B314-8D09-28D5-7D3BFF37FA73}"/>
              </a:ext>
            </a:extLst>
          </p:cNvPr>
          <p:cNvSpPr txBox="1"/>
          <p:nvPr/>
        </p:nvSpPr>
        <p:spPr>
          <a:xfrm>
            <a:off x="3128" y="612542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🦤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7D37C5-CCDF-6C03-A0F7-365594D16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traight Arrow Connector 60"/>
          <p:cNvSpPr/>
          <p:nvPr/>
        </p:nvSpPr>
        <p:spPr>
          <a:xfrm rot="16200000" flipH="1">
            <a:off x="7616049" y="4137233"/>
            <a:ext cx="2092075" cy="4860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5400" y="0"/>
                  <a:pt x="10800" y="5400"/>
                  <a:pt x="10800" y="10800"/>
                </a:cubicBezTo>
                <a:cubicBezTo>
                  <a:pt x="10800" y="16200"/>
                  <a:pt x="16200" y="21600"/>
                  <a:pt x="21600" y="21600"/>
                </a:cubicBezTo>
              </a:path>
            </a:pathLst>
          </a:custGeom>
          <a:ln w="38100">
            <a:solidFill>
              <a:srgbClr val="2E75B6"/>
            </a:solidFill>
            <a:prstDash val="sysDash"/>
            <a:miter/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1" name="Title 1"/>
          <p:cNvSpPr txBox="1">
            <a:spLocks noGrp="1"/>
          </p:cNvSpPr>
          <p:nvPr>
            <p:ph type="title"/>
          </p:nvPr>
        </p:nvSpPr>
        <p:spPr>
          <a:xfrm>
            <a:off x="838200" y="225379"/>
            <a:ext cx="10515600" cy="792053"/>
          </a:xfrm>
          <a:prstGeom prst="rect">
            <a:avLst/>
          </a:prstGeom>
        </p:spPr>
        <p:txBody>
          <a:bodyPr/>
          <a:lstStyle/>
          <a:p>
            <a:r>
              <a:rPr dirty="0"/>
              <a:t>Any Types You Need</a:t>
            </a:r>
          </a:p>
        </p:txBody>
      </p:sp>
      <p:grpSp>
        <p:nvGrpSpPr>
          <p:cNvPr id="196" name="Group 11"/>
          <p:cNvGrpSpPr/>
          <p:nvPr/>
        </p:nvGrpSpPr>
        <p:grpSpPr>
          <a:xfrm>
            <a:off x="3430530" y="2897427"/>
            <a:ext cx="1390709" cy="873572"/>
            <a:chOff x="0" y="0"/>
            <a:chExt cx="1390708" cy="873571"/>
          </a:xfrm>
        </p:grpSpPr>
        <p:sp>
          <p:nvSpPr>
            <p:cNvPr id="192" name="Rectangle: Rounded Corners 12"/>
            <p:cNvSpPr/>
            <p:nvPr/>
          </p:nvSpPr>
          <p:spPr>
            <a:xfrm>
              <a:off x="0" y="0"/>
              <a:ext cx="1390709" cy="873572"/>
            </a:xfrm>
            <a:prstGeom prst="roundRect">
              <a:avLst>
                <a:gd name="adj" fmla="val 16667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95" name="Rectangle: Rounded Corners 13"/>
            <p:cNvGrpSpPr/>
            <p:nvPr/>
          </p:nvGrpSpPr>
          <p:grpSpPr>
            <a:xfrm>
              <a:off x="76327" y="88203"/>
              <a:ext cx="1238056" cy="697165"/>
              <a:chOff x="0" y="0"/>
              <a:chExt cx="1238055" cy="697163"/>
            </a:xfrm>
          </p:grpSpPr>
          <p:sp>
            <p:nvSpPr>
              <p:cNvPr id="193" name="Rounded Rectangle"/>
              <p:cNvSpPr/>
              <p:nvPr/>
            </p:nvSpPr>
            <p:spPr>
              <a:xfrm>
                <a:off x="0" y="0"/>
                <a:ext cx="1238056" cy="69716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94" name="Sorted"/>
              <p:cNvSpPr txBox="1"/>
              <p:nvPr/>
            </p:nvSpPr>
            <p:spPr>
              <a:xfrm>
                <a:off x="34032" y="150461"/>
                <a:ext cx="1169991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Sorted</a:t>
                </a:r>
              </a:p>
            </p:txBody>
          </p:sp>
        </p:grpSp>
      </p:grpSp>
      <p:grpSp>
        <p:nvGrpSpPr>
          <p:cNvPr id="201" name="Group 22"/>
          <p:cNvGrpSpPr/>
          <p:nvPr/>
        </p:nvGrpSpPr>
        <p:grpSpPr>
          <a:xfrm>
            <a:off x="7727877" y="2121918"/>
            <a:ext cx="1614225" cy="2432087"/>
            <a:chOff x="0" y="0"/>
            <a:chExt cx="1614224" cy="2432086"/>
          </a:xfrm>
        </p:grpSpPr>
        <p:sp>
          <p:nvSpPr>
            <p:cNvPr id="197" name="Rectangle 23"/>
            <p:cNvSpPr/>
            <p:nvPr/>
          </p:nvSpPr>
          <p:spPr>
            <a:xfrm>
              <a:off x="-1" y="0"/>
              <a:ext cx="1614226" cy="2432087"/>
            </a:xfrm>
            <a:prstGeom prst="roundRect">
              <a:avLst>
                <a:gd name="adj" fmla="val 6461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200" name="Rectangle 24"/>
            <p:cNvGrpSpPr/>
            <p:nvPr/>
          </p:nvGrpSpPr>
          <p:grpSpPr>
            <a:xfrm>
              <a:off x="84964" y="103521"/>
              <a:ext cx="1444296" cy="2225041"/>
              <a:chOff x="0" y="0"/>
              <a:chExt cx="1444295" cy="2225039"/>
            </a:xfrm>
          </p:grpSpPr>
          <p:sp>
            <p:nvSpPr>
              <p:cNvPr id="198" name="Rounded Rectangle"/>
              <p:cNvSpPr/>
              <p:nvPr/>
            </p:nvSpPr>
            <p:spPr>
              <a:xfrm>
                <a:off x="0" y="3547"/>
                <a:ext cx="1444296" cy="2217946"/>
              </a:xfrm>
              <a:prstGeom prst="roundRect">
                <a:avLst>
                  <a:gd name="adj" fmla="val 8111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99" name="Bag…"/>
              <p:cNvSpPr txBox="1"/>
              <p:nvPr/>
            </p:nvSpPr>
            <p:spPr>
              <a:xfrm>
                <a:off x="34310" y="0"/>
                <a:ext cx="1375675" cy="22250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>
                  <a:defRPr sz="2000"/>
                </a:pPr>
                <a:r>
                  <a:t>Bag</a:t>
                </a:r>
                <a:endParaRPr>
                  <a:solidFill>
                    <a:srgbClr val="FFFFFF"/>
                  </a:solidFill>
                </a:endParaRPr>
              </a:p>
              <a:p>
                <a:pPr>
                  <a:defRPr sz="2000">
                    <a:ln w="9525">
                      <a:solidFill>
                        <a:srgbClr val="385724"/>
                      </a:solidFill>
                    </a:ln>
                    <a:solidFill>
                      <a:srgbClr val="33CC33"/>
                    </a:solidFill>
                  </a:defRPr>
                </a:pPr>
                <a:r>
                  <a:t>BiMap</a:t>
                </a:r>
              </a:p>
              <a:p>
                <a:pPr>
                  <a:defRPr sz="2000"/>
                </a:pPr>
                <a:r>
                  <a:t>Interval</a:t>
                </a:r>
                <a:endParaRPr>
                  <a:solidFill>
                    <a:srgbClr val="FFFFFF"/>
                  </a:solidFill>
                </a:endParaRPr>
              </a:p>
              <a:p>
                <a:pPr>
                  <a:defRPr sz="2000"/>
                </a:pPr>
                <a:r>
                  <a:t>List</a:t>
                </a:r>
                <a:endParaRPr>
                  <a:solidFill>
                    <a:srgbClr val="FFFFFF"/>
                  </a:solidFill>
                </a:endParaRPr>
              </a:p>
              <a:p>
                <a:pPr>
                  <a:defRPr sz="2000">
                    <a:ln w="9525">
                      <a:solidFill>
                        <a:srgbClr val="385724"/>
                      </a:solidFill>
                    </a:ln>
                    <a:solidFill>
                      <a:srgbClr val="33CC33"/>
                    </a:solidFill>
                  </a:defRPr>
                </a:pPr>
                <a:r>
                  <a:t>Map</a:t>
                </a:r>
                <a:endParaRPr>
                  <a:solidFill>
                    <a:srgbClr val="FFFFFF"/>
                  </a:solidFill>
                </a:endParaRPr>
              </a:p>
              <a:p>
                <a:pPr>
                  <a:defRPr sz="2000"/>
                </a:pPr>
                <a:r>
                  <a:t>Set</a:t>
                </a:r>
                <a:endParaRPr>
                  <a:solidFill>
                    <a:srgbClr val="FFFFFF"/>
                  </a:solidFill>
                </a:endParaRPr>
              </a:p>
              <a:p>
                <a:pPr>
                  <a:defRPr sz="2000"/>
                </a:pPr>
                <a:r>
                  <a:t>Stack</a:t>
                </a:r>
              </a:p>
            </p:txBody>
          </p:sp>
        </p:grpSp>
      </p:grpSp>
      <p:sp>
        <p:nvSpPr>
          <p:cNvPr id="202" name="Straight Arrow Connector 26"/>
          <p:cNvSpPr/>
          <p:nvPr/>
        </p:nvSpPr>
        <p:spPr>
          <a:xfrm flipV="1">
            <a:off x="2779878" y="3334213"/>
            <a:ext cx="650652" cy="10052"/>
          </a:xfrm>
          <a:prstGeom prst="line">
            <a:avLst/>
          </a:prstGeom>
          <a:ln w="38100">
            <a:solidFill>
              <a:srgbClr val="2E75B6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3" name="Straight Arrow Connector 27"/>
          <p:cNvSpPr/>
          <p:nvPr/>
        </p:nvSpPr>
        <p:spPr>
          <a:xfrm>
            <a:off x="4821237" y="3334213"/>
            <a:ext cx="531117" cy="1"/>
          </a:xfrm>
          <a:prstGeom prst="line">
            <a:avLst/>
          </a:prstGeom>
          <a:ln w="38100">
            <a:solidFill>
              <a:srgbClr val="2E75B6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4" name="Freeform: Shape 37"/>
          <p:cNvSpPr/>
          <p:nvPr/>
        </p:nvSpPr>
        <p:spPr>
          <a:xfrm>
            <a:off x="2779878" y="2210491"/>
            <a:ext cx="2568627" cy="8983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41" extrusionOk="0">
                <a:moveTo>
                  <a:pt x="0" y="20541"/>
                </a:moveTo>
                <a:cubicBezTo>
                  <a:pt x="3522" y="20430"/>
                  <a:pt x="3247" y="20375"/>
                  <a:pt x="3987" y="15894"/>
                </a:cubicBezTo>
                <a:cubicBezTo>
                  <a:pt x="4727" y="11414"/>
                  <a:pt x="5137" y="4278"/>
                  <a:pt x="6788" y="1955"/>
                </a:cubicBezTo>
                <a:cubicBezTo>
                  <a:pt x="8439" y="-368"/>
                  <a:pt x="11888" y="-921"/>
                  <a:pt x="13893" y="1955"/>
                </a:cubicBezTo>
                <a:cubicBezTo>
                  <a:pt x="15897" y="4832"/>
                  <a:pt x="17530" y="16116"/>
                  <a:pt x="18815" y="19213"/>
                </a:cubicBezTo>
                <a:cubicBezTo>
                  <a:pt x="19530" y="20679"/>
                  <a:pt x="19765" y="20377"/>
                  <a:pt x="21600" y="20541"/>
                </a:cubicBezTo>
              </a:path>
            </a:pathLst>
          </a:custGeom>
          <a:ln w="38100">
            <a:solidFill>
              <a:srgbClr val="2E75B6"/>
            </a:solidFill>
            <a:miter/>
            <a:tailEnd type="triangle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09" name="Group 38"/>
          <p:cNvGrpSpPr/>
          <p:nvPr/>
        </p:nvGrpSpPr>
        <p:grpSpPr>
          <a:xfrm>
            <a:off x="9744261" y="3032491"/>
            <a:ext cx="1587612" cy="610939"/>
            <a:chOff x="0" y="0"/>
            <a:chExt cx="1587610" cy="610937"/>
          </a:xfrm>
        </p:grpSpPr>
        <p:sp>
          <p:nvSpPr>
            <p:cNvPr id="205" name="Rectangle 39"/>
            <p:cNvSpPr/>
            <p:nvPr/>
          </p:nvSpPr>
          <p:spPr>
            <a:xfrm>
              <a:off x="0" y="0"/>
              <a:ext cx="1587611" cy="610938"/>
            </a:xfrm>
            <a:prstGeom prst="roundRect">
              <a:avLst>
                <a:gd name="adj" fmla="val 16667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208" name="Rectangle 40"/>
            <p:cNvGrpSpPr/>
            <p:nvPr/>
          </p:nvGrpSpPr>
          <p:grpSpPr>
            <a:xfrm>
              <a:off x="58801" y="61685"/>
              <a:ext cx="1470012" cy="487567"/>
              <a:chOff x="0" y="0"/>
              <a:chExt cx="1470011" cy="487565"/>
            </a:xfrm>
          </p:grpSpPr>
          <p:sp>
            <p:nvSpPr>
              <p:cNvPr id="206" name="Rounded Rectangle"/>
              <p:cNvSpPr/>
              <p:nvPr/>
            </p:nvSpPr>
            <p:spPr>
              <a:xfrm>
                <a:off x="0" y="0"/>
                <a:ext cx="1470012" cy="48756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07" name="Multimap"/>
              <p:cNvSpPr txBox="1"/>
              <p:nvPr/>
            </p:nvSpPr>
            <p:spPr>
              <a:xfrm>
                <a:off x="23800" y="45662"/>
                <a:ext cx="1422411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2000"/>
                </a:lvl1pPr>
              </a:lstStyle>
              <a:p>
                <a:r>
                  <a:t>Multimap</a:t>
                </a:r>
              </a:p>
            </p:txBody>
          </p:sp>
        </p:grpSp>
      </p:grpSp>
      <p:sp>
        <p:nvSpPr>
          <p:cNvPr id="233" name="Straight Arrow Connector 41"/>
          <p:cNvSpPr/>
          <p:nvPr/>
        </p:nvSpPr>
        <p:spPr>
          <a:xfrm>
            <a:off x="9348317" y="3337960"/>
            <a:ext cx="389595" cy="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38100">
            <a:solidFill>
              <a:srgbClr val="2E75B6"/>
            </a:solidFill>
            <a:miter/>
            <a:tailEnd type="triangle"/>
          </a:ln>
        </p:spPr>
        <p:txBody>
          <a:bodyPr/>
          <a:lstStyle/>
          <a:p>
            <a:endParaRPr/>
          </a:p>
        </p:txBody>
      </p:sp>
      <p:grpSp>
        <p:nvGrpSpPr>
          <p:cNvPr id="216" name="Group 48"/>
          <p:cNvGrpSpPr/>
          <p:nvPr/>
        </p:nvGrpSpPr>
        <p:grpSpPr>
          <a:xfrm>
            <a:off x="8152724" y="5426287"/>
            <a:ext cx="2358205" cy="1007589"/>
            <a:chOff x="0" y="0"/>
            <a:chExt cx="2358203" cy="1007588"/>
          </a:xfrm>
        </p:grpSpPr>
        <p:sp>
          <p:nvSpPr>
            <p:cNvPr id="212" name="Rectangle 49"/>
            <p:cNvSpPr/>
            <p:nvPr/>
          </p:nvSpPr>
          <p:spPr>
            <a:xfrm>
              <a:off x="0" y="0"/>
              <a:ext cx="2358204" cy="1007589"/>
            </a:xfrm>
            <a:prstGeom prst="roundRect">
              <a:avLst>
                <a:gd name="adj" fmla="val 7674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215" name="Rectangle 50"/>
            <p:cNvGrpSpPr/>
            <p:nvPr/>
          </p:nvGrpSpPr>
          <p:grpSpPr>
            <a:xfrm>
              <a:off x="109825" y="92239"/>
              <a:ext cx="2138551" cy="823110"/>
              <a:chOff x="0" y="0"/>
              <a:chExt cx="2138550" cy="823109"/>
            </a:xfrm>
          </p:grpSpPr>
          <p:sp>
            <p:nvSpPr>
              <p:cNvPr id="213" name="Rounded Rectangle"/>
              <p:cNvSpPr/>
              <p:nvPr/>
            </p:nvSpPr>
            <p:spPr>
              <a:xfrm>
                <a:off x="0" y="0"/>
                <a:ext cx="2138551" cy="823110"/>
              </a:xfrm>
              <a:prstGeom prst="roundRect">
                <a:avLst>
                  <a:gd name="adj" fmla="val 2656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14" name="*.asLazy()…"/>
              <p:cNvSpPr txBox="1"/>
              <p:nvPr/>
            </p:nvSpPr>
            <p:spPr>
              <a:xfrm>
                <a:off x="6402" y="61034"/>
                <a:ext cx="2125746" cy="701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>
                  <a:defRPr sz="2000"/>
                </a:pPr>
                <a:r>
                  <a:t>*.asLazy()</a:t>
                </a:r>
              </a:p>
              <a:p>
                <a:pPr>
                  <a:defRPr sz="2000"/>
                </a:pPr>
                <a:r>
                  <a:t>*.asParallel()</a:t>
                </a:r>
              </a:p>
            </p:txBody>
          </p:sp>
        </p:grpSp>
      </p:grpSp>
      <p:grpSp>
        <p:nvGrpSpPr>
          <p:cNvPr id="221" name="Group 51"/>
          <p:cNvGrpSpPr/>
          <p:nvPr/>
        </p:nvGrpSpPr>
        <p:grpSpPr>
          <a:xfrm>
            <a:off x="5352353" y="1728802"/>
            <a:ext cx="1614226" cy="3210823"/>
            <a:chOff x="0" y="0"/>
            <a:chExt cx="1614224" cy="3210822"/>
          </a:xfrm>
        </p:grpSpPr>
        <p:sp>
          <p:nvSpPr>
            <p:cNvPr id="217" name="Rectangle: Rounded Corners 52"/>
            <p:cNvSpPr/>
            <p:nvPr/>
          </p:nvSpPr>
          <p:spPr>
            <a:xfrm>
              <a:off x="-1" y="0"/>
              <a:ext cx="1614226" cy="3210823"/>
            </a:xfrm>
            <a:prstGeom prst="roundRect">
              <a:avLst>
                <a:gd name="adj" fmla="val 646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220" name="Rectangle: Rounded Corners 53"/>
            <p:cNvGrpSpPr/>
            <p:nvPr/>
          </p:nvGrpSpPr>
          <p:grpSpPr>
            <a:xfrm>
              <a:off x="88595" y="80797"/>
              <a:ext cx="1437038" cy="3049227"/>
              <a:chOff x="0" y="0"/>
              <a:chExt cx="1437037" cy="3049225"/>
            </a:xfrm>
          </p:grpSpPr>
          <p:sp>
            <p:nvSpPr>
              <p:cNvPr id="218" name="Rounded Rectangle"/>
              <p:cNvSpPr/>
              <p:nvPr/>
            </p:nvSpPr>
            <p:spPr>
              <a:xfrm>
                <a:off x="0" y="0"/>
                <a:ext cx="1437038" cy="3049226"/>
              </a:xfrm>
              <a:prstGeom prst="roundRect">
                <a:avLst>
                  <a:gd name="adj" fmla="val 634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19" name="Boolean…"/>
              <p:cNvSpPr txBox="1"/>
              <p:nvPr/>
            </p:nvSpPr>
            <p:spPr>
              <a:xfrm>
                <a:off x="26717" y="107293"/>
                <a:ext cx="1383603" cy="2834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>
                  <a:defRPr sz="2000"/>
                </a:pPr>
                <a:r>
                  <a:rPr dirty="0"/>
                  <a:t>Boolean</a:t>
                </a:r>
                <a:endParaRPr dirty="0">
                  <a:solidFill>
                    <a:srgbClr val="FFFFFF"/>
                  </a:solidFill>
                </a:endParaRPr>
              </a:p>
              <a:p>
                <a:pPr>
                  <a:defRPr sz="2000"/>
                </a:pPr>
                <a:r>
                  <a:rPr dirty="0"/>
                  <a:t>Byte</a:t>
                </a:r>
                <a:endParaRPr dirty="0">
                  <a:solidFill>
                    <a:srgbClr val="FFFFFF"/>
                  </a:solidFill>
                </a:endParaRPr>
              </a:p>
              <a:p>
                <a:pPr>
                  <a:defRPr sz="2000"/>
                </a:pPr>
                <a:r>
                  <a:rPr dirty="0"/>
                  <a:t>Char</a:t>
                </a:r>
                <a:endParaRPr dirty="0">
                  <a:solidFill>
                    <a:srgbClr val="FFFFFF"/>
                  </a:solidFill>
                </a:endParaRPr>
              </a:p>
              <a:p>
                <a:pPr>
                  <a:defRPr sz="2000"/>
                </a:pPr>
                <a:r>
                  <a:rPr dirty="0"/>
                  <a:t>Double</a:t>
                </a:r>
                <a:endParaRPr dirty="0">
                  <a:solidFill>
                    <a:srgbClr val="FFFFFF"/>
                  </a:solidFill>
                </a:endParaRPr>
              </a:p>
              <a:p>
                <a:pPr>
                  <a:defRPr sz="2000"/>
                </a:pPr>
                <a:r>
                  <a:rPr dirty="0"/>
                  <a:t>Float</a:t>
                </a:r>
                <a:endParaRPr dirty="0">
                  <a:solidFill>
                    <a:srgbClr val="FFFFFF"/>
                  </a:solidFill>
                </a:endParaRPr>
              </a:p>
              <a:p>
                <a:pPr>
                  <a:defRPr sz="2000"/>
                </a:pPr>
                <a:r>
                  <a:rPr dirty="0"/>
                  <a:t>Int</a:t>
                </a:r>
              </a:p>
              <a:p>
                <a:pPr>
                  <a:defRPr sz="2000"/>
                </a:pPr>
                <a:r>
                  <a:rPr dirty="0"/>
                  <a:t>Long</a:t>
                </a:r>
                <a:endParaRPr dirty="0">
                  <a:solidFill>
                    <a:srgbClr val="FFFFFF"/>
                  </a:solidFill>
                </a:endParaRPr>
              </a:p>
              <a:p>
                <a:pPr>
                  <a:defRPr sz="2000">
                    <a:ln w="9525">
                      <a:solidFill>
                        <a:srgbClr val="385724"/>
                      </a:solidFill>
                    </a:ln>
                    <a:solidFill>
                      <a:srgbClr val="33CC33"/>
                    </a:solidFill>
                  </a:defRPr>
                </a:pPr>
                <a:r>
                  <a:rPr dirty="0"/>
                  <a:t>Object</a:t>
                </a:r>
              </a:p>
              <a:p>
                <a:pPr>
                  <a:defRPr sz="2000"/>
                </a:pPr>
                <a:r>
                  <a:rPr dirty="0"/>
                  <a:t>Short</a:t>
                </a:r>
              </a:p>
            </p:txBody>
          </p:sp>
        </p:grpSp>
      </p:grpSp>
      <p:sp>
        <p:nvSpPr>
          <p:cNvPr id="222" name="Freeform: Shape 54"/>
          <p:cNvSpPr/>
          <p:nvPr/>
        </p:nvSpPr>
        <p:spPr>
          <a:xfrm>
            <a:off x="2783729" y="1195069"/>
            <a:ext cx="4944148" cy="17352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674" extrusionOk="0">
                <a:moveTo>
                  <a:pt x="0" y="20674"/>
                </a:moveTo>
                <a:cubicBezTo>
                  <a:pt x="1552" y="20635"/>
                  <a:pt x="1188" y="19003"/>
                  <a:pt x="1759" y="13983"/>
                </a:cubicBezTo>
                <a:cubicBezTo>
                  <a:pt x="2301" y="8828"/>
                  <a:pt x="2149" y="3448"/>
                  <a:pt x="4771" y="1504"/>
                </a:cubicBezTo>
                <a:cubicBezTo>
                  <a:pt x="7394" y="-440"/>
                  <a:pt x="14964" y="-826"/>
                  <a:pt x="17493" y="2319"/>
                </a:cubicBezTo>
                <a:cubicBezTo>
                  <a:pt x="20022" y="5465"/>
                  <a:pt x="19094" y="19977"/>
                  <a:pt x="19945" y="20375"/>
                </a:cubicBezTo>
                <a:cubicBezTo>
                  <a:pt x="20796" y="20774"/>
                  <a:pt x="20124" y="20472"/>
                  <a:pt x="21600" y="20674"/>
                </a:cubicBezTo>
              </a:path>
            </a:pathLst>
          </a:custGeom>
          <a:ln w="38100">
            <a:solidFill>
              <a:srgbClr val="2E75B6"/>
            </a:solidFill>
            <a:miter/>
            <a:tailEnd type="triangle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3" name="Straight Arrow Connector 56"/>
          <p:cNvSpPr/>
          <p:nvPr/>
        </p:nvSpPr>
        <p:spPr>
          <a:xfrm>
            <a:off x="6966577" y="3334213"/>
            <a:ext cx="761300" cy="3750"/>
          </a:xfrm>
          <a:prstGeom prst="line">
            <a:avLst/>
          </a:prstGeom>
          <a:ln w="38100">
            <a:solidFill>
              <a:srgbClr val="2E75B6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4" name="Freeform: Shape 59"/>
          <p:cNvSpPr/>
          <p:nvPr/>
        </p:nvSpPr>
        <p:spPr>
          <a:xfrm flipV="1">
            <a:off x="4821237" y="3592530"/>
            <a:ext cx="2902790" cy="18808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374" extrusionOk="0">
                <a:moveTo>
                  <a:pt x="0" y="20374"/>
                </a:moveTo>
                <a:cubicBezTo>
                  <a:pt x="2002" y="20099"/>
                  <a:pt x="2080" y="19964"/>
                  <a:pt x="2313" y="15733"/>
                </a:cubicBezTo>
                <a:cubicBezTo>
                  <a:pt x="2527" y="12539"/>
                  <a:pt x="2027" y="4014"/>
                  <a:pt x="4303" y="1745"/>
                </a:cubicBezTo>
                <a:cubicBezTo>
                  <a:pt x="6579" y="-525"/>
                  <a:pt x="13588" y="-762"/>
                  <a:pt x="15968" y="2118"/>
                </a:cubicBezTo>
                <a:cubicBezTo>
                  <a:pt x="18348" y="4997"/>
                  <a:pt x="17653" y="17207"/>
                  <a:pt x="18584" y="19022"/>
                </a:cubicBezTo>
                <a:cubicBezTo>
                  <a:pt x="19516" y="20838"/>
                  <a:pt x="19686" y="20134"/>
                  <a:pt x="21600" y="20374"/>
                </a:cubicBezTo>
              </a:path>
            </a:pathLst>
          </a:custGeom>
          <a:ln w="38100">
            <a:solidFill>
              <a:srgbClr val="2E75B6"/>
            </a:solidFill>
            <a:miter/>
            <a:tailEnd type="triangle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5" name="Straight Arrow Connector 60"/>
          <p:cNvSpPr/>
          <p:nvPr/>
        </p:nvSpPr>
        <p:spPr>
          <a:xfrm rot="5400000">
            <a:off x="9195037" y="4083254"/>
            <a:ext cx="1782856" cy="9032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5400" y="0"/>
                  <a:pt x="10800" y="5400"/>
                  <a:pt x="10800" y="10800"/>
                </a:cubicBezTo>
                <a:cubicBezTo>
                  <a:pt x="10800" y="16200"/>
                  <a:pt x="16200" y="21600"/>
                  <a:pt x="21600" y="21600"/>
                </a:cubicBezTo>
              </a:path>
            </a:pathLst>
          </a:custGeom>
          <a:ln w="38100">
            <a:solidFill>
              <a:srgbClr val="2E75B6"/>
            </a:solidFill>
            <a:prstDash val="sysDash"/>
            <a:miter/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6" name="Freeform: Shape 72"/>
          <p:cNvSpPr/>
          <p:nvPr/>
        </p:nvSpPr>
        <p:spPr>
          <a:xfrm>
            <a:off x="5062081" y="1457912"/>
            <a:ext cx="636604" cy="631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92" h="20927" extrusionOk="0">
                <a:moveTo>
                  <a:pt x="21092" y="9386"/>
                </a:moveTo>
                <a:cubicBezTo>
                  <a:pt x="20852" y="5799"/>
                  <a:pt x="20611" y="2212"/>
                  <a:pt x="17485" y="970"/>
                </a:cubicBezTo>
                <a:cubicBezTo>
                  <a:pt x="14360" y="-272"/>
                  <a:pt x="5102" y="-673"/>
                  <a:pt x="2337" y="1932"/>
                </a:cubicBezTo>
                <a:cubicBezTo>
                  <a:pt x="-428" y="4537"/>
                  <a:pt x="-508" y="13433"/>
                  <a:pt x="895" y="16599"/>
                </a:cubicBezTo>
                <a:cubicBezTo>
                  <a:pt x="2297" y="19765"/>
                  <a:pt x="4842" y="19504"/>
                  <a:pt x="10753" y="20927"/>
                </a:cubicBezTo>
              </a:path>
            </a:pathLst>
          </a:custGeom>
          <a:ln w="38100">
            <a:solidFill>
              <a:srgbClr val="33CC33"/>
            </a:solidFill>
            <a:miter/>
            <a:tailEnd type="triangle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31" name="Group 8"/>
          <p:cNvGrpSpPr/>
          <p:nvPr/>
        </p:nvGrpSpPr>
        <p:grpSpPr>
          <a:xfrm>
            <a:off x="785795" y="2812750"/>
            <a:ext cx="1997933" cy="1063029"/>
            <a:chOff x="0" y="0"/>
            <a:chExt cx="1997931" cy="1063028"/>
          </a:xfrm>
        </p:grpSpPr>
        <p:sp>
          <p:nvSpPr>
            <p:cNvPr id="227" name="Rectangle: Rounded Corners 9"/>
            <p:cNvSpPr/>
            <p:nvPr/>
          </p:nvSpPr>
          <p:spPr>
            <a:xfrm>
              <a:off x="0" y="0"/>
              <a:ext cx="1997932" cy="1063029"/>
            </a:xfrm>
            <a:prstGeom prst="roundRect">
              <a:avLst>
                <a:gd name="adj" fmla="val 16667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230" name="Rectangle: Rounded Corners 10"/>
            <p:cNvGrpSpPr/>
            <p:nvPr/>
          </p:nvGrpSpPr>
          <p:grpSpPr>
            <a:xfrm>
              <a:off x="73694" y="79691"/>
              <a:ext cx="1850544" cy="903645"/>
              <a:chOff x="0" y="0"/>
              <a:chExt cx="1850543" cy="903644"/>
            </a:xfrm>
          </p:grpSpPr>
          <p:sp>
            <p:nvSpPr>
              <p:cNvPr id="228" name="Rounded Rectangle"/>
              <p:cNvSpPr/>
              <p:nvPr/>
            </p:nvSpPr>
            <p:spPr>
              <a:xfrm>
                <a:off x="0" y="0"/>
                <a:ext cx="1850544" cy="903645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29" name="Immutable…"/>
              <p:cNvSpPr txBox="1"/>
              <p:nvPr/>
            </p:nvSpPr>
            <p:spPr>
              <a:xfrm>
                <a:off x="44112" y="101301"/>
                <a:ext cx="1762319" cy="701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>
                  <a:defRPr sz="2000"/>
                </a:pPr>
                <a:r>
                  <a:t>Immutable</a:t>
                </a:r>
                <a:endParaRPr>
                  <a:solidFill>
                    <a:srgbClr val="FFFFFF"/>
                  </a:solidFill>
                </a:endParaRPr>
              </a:p>
              <a:p>
                <a:pPr>
                  <a:defRPr sz="2000"/>
                </a:pPr>
                <a:r>
                  <a:t>Mutable</a:t>
                </a:r>
              </a:p>
            </p:txBody>
          </p:sp>
        </p:grpSp>
      </p:grpSp>
      <p:sp>
        <p:nvSpPr>
          <p:cNvPr id="232" name="TextBox 2"/>
          <p:cNvSpPr txBox="1"/>
          <p:nvPr/>
        </p:nvSpPr>
        <p:spPr>
          <a:xfrm>
            <a:off x="681973" y="4178417"/>
            <a:ext cx="4493975" cy="2301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125000"/>
              </a:lnSpc>
              <a:defRPr sz="24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dirty="0" err="1"/>
              <a:t>MutableIntList</a:t>
            </a:r>
            <a:endParaRPr dirty="0"/>
          </a:p>
          <a:p>
            <a:pPr>
              <a:lnSpc>
                <a:spcPct val="125000"/>
              </a:lnSpc>
              <a:defRPr sz="24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dirty="0" err="1"/>
              <a:t>LongStack</a:t>
            </a:r>
            <a:endParaRPr dirty="0"/>
          </a:p>
          <a:p>
            <a:pPr>
              <a:lnSpc>
                <a:spcPct val="125000"/>
              </a:lnSpc>
              <a:defRPr sz="24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dirty="0" err="1"/>
              <a:t>SortedBagMultimap</a:t>
            </a:r>
            <a:endParaRPr dirty="0"/>
          </a:p>
          <a:p>
            <a:pPr>
              <a:lnSpc>
                <a:spcPct val="125000"/>
              </a:lnSpc>
              <a:defRPr sz="24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dirty="0" err="1"/>
              <a:t>ImmutableObjectLongMap</a:t>
            </a:r>
            <a:endParaRPr dirty="0"/>
          </a:p>
          <a:p>
            <a:pPr>
              <a:lnSpc>
                <a:spcPct val="125000"/>
              </a:lnSpc>
              <a:defRPr sz="24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dirty="0" err="1"/>
              <a:t>MutableSortedSetMultimap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9B06A3-FBFF-CA24-15CE-B1374E069D0C}"/>
              </a:ext>
            </a:extLst>
          </p:cNvPr>
          <p:cNvSpPr txBox="1"/>
          <p:nvPr/>
        </p:nvSpPr>
        <p:spPr>
          <a:xfrm>
            <a:off x="3128" y="612542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🦤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2A433A-D6D5-F5C2-9352-377507808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Oval 29"/>
          <p:cNvSpPr/>
          <p:nvPr/>
        </p:nvSpPr>
        <p:spPr>
          <a:xfrm>
            <a:off x="1184563" y="4809765"/>
            <a:ext cx="9822874" cy="1822856"/>
          </a:xfrm>
          <a:prstGeom prst="ellipse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6" name="Title 1"/>
          <p:cNvSpPr txBox="1">
            <a:spLocks noGrp="1"/>
          </p:cNvSpPr>
          <p:nvPr>
            <p:ph type="title"/>
          </p:nvPr>
        </p:nvSpPr>
        <p:spPr>
          <a:xfrm>
            <a:off x="838200" y="225379"/>
            <a:ext cx="10515600" cy="792053"/>
          </a:xfrm>
          <a:prstGeom prst="rect">
            <a:avLst/>
          </a:prstGeom>
        </p:spPr>
        <p:txBody>
          <a:bodyPr/>
          <a:lstStyle/>
          <a:p>
            <a:r>
              <a:t>Instantiate Them Using Factories</a:t>
            </a:r>
          </a:p>
        </p:txBody>
      </p:sp>
      <p:graphicFrame>
        <p:nvGraphicFramePr>
          <p:cNvPr id="238" name="Table 3"/>
          <p:cNvGraphicFramePr/>
          <p:nvPr>
            <p:extLst>
              <p:ext uri="{D42A27DB-BD31-4B8C-83A1-F6EECF244321}">
                <p14:modId xmlns:p14="http://schemas.microsoft.com/office/powerpoint/2010/main" val="3985011068"/>
              </p:ext>
            </p:extLst>
          </p:nvPr>
        </p:nvGraphicFramePr>
        <p:xfrm>
          <a:off x="1052945" y="1294627"/>
          <a:ext cx="10086111" cy="3474720"/>
        </p:xfrm>
        <a:graphic>
          <a:graphicData uri="http://schemas.openxmlformats.org/drawingml/2006/table">
            <a:tbl>
              <a:tblPr/>
              <a:tblGrid>
                <a:gridCol w="1173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1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7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dirty="0"/>
                        <a:t>Primitive Type</a:t>
                      </a:r>
                      <a:r>
                        <a:rPr lang="en-US" b="1" baseline="30000" dirty="0"/>
                        <a:t>*</a:t>
                      </a:r>
                      <a:endParaRPr b="1" baseline="30000" dirty="0"/>
                    </a:p>
                  </a:txBody>
                  <a:tcPr marL="45720" marR="45720" anchor="b" horzOverflow="overflow">
                    <a:lnL w="38100"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/>
                        <a:t>Container Type</a:t>
                      </a:r>
                    </a:p>
                  </a:txBody>
                  <a:tcPr marL="45720" marR="45720" anchor="b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/>
                        <a:t>Mutability</a:t>
                      </a:r>
                    </a:p>
                  </a:txBody>
                  <a:tcPr marL="45720" marR="45720" anchor="b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/>
                        <a:t>Multimap</a:t>
                      </a:r>
                    </a:p>
                  </a:txBody>
                  <a:tcPr marL="45720" marR="45720" anchor="b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/>
                        <a:t>Initialized</a:t>
                      </a:r>
                    </a:p>
                  </a:txBody>
                  <a:tcPr marL="45720" marR="45720" anchor="b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dirty="0"/>
                        <a:t>Lazy</a:t>
                      </a:r>
                    </a:p>
                  </a:txBody>
                  <a:tcPr marL="45720" marR="45720" anchor="b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Boolean</a:t>
                      </a:r>
                      <a:br>
                        <a:rPr dirty="0"/>
                      </a:br>
                      <a:r>
                        <a:rPr dirty="0"/>
                        <a:t>Byte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Char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Double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Float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Int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Long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Object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Short</a:t>
                      </a:r>
                    </a:p>
                  </a:txBody>
                  <a:tcPr marL="45720" marR="45720" horzOverflow="overflow">
                    <a:lnL w="38100">
                      <a:noFill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Bags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 err="1"/>
                        <a:t>BiMaps</a:t>
                      </a:r>
                      <a:endParaRPr dirty="0"/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Lists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Maps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Multimaps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Sets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 err="1"/>
                        <a:t>SortedBags</a:t>
                      </a:r>
                      <a:endParaRPr dirty="0"/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 err="1"/>
                        <a:t>SortedMaps</a:t>
                      </a:r>
                      <a:endParaRPr dirty="0"/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 err="1"/>
                        <a:t>SortedSets</a:t>
                      </a:r>
                      <a:endParaRPr dirty="0"/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rPr dirty="0"/>
                        <a:t>Stacks</a:t>
                      </a:r>
                    </a:p>
                  </a:txBody>
                  <a:tcPr marL="45720" marR="4572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.mutable
.immutable
.fixedSize</a:t>
                      </a:r>
                    </a:p>
                  </a:txBody>
                  <a:tcPr marL="45720" marR="4572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.bag
.list
.set
.sortedSet</a:t>
                      </a:r>
                    </a:p>
                  </a:txBody>
                  <a:tcPr marL="45720" marR="4572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.empty()</a:t>
                      </a:r>
                      <a:r>
                        <a:rPr>
                          <a:solidFill>
                            <a:srgbClr val="0066FF"/>
                          </a:solidFill>
                        </a:rPr>
                        <a:t>|</a:t>
                      </a:r>
                      <a:r>
                        <a:t>.of()</a:t>
                      </a:r>
                      <a:r>
                        <a:rPr>
                          <a:solidFill>
                            <a:srgbClr val="0066FF"/>
                          </a:solidFill>
                        </a:rPr>
                        <a:t>|</a:t>
                      </a:r>
                      <a:r>
                        <a:t>.with()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.of(one)</a:t>
                      </a:r>
                      <a:r>
                        <a:rPr>
                          <a:solidFill>
                            <a:srgbClr val="0066FF"/>
                          </a:solidFill>
                        </a:rPr>
                        <a:t>|</a:t>
                      </a:r>
                      <a:r>
                        <a:t>.with(one)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   ...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.of(one,…,ten)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.with(one,…,ten)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.of(... elements)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.with(... elements)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.ofAll(Iterable)</a:t>
                      </a:r>
                    </a:p>
                    <a:p>
                      <a:pPr algn="l">
                        <a:defRPr sz="1800">
                          <a:latin typeface="Consolas"/>
                          <a:ea typeface="Consolas"/>
                          <a:cs typeface="Consolas"/>
                          <a:sym typeface="Consolas"/>
                        </a:defRPr>
                      </a:pPr>
                      <a:r>
                        <a:t>.withAll(Iterable)</a:t>
                      </a:r>
                    </a:p>
                  </a:txBody>
                  <a:tcPr marL="45720" marR="4572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asLazy</a:t>
                      </a:r>
                      <a:r>
                        <a:rPr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</a:p>
                  </a:txBody>
                  <a:tcPr marL="45720" marR="4572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9" name="Rectangle 3"/>
          <p:cNvSpPr txBox="1"/>
          <p:nvPr/>
        </p:nvSpPr>
        <p:spPr>
          <a:xfrm>
            <a:off x="1492827" y="5380197"/>
            <a:ext cx="9206346" cy="591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50000"/>
              </a:lnSpc>
              <a:defRPr sz="240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LongStacks</a:t>
            </a:r>
            <a:r>
              <a:rPr dirty="0" err="1">
                <a:solidFill>
                  <a:srgbClr val="0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b="1" i="1" dirty="0" err="1">
                <a:solidFill>
                  <a:srgbClr val="660E7A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immutable</a:t>
            </a:r>
            <a:r>
              <a:rPr dirty="0" err="1">
                <a:solidFill>
                  <a:srgbClr val="0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.with</a:t>
            </a:r>
            <a:r>
              <a:rPr dirty="0">
                <a:solidFill>
                  <a:srgbClr val="0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dirty="0">
                <a:solidFill>
                  <a:srgbClr val="0000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dirty="0">
                <a:solidFill>
                  <a:srgbClr val="0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dirty="0">
                <a:solidFill>
                  <a:srgbClr val="0000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dirty="0">
                <a:solidFill>
                  <a:srgbClr val="0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dirty="0">
                <a:solidFill>
                  <a:srgbClr val="0000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dirty="0">
                <a:solidFill>
                  <a:srgbClr val="0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).</a:t>
            </a:r>
            <a:r>
              <a:rPr dirty="0" err="1">
                <a:solidFill>
                  <a:srgbClr val="0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asLazy</a:t>
            </a:r>
            <a:r>
              <a:rPr dirty="0">
                <a:solidFill>
                  <a:srgbClr val="0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</p:txBody>
      </p:sp>
      <p:pic>
        <p:nvPicPr>
          <p:cNvPr id="240" name="Graphic 16" descr="Graphic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44" y="5317988"/>
            <a:ext cx="914401" cy="914401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Right Brace 19"/>
          <p:cNvSpPr/>
          <p:nvPr/>
        </p:nvSpPr>
        <p:spPr>
          <a:xfrm rot="5400000">
            <a:off x="5964999" y="2154527"/>
            <a:ext cx="262003" cy="77985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5965" y="0"/>
                  <a:pt x="10800" y="594"/>
                  <a:pt x="10800" y="1327"/>
                </a:cubicBezTo>
                <a:lnTo>
                  <a:pt x="10800" y="9473"/>
                </a:lnTo>
                <a:cubicBezTo>
                  <a:pt x="10800" y="10206"/>
                  <a:pt x="15635" y="10800"/>
                  <a:pt x="21600" y="10800"/>
                </a:cubicBezTo>
                <a:cubicBezTo>
                  <a:pt x="15635" y="10800"/>
                  <a:pt x="10800" y="11394"/>
                  <a:pt x="10800" y="12127"/>
                </a:cubicBezTo>
                <a:lnTo>
                  <a:pt x="10800" y="20273"/>
                </a:lnTo>
                <a:cubicBezTo>
                  <a:pt x="10800" y="21006"/>
                  <a:pt x="5965" y="21600"/>
                  <a:pt x="0" y="21600"/>
                </a:cubicBezTo>
              </a:path>
            </a:pathLst>
          </a:custGeom>
          <a:ln w="1905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42" name="Right Brace 43"/>
          <p:cNvSpPr/>
          <p:nvPr/>
        </p:nvSpPr>
        <p:spPr>
          <a:xfrm rot="16200000" flipV="1">
            <a:off x="5149215" y="2353173"/>
            <a:ext cx="197913" cy="61706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5965" y="0"/>
                  <a:pt x="10800" y="567"/>
                  <a:pt x="10800" y="1267"/>
                </a:cubicBezTo>
                <a:lnTo>
                  <a:pt x="10800" y="9533"/>
                </a:lnTo>
                <a:cubicBezTo>
                  <a:pt x="10800" y="10233"/>
                  <a:pt x="15635" y="10800"/>
                  <a:pt x="21600" y="10800"/>
                </a:cubicBezTo>
                <a:cubicBezTo>
                  <a:pt x="15635" y="10800"/>
                  <a:pt x="10800" y="11367"/>
                  <a:pt x="10800" y="12067"/>
                </a:cubicBezTo>
                <a:lnTo>
                  <a:pt x="10800" y="20333"/>
                </a:lnTo>
                <a:cubicBezTo>
                  <a:pt x="10800" y="21033"/>
                  <a:pt x="5965" y="21600"/>
                  <a:pt x="0" y="21600"/>
                </a:cubicBezTo>
              </a:path>
            </a:pathLst>
          </a:custGeom>
          <a:ln w="1905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43" name="TextBox 20"/>
          <p:cNvSpPr txBox="1"/>
          <p:nvPr/>
        </p:nvSpPr>
        <p:spPr>
          <a:xfrm>
            <a:off x="4575073" y="6068286"/>
            <a:ext cx="3041856" cy="591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150000"/>
              </a:lnSpc>
              <a:defRPr sz="240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LazyLongIterable</a:t>
            </a:r>
            <a:endParaRPr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44" name="Rectangle 7"/>
          <p:cNvSpPr txBox="1"/>
          <p:nvPr/>
        </p:nvSpPr>
        <p:spPr>
          <a:xfrm>
            <a:off x="3255820" y="4716255"/>
            <a:ext cx="3969329" cy="591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150000"/>
              </a:lnSpc>
              <a:defRPr sz="2400">
                <a:solidFill>
                  <a:srgbClr val="0066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ImmutableLongStack</a:t>
            </a:r>
            <a:endParaRPr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5D627A-BC4C-5496-C154-CB951FEDAFD1}"/>
              </a:ext>
            </a:extLst>
          </p:cNvPr>
          <p:cNvSpPr txBox="1"/>
          <p:nvPr/>
        </p:nvSpPr>
        <p:spPr>
          <a:xfrm>
            <a:off x="3128" y="612542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🦤</a:t>
            </a:r>
            <a:endParaRPr lang="en-US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0D15EA-778D-05EC-B96F-D7585E1D7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407409"/>
              </p:ext>
            </p:extLst>
          </p:nvPr>
        </p:nvGraphicFramePr>
        <p:xfrm>
          <a:off x="1032568" y="4648849"/>
          <a:ext cx="1353444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31">
                  <a:extLst>
                    <a:ext uri="{9D8B030D-6E8A-4147-A177-3AD203B41FA5}">
                      <a16:colId xmlns:a16="http://schemas.microsoft.com/office/drawing/2014/main" val="3255514871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627946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baseline="0" dirty="0"/>
                        <a:t>* </a:t>
                      </a:r>
                      <a:endParaRPr lang="en-US" sz="1400" b="1" i="1" baseline="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Pick two</a:t>
                      </a:r>
                      <a:br>
                        <a:rPr lang="en-US" sz="1400" i="1" dirty="0"/>
                      </a:br>
                      <a:r>
                        <a:rPr lang="en-US" sz="1400" i="1" dirty="0"/>
                        <a:t>for maps</a:t>
                      </a: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999495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C222FD-97C5-4176-B56B-FA9332F7BEBF}"/>
              </a:ext>
            </a:extLst>
          </p:cNvPr>
          <p:cNvCxnSpPr>
            <a:endCxn id="4" idx="0"/>
          </p:cNvCxnSpPr>
          <p:nvPr/>
        </p:nvCxnSpPr>
        <p:spPr>
          <a:xfrm>
            <a:off x="1031513" y="4648849"/>
            <a:ext cx="6777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D2E3A2-24E6-FDAF-25E2-D07BD6FC9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90B6-0667-0702-98CB-3F59DB561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Evolving from JDK to EC Factories and Types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C8BB24-7855-E523-8133-360E0662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6</a:t>
            </a:fld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DE60E9-30C9-8C4B-7FA3-64A247631702}"/>
              </a:ext>
            </a:extLst>
          </p:cNvPr>
          <p:cNvCxnSpPr>
            <a:cxnSpLocks/>
            <a:stCxn id="51" idx="2"/>
            <a:endCxn id="37" idx="0"/>
          </p:cNvCxnSpPr>
          <p:nvPr/>
        </p:nvCxnSpPr>
        <p:spPr>
          <a:xfrm rot="5400000">
            <a:off x="3778730" y="945531"/>
            <a:ext cx="1343171" cy="2931801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0EE34D-975E-93CD-57CD-7C8076449D3B}"/>
              </a:ext>
            </a:extLst>
          </p:cNvPr>
          <p:cNvCxnSpPr>
            <a:cxnSpLocks/>
            <a:stCxn id="52" idx="2"/>
            <a:endCxn id="39" idx="0"/>
          </p:cNvCxnSpPr>
          <p:nvPr/>
        </p:nvCxnSpPr>
        <p:spPr>
          <a:xfrm rot="16200000" flipH="1">
            <a:off x="7059024" y="947081"/>
            <a:ext cx="1343172" cy="2928700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BF92E0-EFB8-CC61-9CCC-14775E91AC8D}"/>
              </a:ext>
            </a:extLst>
          </p:cNvPr>
          <p:cNvSpPr txBox="1"/>
          <p:nvPr/>
        </p:nvSpPr>
        <p:spPr>
          <a:xfrm>
            <a:off x="4194867" y="2040190"/>
            <a:ext cx="1004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7568BD-C56D-8F7B-1C76-BA7CF8A2709A}"/>
              </a:ext>
            </a:extLst>
          </p:cNvPr>
          <p:cNvSpPr txBox="1"/>
          <p:nvPr/>
        </p:nvSpPr>
        <p:spPr>
          <a:xfrm>
            <a:off x="6983102" y="204019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Immutable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4280C52-6178-113E-8062-B33F3BC12785}"/>
              </a:ext>
            </a:extLst>
          </p:cNvPr>
          <p:cNvGraphicFramePr>
            <a:graphicFrameLocks noGrp="1"/>
          </p:cNvGraphicFramePr>
          <p:nvPr/>
        </p:nvGraphicFramePr>
        <p:xfrm>
          <a:off x="378374" y="3083017"/>
          <a:ext cx="521208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2430">
                  <a:extLst>
                    <a:ext uri="{9D8B030D-6E8A-4147-A177-3AD203B41FA5}">
                      <a16:colId xmlns:a16="http://schemas.microsoft.com/office/drawing/2014/main" val="2131242392"/>
                    </a:ext>
                  </a:extLst>
                </a:gridCol>
                <a:gridCol w="3469650">
                  <a:extLst>
                    <a:ext uri="{9D8B030D-6E8A-4147-A177-3AD203B41FA5}">
                      <a16:colId xmlns:a16="http://schemas.microsoft.com/office/drawing/2014/main" val="20072106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rgbClr val="80808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JDK Type</a:t>
                      </a:r>
                      <a:endParaRPr lang="en-US" sz="1400" dirty="0">
                        <a:solidFill>
                          <a:srgbClr val="0070FF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algn="ctr"/>
                      <a:r>
                        <a:rPr lang="en-US" sz="1400" i="1" dirty="0">
                          <a:solidFill>
                            <a:srgbClr val="80808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JDK Implementation</a:t>
                      </a:r>
                      <a:endParaRPr lang="en-US" sz="1400" dirty="0">
                        <a:solidFill>
                          <a:srgbClr val="0070FF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2540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Set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&gt; 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530E8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new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HashSet&lt;&gt;(</a:t>
                      </a:r>
                      <a:r>
                        <a:rPr lang="en-US" sz="1400" dirty="0" err="1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List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</a:t>
                      </a:r>
                      <a:r>
                        <a:rPr lang="en-US" sz="1400" i="1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"1"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"2"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"3"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))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81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rgbClr val="80808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JDK Type</a:t>
                      </a:r>
                      <a:endParaRPr lang="en-US" sz="1400" dirty="0">
                        <a:solidFill>
                          <a:srgbClr val="0070FF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rgbClr val="F6920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EC Implementation</a:t>
                      </a:r>
                      <a:endParaRPr lang="en-US" sz="1400" b="1" dirty="0">
                        <a:solidFill>
                          <a:srgbClr val="F692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5679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Set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&gt; 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Sets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</a:t>
                      </a:r>
                      <a:r>
                        <a:rPr lang="en-US" sz="1400" b="0" i="1" dirty="0" err="1">
                          <a:solidFill>
                            <a:srgbClr val="660E7A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mutable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"1"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"2"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"3"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)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2945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rgbClr val="FF990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EC Type</a:t>
                      </a:r>
                      <a:endParaRPr lang="en-US" sz="1400" b="1" dirty="0">
                        <a:solidFill>
                          <a:srgbClr val="FF99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  <a:p>
                      <a:pPr algn="ctr"/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rgbClr val="FF990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EC Implementation</a:t>
                      </a:r>
                      <a:endParaRPr lang="en-US" sz="1400" b="1" dirty="0">
                        <a:solidFill>
                          <a:srgbClr val="FF99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7383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MutableSet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&gt; 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Sets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</a:t>
                      </a:r>
                      <a:r>
                        <a:rPr lang="en-US" sz="1400" b="0" i="1" dirty="0" err="1">
                          <a:solidFill>
                            <a:srgbClr val="660E7A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mutable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"1"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"2"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"3"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)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4203896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5589FC3-72A7-E0AE-7908-D283DC361C5D}"/>
              </a:ext>
            </a:extLst>
          </p:cNvPr>
          <p:cNvGraphicFramePr>
            <a:graphicFrameLocks noGrp="1"/>
          </p:cNvGraphicFramePr>
          <p:nvPr/>
        </p:nvGraphicFramePr>
        <p:xfrm>
          <a:off x="6588920" y="3083017"/>
          <a:ext cx="5212081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2614">
                  <a:extLst>
                    <a:ext uri="{9D8B030D-6E8A-4147-A177-3AD203B41FA5}">
                      <a16:colId xmlns:a16="http://schemas.microsoft.com/office/drawing/2014/main" val="195687094"/>
                    </a:ext>
                  </a:extLst>
                </a:gridCol>
                <a:gridCol w="3279467">
                  <a:extLst>
                    <a:ext uri="{9D8B030D-6E8A-4147-A177-3AD203B41FA5}">
                      <a16:colId xmlns:a16="http://schemas.microsoft.com/office/drawing/2014/main" val="60489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rgbClr val="80808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JDK Type</a:t>
                      </a:r>
                      <a:endParaRPr lang="en-US" sz="1400" dirty="0">
                        <a:solidFill>
                          <a:srgbClr val="0070FF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algn="ctr"/>
                      <a:r>
                        <a:rPr lang="en-US" sz="1400" i="1" dirty="0">
                          <a:solidFill>
                            <a:srgbClr val="80808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JDK Implementation</a:t>
                      </a:r>
                      <a:endParaRPr lang="en-US" sz="1400" dirty="0">
                        <a:solidFill>
                          <a:srgbClr val="0070FF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295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Set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&gt; 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Set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</a:t>
                      </a:r>
                      <a:r>
                        <a:rPr lang="en-US" sz="1400" i="1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"1"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"2"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"3"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)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5612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rgbClr val="80808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JDK Type</a:t>
                      </a:r>
                      <a:endParaRPr lang="en-US" sz="1400" dirty="0">
                        <a:solidFill>
                          <a:srgbClr val="0070FF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rgbClr val="FF990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EC Implementation</a:t>
                      </a:r>
                      <a:endParaRPr lang="en-US" sz="1400" b="1" dirty="0">
                        <a:solidFill>
                          <a:srgbClr val="FF99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2509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Set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&gt; 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Sets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</a:t>
                      </a:r>
                      <a:r>
                        <a:rPr lang="en-US" sz="1400" b="0" i="1" dirty="0" err="1">
                          <a:solidFill>
                            <a:srgbClr val="660E7A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immutable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"1"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"2"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"3"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)</a:t>
                      </a:r>
                      <a:b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</a:b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castToSet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7850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rgbClr val="FF990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EC Type</a:t>
                      </a:r>
                      <a:endParaRPr lang="en-US" sz="1400" b="1" dirty="0">
                        <a:solidFill>
                          <a:srgbClr val="FF99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rgbClr val="FF990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EC Implementation</a:t>
                      </a:r>
                      <a:endParaRPr lang="en-US" sz="1400" b="1" dirty="0">
                        <a:solidFill>
                          <a:srgbClr val="FF99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7735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ImmutableSet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&gt; 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Sets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</a:t>
                      </a:r>
                      <a:r>
                        <a:rPr lang="en-US" sz="1400" b="0" i="1" dirty="0" err="1">
                          <a:solidFill>
                            <a:srgbClr val="660E7A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immutable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"1"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"2"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"3"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)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0934610"/>
                  </a:ext>
                </a:extLst>
              </a:tr>
            </a:tbl>
          </a:graphicData>
        </a:graphic>
      </p:graphicFrame>
      <p:sp>
        <p:nvSpPr>
          <p:cNvPr id="51" name="Rectangle 50">
            <a:extLst>
              <a:ext uri="{FF2B5EF4-FFF2-40B4-BE49-F238E27FC236}">
                <a16:creationId xmlns:a16="http://schemas.microsoft.com/office/drawing/2014/main" id="{A62EB326-A1CC-3F70-3387-229CA7125CDE}"/>
              </a:ext>
            </a:extLst>
          </p:cNvPr>
          <p:cNvSpPr/>
          <p:nvPr/>
        </p:nvSpPr>
        <p:spPr>
          <a:xfrm>
            <a:off x="5736431" y="1370514"/>
            <a:ext cx="359568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D9F9071-8F59-5CC9-B5DB-12963D3B16D4}"/>
              </a:ext>
            </a:extLst>
          </p:cNvPr>
          <p:cNvSpPr/>
          <p:nvPr/>
        </p:nvSpPr>
        <p:spPr>
          <a:xfrm>
            <a:off x="6086476" y="1370513"/>
            <a:ext cx="359568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80D213-724F-2252-1314-BF176C7C8F9E}"/>
              </a:ext>
            </a:extLst>
          </p:cNvPr>
          <p:cNvSpPr/>
          <p:nvPr/>
        </p:nvSpPr>
        <p:spPr>
          <a:xfrm>
            <a:off x="5199373" y="1239934"/>
            <a:ext cx="1793254" cy="73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JDK Type</a:t>
            </a:r>
            <a:endParaRPr lang="en-US" dirty="0">
              <a:solidFill>
                <a:srgbClr val="0070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ctr"/>
            <a:r>
              <a:rPr lang="en-US" dirty="0">
                <a:solidFill>
                  <a:srgbClr val="0070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lang="en-US" dirty="0">
                <a:solidFill>
                  <a:srgbClr val="A1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1235CCB-890F-42AA-3B47-5A51683A625C}"/>
              </a:ext>
            </a:extLst>
          </p:cNvPr>
          <p:cNvSpPr/>
          <p:nvPr/>
        </p:nvSpPr>
        <p:spPr>
          <a:xfrm>
            <a:off x="5730240" y="3540748"/>
            <a:ext cx="731520" cy="7315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r>
              <a:rPr lang="en-US" dirty="0"/>
              <a:t>Start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411F28A-C79D-029D-FE04-A477E9D91E9F}"/>
              </a:ext>
            </a:extLst>
          </p:cNvPr>
          <p:cNvSpPr/>
          <p:nvPr/>
        </p:nvSpPr>
        <p:spPr>
          <a:xfrm>
            <a:off x="5730240" y="4573681"/>
            <a:ext cx="731520" cy="7315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dirty="0"/>
              <a:t>Step</a:t>
            </a:r>
            <a:br>
              <a:rPr lang="en-US" dirty="0"/>
            </a:br>
            <a:r>
              <a:rPr lang="en-US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CE8453F-24E6-0DF4-E2AC-4B45AAD212FD}"/>
              </a:ext>
            </a:extLst>
          </p:cNvPr>
          <p:cNvSpPr/>
          <p:nvPr/>
        </p:nvSpPr>
        <p:spPr>
          <a:xfrm>
            <a:off x="5730240" y="5610056"/>
            <a:ext cx="731520" cy="7315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dirty="0"/>
              <a:t>Step</a:t>
            </a:r>
            <a:br>
              <a:rPr lang="en-US" dirty="0"/>
            </a:br>
            <a:r>
              <a:rPr lang="en-US" dirty="0"/>
              <a:t>2</a:t>
            </a:r>
          </a:p>
        </p:txBody>
      </p:sp>
      <p:cxnSp>
        <p:nvCxnSpPr>
          <p:cNvPr id="58" name="Straight Arrow Connector 7">
            <a:extLst>
              <a:ext uri="{FF2B5EF4-FFF2-40B4-BE49-F238E27FC236}">
                <a16:creationId xmlns:a16="http://schemas.microsoft.com/office/drawing/2014/main" id="{B4B6569C-FBD8-4402-3A7F-30D5F46CE1D0}"/>
              </a:ext>
            </a:extLst>
          </p:cNvPr>
          <p:cNvCxnSpPr>
            <a:cxnSpLocks/>
            <a:stCxn id="55" idx="4"/>
            <a:endCxn id="56" idx="0"/>
          </p:cNvCxnSpPr>
          <p:nvPr/>
        </p:nvCxnSpPr>
        <p:spPr>
          <a:xfrm>
            <a:off x="6096000" y="4272268"/>
            <a:ext cx="0" cy="301413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7">
            <a:extLst>
              <a:ext uri="{FF2B5EF4-FFF2-40B4-BE49-F238E27FC236}">
                <a16:creationId xmlns:a16="http://schemas.microsoft.com/office/drawing/2014/main" id="{5FA79BAF-0A55-B427-FC5A-5D046BA0258F}"/>
              </a:ext>
            </a:extLst>
          </p:cNvPr>
          <p:cNvCxnSpPr>
            <a:cxnSpLocks/>
            <a:stCxn id="56" idx="4"/>
            <a:endCxn id="57" idx="0"/>
          </p:cNvCxnSpPr>
          <p:nvPr/>
        </p:nvCxnSpPr>
        <p:spPr>
          <a:xfrm>
            <a:off x="6096000" y="5305201"/>
            <a:ext cx="0" cy="304855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12DA848-C6D3-FBE2-0169-BBB99D7F1A01}"/>
              </a:ext>
            </a:extLst>
          </p:cNvPr>
          <p:cNvSpPr txBox="1"/>
          <p:nvPr/>
        </p:nvSpPr>
        <p:spPr>
          <a:xfrm>
            <a:off x="0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🐿️</a:t>
            </a:r>
            <a:endParaRPr lang="en-US" sz="3200" dirty="0"/>
          </a:p>
        </p:txBody>
      </p:sp>
      <p:sp>
        <p:nvSpPr>
          <p:cNvPr id="5" name="TextBox 4">
            <a:hlinkClick r:id="rId3"/>
            <a:extLst>
              <a:ext uri="{FF2B5EF4-FFF2-40B4-BE49-F238E27FC236}">
                <a16:creationId xmlns:a16="http://schemas.microsoft.com/office/drawing/2014/main" id="{6EE611B0-890B-C492-9390-B15884DECB3E}"/>
              </a:ext>
            </a:extLst>
          </p:cNvPr>
          <p:cNvSpPr txBox="1"/>
          <p:nvPr/>
        </p:nvSpPr>
        <p:spPr>
          <a:xfrm>
            <a:off x="3143025" y="2565822"/>
            <a:ext cx="5905947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hlinkClick r:id="rId3"/>
              </a:rPr>
              <a:t>How do you know if a collection is mutable or immutable?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576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9853E-7839-D887-1C2A-D24B07D31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C4B6-4478-A74D-210A-D9CE9FF4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Evolving from JDK to EC Factories and Types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ED3636-499F-38AE-530C-1CB3854F8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7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84827B-D3BF-B9DC-A0AC-E3F53F2F913E}"/>
              </a:ext>
            </a:extLst>
          </p:cNvPr>
          <p:cNvCxnSpPr>
            <a:cxnSpLocks/>
            <a:stCxn id="51" idx="2"/>
            <a:endCxn id="37" idx="0"/>
          </p:cNvCxnSpPr>
          <p:nvPr/>
        </p:nvCxnSpPr>
        <p:spPr>
          <a:xfrm rot="5400000">
            <a:off x="3778730" y="945531"/>
            <a:ext cx="1343171" cy="2931801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771E80-3764-7E52-FFAF-C24D515794ED}"/>
              </a:ext>
            </a:extLst>
          </p:cNvPr>
          <p:cNvCxnSpPr>
            <a:cxnSpLocks/>
            <a:stCxn id="52" idx="2"/>
            <a:endCxn id="39" idx="0"/>
          </p:cNvCxnSpPr>
          <p:nvPr/>
        </p:nvCxnSpPr>
        <p:spPr>
          <a:xfrm rot="16200000" flipH="1">
            <a:off x="7059024" y="947081"/>
            <a:ext cx="1343172" cy="2928700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9997FA-CCE1-18EE-E455-93CA7652B7A9}"/>
              </a:ext>
            </a:extLst>
          </p:cNvPr>
          <p:cNvSpPr txBox="1"/>
          <p:nvPr/>
        </p:nvSpPr>
        <p:spPr>
          <a:xfrm>
            <a:off x="4194867" y="2040190"/>
            <a:ext cx="1004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AE386F-B7B1-DCF9-0709-4D7A514B50C2}"/>
              </a:ext>
            </a:extLst>
          </p:cNvPr>
          <p:cNvSpPr txBox="1"/>
          <p:nvPr/>
        </p:nvSpPr>
        <p:spPr>
          <a:xfrm>
            <a:off x="6983102" y="204019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Immutable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A7495635-7E97-97CD-0E4E-4D814ADDE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775478"/>
              </p:ext>
            </p:extLst>
          </p:nvPr>
        </p:nvGraphicFramePr>
        <p:xfrm>
          <a:off x="378374" y="3083017"/>
          <a:ext cx="521208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1889">
                  <a:extLst>
                    <a:ext uri="{9D8B030D-6E8A-4147-A177-3AD203B41FA5}">
                      <a16:colId xmlns:a16="http://schemas.microsoft.com/office/drawing/2014/main" val="2131242392"/>
                    </a:ext>
                  </a:extLst>
                </a:gridCol>
                <a:gridCol w="214312">
                  <a:extLst>
                    <a:ext uri="{9D8B030D-6E8A-4147-A177-3AD203B41FA5}">
                      <a16:colId xmlns:a16="http://schemas.microsoft.com/office/drawing/2014/main" val="1191194110"/>
                    </a:ext>
                  </a:extLst>
                </a:gridCol>
                <a:gridCol w="3275879">
                  <a:extLst>
                    <a:ext uri="{9D8B030D-6E8A-4147-A177-3AD203B41FA5}">
                      <a16:colId xmlns:a16="http://schemas.microsoft.com/office/drawing/2014/main" val="20072106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rgbClr val="80808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JDK Type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algn="ctr"/>
                      <a:r>
                        <a:rPr lang="en-US" sz="1400" i="1" dirty="0">
                          <a:solidFill>
                            <a:srgbClr val="80808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JDK Implementation</a:t>
                      </a:r>
                      <a:endParaRPr lang="en-US" sz="1400" dirty="0">
                        <a:solidFill>
                          <a:srgbClr val="0070FF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0" marR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2540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List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&gt; 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530E8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new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ArrayList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&lt;&gt;(</a:t>
                      </a:r>
                      <a:r>
                        <a:rPr lang="en-US" sz="1400" dirty="0" err="1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List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</a:t>
                      </a:r>
                      <a:r>
                        <a:rPr lang="en-US" sz="1400" i="1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"1"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"2"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"3"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))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0" marR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8153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rgbClr val="80808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JDK Type</a:t>
                      </a:r>
                      <a:endParaRPr lang="en-US" sz="1400" dirty="0">
                        <a:solidFill>
                          <a:srgbClr val="0070FF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rgbClr val="0070FF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rgbClr val="F6920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EC Implementation</a:t>
                      </a:r>
                      <a:endParaRPr lang="en-US" sz="1400" b="1" dirty="0">
                        <a:solidFill>
                          <a:srgbClr val="F692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567929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List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&gt; 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Lists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</a:t>
                      </a:r>
                      <a:r>
                        <a:rPr lang="en-US" sz="1400" b="0" i="1" dirty="0" err="1">
                          <a:solidFill>
                            <a:srgbClr val="660E7A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mutable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"1"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"2"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"3"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)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294583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rgbClr val="FF990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EC Type</a:t>
                      </a:r>
                      <a:endParaRPr lang="en-US" sz="1400" b="1" dirty="0">
                        <a:solidFill>
                          <a:srgbClr val="FF99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rgbClr val="FF99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  <a:p>
                      <a:pPr algn="ctr"/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rgbClr val="FF990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EC Implementation</a:t>
                      </a:r>
                      <a:endParaRPr lang="en-US" sz="1400" b="1" dirty="0">
                        <a:solidFill>
                          <a:srgbClr val="FF99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738347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MutableList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&gt; 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Lists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</a:t>
                      </a:r>
                      <a:r>
                        <a:rPr lang="en-US" sz="1400" b="0" i="1" dirty="0" err="1">
                          <a:solidFill>
                            <a:srgbClr val="660E7A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mutable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"1"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"2"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"3"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)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4203896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239A8D97-FE28-7570-A56D-D7B1069A0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361740"/>
              </p:ext>
            </p:extLst>
          </p:nvPr>
        </p:nvGraphicFramePr>
        <p:xfrm>
          <a:off x="6588920" y="3083017"/>
          <a:ext cx="5212081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4747">
                  <a:extLst>
                    <a:ext uri="{9D8B030D-6E8A-4147-A177-3AD203B41FA5}">
                      <a16:colId xmlns:a16="http://schemas.microsoft.com/office/drawing/2014/main" val="195687094"/>
                    </a:ext>
                  </a:extLst>
                </a:gridCol>
                <a:gridCol w="3207334">
                  <a:extLst>
                    <a:ext uri="{9D8B030D-6E8A-4147-A177-3AD203B41FA5}">
                      <a16:colId xmlns:a16="http://schemas.microsoft.com/office/drawing/2014/main" val="60489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rgbClr val="80808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JDK Type</a:t>
                      </a:r>
                      <a:endParaRPr lang="en-US" sz="1400" dirty="0">
                        <a:solidFill>
                          <a:srgbClr val="0070FF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algn="ctr"/>
                      <a:r>
                        <a:rPr lang="en-US" sz="1400" i="1" dirty="0">
                          <a:solidFill>
                            <a:srgbClr val="80808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JDK Implementation</a:t>
                      </a:r>
                      <a:endParaRPr lang="en-US" sz="1400" dirty="0">
                        <a:solidFill>
                          <a:srgbClr val="0070FF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295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List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&gt; 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List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</a:t>
                      </a:r>
                      <a:r>
                        <a:rPr lang="en-US" sz="1400" i="1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"1"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"2"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"3"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)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5612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rgbClr val="80808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JDK Type</a:t>
                      </a:r>
                      <a:endParaRPr lang="en-US" sz="1400" dirty="0">
                        <a:solidFill>
                          <a:srgbClr val="0070FF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rgbClr val="FF990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EC Implementation</a:t>
                      </a:r>
                      <a:endParaRPr lang="en-US" sz="1400" b="1" dirty="0">
                        <a:solidFill>
                          <a:srgbClr val="FF99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2509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List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&gt; 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Lists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</a:t>
                      </a:r>
                      <a:r>
                        <a:rPr lang="en-US" sz="1400" b="0" i="1" dirty="0" err="1">
                          <a:solidFill>
                            <a:srgbClr val="660E7A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immutable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"1"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"2"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"3"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)</a:t>
                      </a:r>
                      <a:b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</a:b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castToList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7850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rgbClr val="FF990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EC Type</a:t>
                      </a:r>
                      <a:endParaRPr lang="en-US" sz="1400" b="1" dirty="0">
                        <a:solidFill>
                          <a:srgbClr val="FF99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dirty="0">
                        <a:solidFill>
                          <a:srgbClr val="80808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solidFill>
                            <a:srgbClr val="FF9900"/>
                          </a:solidFill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// EC Implementation</a:t>
                      </a:r>
                      <a:endParaRPr lang="en-US" sz="1400" b="1" dirty="0">
                        <a:solidFill>
                          <a:srgbClr val="FF9900"/>
                        </a:solidFill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  <a:cs typeface="JetBrains Mono" panose="02000009000000000000" pitchFamily="49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7735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0070FF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ImmutableList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String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&gt; 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rgbClr val="A1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Lists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</a:t>
                      </a:r>
                      <a:r>
                        <a:rPr lang="en-US" sz="1400" b="0" i="1" dirty="0" err="1">
                          <a:solidFill>
                            <a:srgbClr val="660E7A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immutable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.of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"1"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"2"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, </a:t>
                      </a:r>
                      <a:r>
                        <a:rPr lang="en-US" sz="1400" b="1" dirty="0">
                          <a:solidFill>
                            <a:srgbClr val="0B00CC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"3"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D2CodingLigature Nerd Font" panose="020B0609020101020101" pitchFamily="49" charset="-127"/>
                          <a:ea typeface="D2CodingLigature Nerd Font" panose="020B0609020101020101" pitchFamily="49" charset="-127"/>
                          <a:cs typeface="JetBrains Mono" panose="02000009000000000000" pitchFamily="49" charset="0"/>
                        </a:rPr>
                        <a:t>)</a:t>
                      </a:r>
                      <a:endParaRPr lang="en-US" sz="1400" dirty="0">
                        <a:latin typeface="D2CodingLigature Nerd Font" panose="020B0609020101020101" pitchFamily="49" charset="-127"/>
                        <a:ea typeface="D2CodingLigature Nerd Font" panose="020B0609020101020101" pitchFamily="49" charset="-127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0934610"/>
                  </a:ext>
                </a:extLst>
              </a:tr>
            </a:tbl>
          </a:graphicData>
        </a:graphic>
      </p:graphicFrame>
      <p:sp>
        <p:nvSpPr>
          <p:cNvPr id="51" name="Rectangle 50">
            <a:extLst>
              <a:ext uri="{FF2B5EF4-FFF2-40B4-BE49-F238E27FC236}">
                <a16:creationId xmlns:a16="http://schemas.microsoft.com/office/drawing/2014/main" id="{2A3057DF-4A2F-9016-72AB-E1086E1FC4E7}"/>
              </a:ext>
            </a:extLst>
          </p:cNvPr>
          <p:cNvSpPr/>
          <p:nvPr/>
        </p:nvSpPr>
        <p:spPr>
          <a:xfrm>
            <a:off x="5736431" y="1370514"/>
            <a:ext cx="359568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AF6F63C-7E7E-DE85-6DDB-97CD9D3C4181}"/>
              </a:ext>
            </a:extLst>
          </p:cNvPr>
          <p:cNvSpPr/>
          <p:nvPr/>
        </p:nvSpPr>
        <p:spPr>
          <a:xfrm>
            <a:off x="6086476" y="1370513"/>
            <a:ext cx="359568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F6803B-9BA2-6777-E3EE-576E169CD592}"/>
              </a:ext>
            </a:extLst>
          </p:cNvPr>
          <p:cNvSpPr/>
          <p:nvPr/>
        </p:nvSpPr>
        <p:spPr>
          <a:xfrm>
            <a:off x="5141119" y="1239934"/>
            <a:ext cx="1909762" cy="73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JDK Type</a:t>
            </a:r>
            <a:endParaRPr lang="en-US" dirty="0">
              <a:solidFill>
                <a:srgbClr val="0070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ctr"/>
            <a:r>
              <a:rPr lang="en-US" dirty="0">
                <a:solidFill>
                  <a:srgbClr val="0070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lang="en-US" dirty="0">
                <a:solidFill>
                  <a:srgbClr val="0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lang="en-US" dirty="0">
                <a:solidFill>
                  <a:srgbClr val="A1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C50DB08-F138-D440-00EF-ED7D284AF7CA}"/>
              </a:ext>
            </a:extLst>
          </p:cNvPr>
          <p:cNvSpPr/>
          <p:nvPr/>
        </p:nvSpPr>
        <p:spPr>
          <a:xfrm>
            <a:off x="5730240" y="3540748"/>
            <a:ext cx="731520" cy="7315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r>
              <a:rPr lang="en-US" dirty="0"/>
              <a:t>Start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92366FC-3468-A36B-3C68-933D79F6C99C}"/>
              </a:ext>
            </a:extLst>
          </p:cNvPr>
          <p:cNvSpPr/>
          <p:nvPr/>
        </p:nvSpPr>
        <p:spPr>
          <a:xfrm>
            <a:off x="5730240" y="4573681"/>
            <a:ext cx="731520" cy="7315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dirty="0"/>
              <a:t>Step</a:t>
            </a:r>
            <a:br>
              <a:rPr lang="en-US" dirty="0"/>
            </a:br>
            <a:r>
              <a:rPr lang="en-US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AEFA2C4-83FF-65AC-A449-2913E2D5B582}"/>
              </a:ext>
            </a:extLst>
          </p:cNvPr>
          <p:cNvSpPr/>
          <p:nvPr/>
        </p:nvSpPr>
        <p:spPr>
          <a:xfrm>
            <a:off x="5730240" y="5610056"/>
            <a:ext cx="731520" cy="7315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dirty="0"/>
              <a:t>Step</a:t>
            </a:r>
            <a:br>
              <a:rPr lang="en-US" dirty="0"/>
            </a:br>
            <a:r>
              <a:rPr lang="en-US" dirty="0"/>
              <a:t>2</a:t>
            </a:r>
          </a:p>
        </p:txBody>
      </p:sp>
      <p:cxnSp>
        <p:nvCxnSpPr>
          <p:cNvPr id="58" name="Straight Arrow Connector 7">
            <a:extLst>
              <a:ext uri="{FF2B5EF4-FFF2-40B4-BE49-F238E27FC236}">
                <a16:creationId xmlns:a16="http://schemas.microsoft.com/office/drawing/2014/main" id="{793EA71D-1835-59A2-65A3-2F458AA6D11C}"/>
              </a:ext>
            </a:extLst>
          </p:cNvPr>
          <p:cNvCxnSpPr>
            <a:cxnSpLocks/>
            <a:stCxn id="55" idx="4"/>
            <a:endCxn id="56" idx="0"/>
          </p:cNvCxnSpPr>
          <p:nvPr/>
        </p:nvCxnSpPr>
        <p:spPr>
          <a:xfrm>
            <a:off x="6096000" y="4272268"/>
            <a:ext cx="0" cy="301413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7">
            <a:extLst>
              <a:ext uri="{FF2B5EF4-FFF2-40B4-BE49-F238E27FC236}">
                <a16:creationId xmlns:a16="http://schemas.microsoft.com/office/drawing/2014/main" id="{8E487A91-B8AB-4D07-A88C-032B3087F382}"/>
              </a:ext>
            </a:extLst>
          </p:cNvPr>
          <p:cNvCxnSpPr>
            <a:cxnSpLocks/>
            <a:stCxn id="56" idx="4"/>
            <a:endCxn id="57" idx="0"/>
          </p:cNvCxnSpPr>
          <p:nvPr/>
        </p:nvCxnSpPr>
        <p:spPr>
          <a:xfrm>
            <a:off x="6096000" y="5305201"/>
            <a:ext cx="0" cy="304855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E06CAD2-DEA5-2D1B-FE01-AC7E9527D80A}"/>
              </a:ext>
            </a:extLst>
          </p:cNvPr>
          <p:cNvSpPr txBox="1"/>
          <p:nvPr/>
        </p:nvSpPr>
        <p:spPr>
          <a:xfrm>
            <a:off x="0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🐿️</a:t>
            </a:r>
            <a:endParaRPr lang="en-US" sz="3200" dirty="0"/>
          </a:p>
        </p:txBody>
      </p:sp>
      <p:sp>
        <p:nvSpPr>
          <p:cNvPr id="5" name="TextBox 4">
            <a:hlinkClick r:id="rId3"/>
            <a:extLst>
              <a:ext uri="{FF2B5EF4-FFF2-40B4-BE49-F238E27FC236}">
                <a16:creationId xmlns:a16="http://schemas.microsoft.com/office/drawing/2014/main" id="{7C78BBAF-C083-832D-12F8-8507D14D4CF4}"/>
              </a:ext>
            </a:extLst>
          </p:cNvPr>
          <p:cNvSpPr txBox="1"/>
          <p:nvPr/>
        </p:nvSpPr>
        <p:spPr>
          <a:xfrm>
            <a:off x="3143025" y="2565822"/>
            <a:ext cx="5905947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hlinkClick r:id="rId3"/>
              </a:rPr>
              <a:t>How do you know if a collection is mutable or immutable?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79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BCEE7-2521-86AA-E33B-DF7889E6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" descr="Picture 4">
            <a:extLst>
              <a:ext uri="{FF2B5EF4-FFF2-40B4-BE49-F238E27FC236}">
                <a16:creationId xmlns:a16="http://schemas.microsoft.com/office/drawing/2014/main" id="{CB580C99-DE4D-D5F5-BDE9-8C3916DD1CA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698465" y="1312918"/>
            <a:ext cx="5369728" cy="5369728"/>
          </a:xfrm>
          <a:prstGeom prst="ellipse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724B78-2286-695B-79DD-F7CE06569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Set/Stream vs. </a:t>
            </a:r>
            <a:r>
              <a:rPr lang="en-US" dirty="0" err="1"/>
              <a:t>ImmutableSet</a:t>
            </a:r>
            <a:endParaRPr lang="en-US" dirty="0"/>
          </a:p>
        </p:txBody>
      </p:sp>
      <p:sp>
        <p:nvSpPr>
          <p:cNvPr id="24" name="ImmutableSet…">
            <a:extLst>
              <a:ext uri="{FF2B5EF4-FFF2-40B4-BE49-F238E27FC236}">
                <a16:creationId xmlns:a16="http://schemas.microsoft.com/office/drawing/2014/main" id="{AC6E8F1E-FC51-1300-A64E-671BDA89383D}"/>
              </a:ext>
            </a:extLst>
          </p:cNvPr>
          <p:cNvSpPr/>
          <p:nvPr/>
        </p:nvSpPr>
        <p:spPr>
          <a:xfrm>
            <a:off x="3652345" y="1266799"/>
            <a:ext cx="5461967" cy="5461966"/>
          </a:xfrm>
          <a:prstGeom prst="ellipse">
            <a:avLst/>
          </a:prstGeom>
          <a:solidFill>
            <a:srgbClr val="C2FEE1">
              <a:alpha val="70000"/>
            </a:srgbClr>
          </a:solidFill>
          <a:ln w="28575">
            <a:solidFill>
              <a:srgbClr val="000000">
                <a:alpha val="7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lIns="50800" tIns="50800" rIns="5080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indent="0" defTabSz="825500">
              <a:defRPr sz="7200" b="1">
                <a:solidFill>
                  <a:srgbClr val="000000"/>
                </a:solidFill>
              </a:defRPr>
            </a:pPr>
            <a:r>
              <a:rPr lang="en-US" sz="3600" dirty="0" err="1"/>
              <a:t>ImmutableSet</a:t>
            </a:r>
            <a:endParaRPr lang="en-US" sz="3600" dirty="0"/>
          </a:p>
          <a:p>
            <a:pPr lvl="1" indent="0" defTabSz="825500">
              <a:defRPr sz="20000" b="1">
                <a:solidFill>
                  <a:srgbClr val="942192"/>
                </a:solidFill>
              </a:defRPr>
            </a:pPr>
            <a:r>
              <a:rPr lang="en-US" sz="8800" dirty="0"/>
              <a:t>158</a:t>
            </a:r>
          </a:p>
        </p:txBody>
      </p:sp>
      <p:sp>
        <p:nvSpPr>
          <p:cNvPr id="25" name="Set…">
            <a:extLst>
              <a:ext uri="{FF2B5EF4-FFF2-40B4-BE49-F238E27FC236}">
                <a16:creationId xmlns:a16="http://schemas.microsoft.com/office/drawing/2014/main" id="{76CADFEC-3728-D2E0-3431-9C4F945F8C7B}"/>
              </a:ext>
            </a:extLst>
          </p:cNvPr>
          <p:cNvSpPr/>
          <p:nvPr/>
        </p:nvSpPr>
        <p:spPr>
          <a:xfrm>
            <a:off x="2893987" y="3529939"/>
            <a:ext cx="1128003" cy="1065571"/>
          </a:xfrm>
          <a:prstGeom prst="ellipse">
            <a:avLst/>
          </a:prstGeom>
          <a:solidFill>
            <a:srgbClr val="FFFED5">
              <a:alpha val="70000"/>
            </a:srgbClr>
          </a:solidFill>
          <a:ln w="28575">
            <a:solidFill>
              <a:srgbClr val="000000">
                <a:alpha val="7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indent="0" defTabSz="825500">
              <a:defRPr sz="3600" b="1">
                <a:solidFill>
                  <a:srgbClr val="000000"/>
                </a:solidFill>
              </a:defRPr>
            </a:pPr>
            <a:r>
              <a:rPr sz="2000" dirty="0"/>
              <a:t>Set</a:t>
            </a:r>
          </a:p>
          <a:p>
            <a:pPr lvl="1" indent="0" defTabSz="825500">
              <a:defRPr sz="3400" b="1">
                <a:solidFill>
                  <a:srgbClr val="942192"/>
                </a:solidFill>
              </a:defRPr>
            </a:pPr>
            <a:r>
              <a:rPr sz="2000" dirty="0"/>
              <a:t>21</a:t>
            </a:r>
          </a:p>
        </p:txBody>
      </p:sp>
      <p:sp>
        <p:nvSpPr>
          <p:cNvPr id="26" name="Stream…">
            <a:extLst>
              <a:ext uri="{FF2B5EF4-FFF2-40B4-BE49-F238E27FC236}">
                <a16:creationId xmlns:a16="http://schemas.microsoft.com/office/drawing/2014/main" id="{459BA0AD-704F-EA8E-968E-2C69DCA89213}"/>
              </a:ext>
            </a:extLst>
          </p:cNvPr>
          <p:cNvSpPr/>
          <p:nvPr/>
        </p:nvSpPr>
        <p:spPr>
          <a:xfrm>
            <a:off x="1997416" y="2372988"/>
            <a:ext cx="2044765" cy="2044765"/>
          </a:xfrm>
          <a:prstGeom prst="ellipse">
            <a:avLst/>
          </a:prstGeom>
          <a:solidFill>
            <a:srgbClr val="FFFED5">
              <a:alpha val="70000"/>
            </a:srgbClr>
          </a:solidFill>
          <a:ln w="28575">
            <a:solidFill>
              <a:srgbClr val="000000">
                <a:alpha val="7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defTabSz="825500">
              <a:defRPr sz="3600" b="1">
                <a:solidFill>
                  <a:srgbClr val="000000"/>
                </a:solidFill>
              </a:defRPr>
            </a:pPr>
            <a:r>
              <a:rPr sz="2000" dirty="0"/>
              <a:t>Stream</a:t>
            </a:r>
          </a:p>
          <a:p>
            <a:pPr defTabSz="825500">
              <a:defRPr sz="4900" b="1">
                <a:solidFill>
                  <a:srgbClr val="942192"/>
                </a:solidFill>
              </a:defRPr>
            </a:pPr>
            <a:r>
              <a:rPr sz="3200" dirty="0"/>
              <a:t>50</a:t>
            </a:r>
          </a:p>
        </p:txBody>
      </p:sp>
      <p:sp>
        <p:nvSpPr>
          <p:cNvPr id="27" name="10">
            <a:extLst>
              <a:ext uri="{FF2B5EF4-FFF2-40B4-BE49-F238E27FC236}">
                <a16:creationId xmlns:a16="http://schemas.microsoft.com/office/drawing/2014/main" id="{856E94A4-D9CE-580A-00C1-65A24B575E66}"/>
              </a:ext>
            </a:extLst>
          </p:cNvPr>
          <p:cNvSpPr txBox="1"/>
          <p:nvPr/>
        </p:nvSpPr>
        <p:spPr>
          <a:xfrm>
            <a:off x="3757973" y="3316497"/>
            <a:ext cx="196278" cy="20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94219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sz="1000" dirty="0"/>
              <a:t>10</a:t>
            </a:r>
          </a:p>
        </p:txBody>
      </p:sp>
      <p:sp>
        <p:nvSpPr>
          <p:cNvPr id="28" name="Collectors…">
            <a:extLst>
              <a:ext uri="{FF2B5EF4-FFF2-40B4-BE49-F238E27FC236}">
                <a16:creationId xmlns:a16="http://schemas.microsoft.com/office/drawing/2014/main" id="{7F0E9E95-ABF4-1926-1641-67CD10DEED8E}"/>
              </a:ext>
            </a:extLst>
          </p:cNvPr>
          <p:cNvSpPr/>
          <p:nvPr/>
        </p:nvSpPr>
        <p:spPr>
          <a:xfrm>
            <a:off x="8163979" y="2170148"/>
            <a:ext cx="1310872" cy="1310872"/>
          </a:xfrm>
          <a:prstGeom prst="ellipse">
            <a:avLst/>
          </a:prstGeom>
          <a:solidFill>
            <a:srgbClr val="FFFED5">
              <a:alpha val="70000"/>
            </a:srgbClr>
          </a:solidFill>
          <a:ln w="28575">
            <a:solidFill>
              <a:srgbClr val="000000">
                <a:alpha val="7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indent="0" defTabSz="825500">
              <a:defRPr sz="3600" b="1">
                <a:solidFill>
                  <a:srgbClr val="000000"/>
                </a:solidFill>
              </a:defRPr>
            </a:pPr>
            <a:r>
              <a:rPr sz="1600" dirty="0"/>
              <a:t>Collectors</a:t>
            </a:r>
          </a:p>
          <a:p>
            <a:pPr lvl="1" indent="0" defTabSz="825500">
              <a:defRPr sz="3000" b="1">
                <a:solidFill>
                  <a:srgbClr val="942192"/>
                </a:solidFill>
              </a:defRPr>
            </a:pPr>
            <a:r>
              <a:rPr sz="1600" dirty="0"/>
              <a:t>30</a:t>
            </a:r>
          </a:p>
        </p:txBody>
      </p:sp>
      <p:sp>
        <p:nvSpPr>
          <p:cNvPr id="29" name="5">
            <a:extLst>
              <a:ext uri="{FF2B5EF4-FFF2-40B4-BE49-F238E27FC236}">
                <a16:creationId xmlns:a16="http://schemas.microsoft.com/office/drawing/2014/main" id="{618A84FF-6190-E8A1-E26A-EDE1BA07C652}"/>
              </a:ext>
            </a:extLst>
          </p:cNvPr>
          <p:cNvSpPr txBox="1"/>
          <p:nvPr/>
        </p:nvSpPr>
        <p:spPr>
          <a:xfrm>
            <a:off x="8239690" y="2793488"/>
            <a:ext cx="140013" cy="20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94219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sz="1000"/>
              <a:t>5</a:t>
            </a:r>
          </a:p>
        </p:txBody>
      </p:sp>
      <p:sp>
        <p:nvSpPr>
          <p:cNvPr id="30" name="Collectors2…">
            <a:extLst>
              <a:ext uri="{FF2B5EF4-FFF2-40B4-BE49-F238E27FC236}">
                <a16:creationId xmlns:a16="http://schemas.microsoft.com/office/drawing/2014/main" id="{3B01523C-87A5-30FE-C52B-F2DEB915AD83}"/>
              </a:ext>
            </a:extLst>
          </p:cNvPr>
          <p:cNvSpPr/>
          <p:nvPr/>
        </p:nvSpPr>
        <p:spPr>
          <a:xfrm>
            <a:off x="7278466" y="3182041"/>
            <a:ext cx="3146093" cy="3146093"/>
          </a:xfrm>
          <a:prstGeom prst="ellipse">
            <a:avLst/>
          </a:prstGeom>
          <a:solidFill>
            <a:srgbClr val="A6FCD6">
              <a:alpha val="70000"/>
            </a:srgbClr>
          </a:solidFill>
          <a:ln w="28575">
            <a:solidFill>
              <a:srgbClr val="000000">
                <a:alpha val="7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lIns="50800" tIns="50800" rIns="5080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3" defTabSz="825500">
              <a:defRPr sz="4200" b="1">
                <a:solidFill>
                  <a:srgbClr val="000000"/>
                </a:solidFill>
              </a:defRPr>
            </a:pPr>
            <a:r>
              <a:rPr sz="3200" dirty="0"/>
              <a:t>            </a:t>
            </a:r>
            <a:r>
              <a:rPr sz="2200" dirty="0"/>
              <a:t>Collectors2</a:t>
            </a:r>
            <a:r>
              <a:rPr sz="3200" dirty="0"/>
              <a:t>           </a:t>
            </a:r>
            <a:r>
              <a:rPr lang="en-US" sz="3200" dirty="0"/>
              <a:t>	</a:t>
            </a:r>
            <a:r>
              <a:rPr sz="3200" dirty="0">
                <a:solidFill>
                  <a:srgbClr val="942192"/>
                </a:solidFill>
              </a:rPr>
              <a:t>72</a:t>
            </a:r>
          </a:p>
        </p:txBody>
      </p:sp>
      <p:sp>
        <p:nvSpPr>
          <p:cNvPr id="31" name="56">
            <a:extLst>
              <a:ext uri="{FF2B5EF4-FFF2-40B4-BE49-F238E27FC236}">
                <a16:creationId xmlns:a16="http://schemas.microsoft.com/office/drawing/2014/main" id="{ACB7A2EA-54E0-9F90-8503-02EC31B6AC87}"/>
              </a:ext>
            </a:extLst>
          </p:cNvPr>
          <p:cNvSpPr txBox="1"/>
          <p:nvPr/>
        </p:nvSpPr>
        <p:spPr>
          <a:xfrm>
            <a:off x="7755460" y="3824779"/>
            <a:ext cx="553854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squar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700" b="1" i="0" u="none" strike="noStrike" cap="none" spc="0" normalizeH="0" baseline="0">
                <a:ln>
                  <a:noFill/>
                </a:ln>
                <a:solidFill>
                  <a:srgbClr val="94219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sz="3200" dirty="0"/>
              <a:t>56</a:t>
            </a:r>
          </a:p>
        </p:txBody>
      </p:sp>
      <p:sp>
        <p:nvSpPr>
          <p:cNvPr id="32" name="3">
            <a:extLst>
              <a:ext uri="{FF2B5EF4-FFF2-40B4-BE49-F238E27FC236}">
                <a16:creationId xmlns:a16="http://schemas.microsoft.com/office/drawing/2014/main" id="{5AEDCCFE-AFF5-25F8-9DC4-E508FAEF59F5}"/>
              </a:ext>
            </a:extLst>
          </p:cNvPr>
          <p:cNvSpPr txBox="1"/>
          <p:nvPr/>
        </p:nvSpPr>
        <p:spPr>
          <a:xfrm>
            <a:off x="8709930" y="3242525"/>
            <a:ext cx="140013" cy="20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94219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sz="1000"/>
              <a:t>3</a:t>
            </a:r>
          </a:p>
        </p:txBody>
      </p:sp>
      <p:sp>
        <p:nvSpPr>
          <p:cNvPr id="33" name="5">
            <a:extLst>
              <a:ext uri="{FF2B5EF4-FFF2-40B4-BE49-F238E27FC236}">
                <a16:creationId xmlns:a16="http://schemas.microsoft.com/office/drawing/2014/main" id="{3A43B2FE-39A2-6759-9A0B-B17635D8F2AE}"/>
              </a:ext>
            </a:extLst>
          </p:cNvPr>
          <p:cNvSpPr txBox="1"/>
          <p:nvPr/>
        </p:nvSpPr>
        <p:spPr>
          <a:xfrm>
            <a:off x="3056285" y="3761412"/>
            <a:ext cx="140013" cy="20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94219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sz="1000"/>
              <a:t>5</a:t>
            </a:r>
          </a:p>
        </p:txBody>
      </p:sp>
      <p:sp>
        <p:nvSpPr>
          <p:cNvPr id="34" name="Java Collections / Streams…">
            <a:extLst>
              <a:ext uri="{FF2B5EF4-FFF2-40B4-BE49-F238E27FC236}">
                <a16:creationId xmlns:a16="http://schemas.microsoft.com/office/drawing/2014/main" id="{9096C22A-C62D-F9A8-7624-FD161FB3C089}"/>
              </a:ext>
            </a:extLst>
          </p:cNvPr>
          <p:cNvSpPr txBox="1"/>
          <p:nvPr/>
        </p:nvSpPr>
        <p:spPr>
          <a:xfrm>
            <a:off x="1361516" y="1150919"/>
            <a:ext cx="287989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l">
              <a:defRPr sz="4200" b="1"/>
            </a:pPr>
            <a:r>
              <a:rPr sz="1800" dirty="0">
                <a:solidFill>
                  <a:srgbClr val="000000"/>
                </a:solidFill>
              </a:rPr>
              <a:t>Java Collections / Streams</a:t>
            </a:r>
          </a:p>
          <a:p>
            <a:pPr algn="l">
              <a:defRPr sz="4200" b="1"/>
            </a:pPr>
            <a:r>
              <a:rPr sz="1800" dirty="0">
                <a:solidFill>
                  <a:srgbClr val="000000"/>
                </a:solidFill>
              </a:rPr>
              <a:t>Eclipse Collections</a:t>
            </a:r>
          </a:p>
        </p:txBody>
      </p:sp>
      <p:sp>
        <p:nvSpPr>
          <p:cNvPr id="35" name="Collections…">
            <a:extLst>
              <a:ext uri="{FF2B5EF4-FFF2-40B4-BE49-F238E27FC236}">
                <a16:creationId xmlns:a16="http://schemas.microsoft.com/office/drawing/2014/main" id="{418FBF99-05A2-DC85-8DE6-31B541D51987}"/>
              </a:ext>
            </a:extLst>
          </p:cNvPr>
          <p:cNvSpPr/>
          <p:nvPr/>
        </p:nvSpPr>
        <p:spPr>
          <a:xfrm>
            <a:off x="1724403" y="4064640"/>
            <a:ext cx="2141091" cy="2141091"/>
          </a:xfrm>
          <a:prstGeom prst="ellipse">
            <a:avLst/>
          </a:prstGeom>
          <a:solidFill>
            <a:srgbClr val="FFFED5">
              <a:alpha val="70000"/>
            </a:srgbClr>
          </a:solidFill>
          <a:ln w="28575">
            <a:solidFill>
              <a:srgbClr val="000000">
                <a:alpha val="7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defTabSz="825500">
              <a:defRPr sz="3600" b="1">
                <a:solidFill>
                  <a:srgbClr val="000000"/>
                </a:solidFill>
              </a:defRPr>
            </a:pPr>
            <a:r>
              <a:rPr sz="2200" dirty="0"/>
              <a:t>Collections</a:t>
            </a:r>
          </a:p>
          <a:p>
            <a:pPr defTabSz="825500">
              <a:defRPr sz="6400" b="1">
                <a:solidFill>
                  <a:srgbClr val="942192"/>
                </a:solidFill>
              </a:defRPr>
            </a:pPr>
            <a:r>
              <a:rPr sz="4000" dirty="0"/>
              <a:t>64</a:t>
            </a:r>
          </a:p>
        </p:txBody>
      </p:sp>
      <p:sp>
        <p:nvSpPr>
          <p:cNvPr id="36" name="1">
            <a:extLst>
              <a:ext uri="{FF2B5EF4-FFF2-40B4-BE49-F238E27FC236}">
                <a16:creationId xmlns:a16="http://schemas.microsoft.com/office/drawing/2014/main" id="{720DE3E7-80BB-2DE5-AB74-E8917E10C94C}"/>
              </a:ext>
            </a:extLst>
          </p:cNvPr>
          <p:cNvSpPr txBox="1"/>
          <p:nvPr/>
        </p:nvSpPr>
        <p:spPr>
          <a:xfrm>
            <a:off x="3318459" y="4358258"/>
            <a:ext cx="140013" cy="20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94219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sz="1000"/>
              <a:t>1</a:t>
            </a:r>
          </a:p>
        </p:txBody>
      </p:sp>
      <p:sp>
        <p:nvSpPr>
          <p:cNvPr id="37" name="2">
            <a:extLst>
              <a:ext uri="{FF2B5EF4-FFF2-40B4-BE49-F238E27FC236}">
                <a16:creationId xmlns:a16="http://schemas.microsoft.com/office/drawing/2014/main" id="{1191ED59-E6C1-FB6F-71D7-107B5FAD0778}"/>
              </a:ext>
            </a:extLst>
          </p:cNvPr>
          <p:cNvSpPr txBox="1"/>
          <p:nvPr/>
        </p:nvSpPr>
        <p:spPr>
          <a:xfrm>
            <a:off x="2562987" y="4116712"/>
            <a:ext cx="140013" cy="20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94219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sz="1000"/>
              <a:t>2</a:t>
            </a:r>
          </a:p>
        </p:txBody>
      </p:sp>
      <p:sp>
        <p:nvSpPr>
          <p:cNvPr id="38" name="3">
            <a:extLst>
              <a:ext uri="{FF2B5EF4-FFF2-40B4-BE49-F238E27FC236}">
                <a16:creationId xmlns:a16="http://schemas.microsoft.com/office/drawing/2014/main" id="{F491EBBC-EE53-A561-8686-9ACE08632D4B}"/>
              </a:ext>
            </a:extLst>
          </p:cNvPr>
          <p:cNvSpPr txBox="1"/>
          <p:nvPr/>
        </p:nvSpPr>
        <p:spPr>
          <a:xfrm>
            <a:off x="3527410" y="4873470"/>
            <a:ext cx="235535" cy="284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76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200" b="1" i="0" u="none" strike="noStrike" cap="none" spc="0" normalizeH="0" baseline="0">
                <a:ln>
                  <a:noFill/>
                </a:ln>
                <a:solidFill>
                  <a:srgbClr val="94219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sz="1600"/>
              <a:t>3</a:t>
            </a:r>
          </a:p>
        </p:txBody>
      </p:sp>
      <p:sp>
        <p:nvSpPr>
          <p:cNvPr id="39" name="Metric - Number of Non-overloaded Methods">
            <a:extLst>
              <a:ext uri="{FF2B5EF4-FFF2-40B4-BE49-F238E27FC236}">
                <a16:creationId xmlns:a16="http://schemas.microsoft.com/office/drawing/2014/main" id="{A5B89E80-EBCE-837D-A887-5496085151DE}"/>
              </a:ext>
            </a:extLst>
          </p:cNvPr>
          <p:cNvSpPr txBox="1"/>
          <p:nvPr/>
        </p:nvSpPr>
        <p:spPr>
          <a:xfrm>
            <a:off x="7715250" y="1096748"/>
            <a:ext cx="3638550" cy="318036"/>
          </a:xfrm>
          <a:prstGeom prst="rect">
            <a:avLst/>
          </a:prstGeom>
          <a:solidFill>
            <a:srgbClr val="94219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squar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sz="1400" dirty="0"/>
              <a:t>Metric - Number of Non-overloaded Methods</a:t>
            </a:r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160199A8-D8B8-8225-2AC9-F8BEFE9A02C1}"/>
              </a:ext>
            </a:extLst>
          </p:cNvPr>
          <p:cNvSpPr/>
          <p:nvPr/>
        </p:nvSpPr>
        <p:spPr>
          <a:xfrm>
            <a:off x="1045049" y="1501063"/>
            <a:ext cx="250205" cy="251643"/>
          </a:xfrm>
          <a:prstGeom prst="ellipse">
            <a:avLst/>
          </a:prstGeom>
          <a:solidFill>
            <a:srgbClr val="A6FCD6"/>
          </a:solidFill>
          <a:ln w="28575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4000"/>
          </a:p>
        </p:txBody>
      </p:sp>
      <p:sp>
        <p:nvSpPr>
          <p:cNvPr id="41" name="Circle">
            <a:extLst>
              <a:ext uri="{FF2B5EF4-FFF2-40B4-BE49-F238E27FC236}">
                <a16:creationId xmlns:a16="http://schemas.microsoft.com/office/drawing/2014/main" id="{FFAD304E-41F0-435A-48CC-7282D3766A42}"/>
              </a:ext>
            </a:extLst>
          </p:cNvPr>
          <p:cNvSpPr/>
          <p:nvPr/>
        </p:nvSpPr>
        <p:spPr>
          <a:xfrm>
            <a:off x="1045049" y="1206117"/>
            <a:ext cx="250205" cy="251643"/>
          </a:xfrm>
          <a:prstGeom prst="ellipse">
            <a:avLst/>
          </a:prstGeom>
          <a:solidFill>
            <a:srgbClr val="FFFED5"/>
          </a:solidFill>
          <a:ln w="28575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4000"/>
          </a:p>
        </p:txBody>
      </p:sp>
      <p:sp>
        <p:nvSpPr>
          <p:cNvPr id="42" name="Gatherers…">
            <a:extLst>
              <a:ext uri="{FF2B5EF4-FFF2-40B4-BE49-F238E27FC236}">
                <a16:creationId xmlns:a16="http://schemas.microsoft.com/office/drawing/2014/main" id="{6DF9435A-5C41-9ABC-0722-F2B9B202E432}"/>
              </a:ext>
            </a:extLst>
          </p:cNvPr>
          <p:cNvSpPr/>
          <p:nvPr/>
        </p:nvSpPr>
        <p:spPr>
          <a:xfrm>
            <a:off x="1214884" y="2072014"/>
            <a:ext cx="850960" cy="822960"/>
          </a:xfrm>
          <a:prstGeom prst="ellipse">
            <a:avLst/>
          </a:prstGeom>
          <a:solidFill>
            <a:srgbClr val="FFFED5">
              <a:alpha val="70000"/>
            </a:srgbClr>
          </a:solidFill>
          <a:ln w="28575">
            <a:solidFill>
              <a:srgbClr val="000000">
                <a:alpha val="7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0" tIns="50800" rIns="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indent="0" algn="l" defTabSz="825500">
              <a:defRPr sz="2300" b="1">
                <a:solidFill>
                  <a:srgbClr val="000000"/>
                </a:solidFill>
              </a:defRPr>
            </a:pPr>
            <a:r>
              <a:rPr sz="1100" dirty="0"/>
              <a:t>Gatherers</a:t>
            </a:r>
          </a:p>
          <a:p>
            <a:pPr defTabSz="825500">
              <a:defRPr b="1">
                <a:solidFill>
                  <a:srgbClr val="942192"/>
                </a:solidFill>
              </a:defRPr>
            </a:pPr>
            <a:r>
              <a:rPr sz="1100" dirty="0"/>
              <a:t>5</a:t>
            </a:r>
          </a:p>
        </p:txBody>
      </p:sp>
      <p:sp>
        <p:nvSpPr>
          <p:cNvPr id="43" name="12">
            <a:extLst>
              <a:ext uri="{FF2B5EF4-FFF2-40B4-BE49-F238E27FC236}">
                <a16:creationId xmlns:a16="http://schemas.microsoft.com/office/drawing/2014/main" id="{6AF7B2D3-C5B3-8636-C282-E47A394AEE7E}"/>
              </a:ext>
            </a:extLst>
          </p:cNvPr>
          <p:cNvSpPr txBox="1"/>
          <p:nvPr/>
        </p:nvSpPr>
        <p:spPr>
          <a:xfrm>
            <a:off x="3656279" y="4199861"/>
            <a:ext cx="196278" cy="20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lc="http://schemas.openxmlformats.org/drawingml/2006/lockedCanvas" val="1"/>
            </a:ext>
          </a:extLst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94219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sz="1000" dirty="0"/>
              <a:t>12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3801336-2D11-CF43-495B-BAAF89F9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8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EECB8E-7FF6-48B7-C878-E85625B33A33}"/>
              </a:ext>
            </a:extLst>
          </p:cNvPr>
          <p:cNvSpPr txBox="1"/>
          <p:nvPr/>
        </p:nvSpPr>
        <p:spPr>
          <a:xfrm>
            <a:off x="0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🐿️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7463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1"/>
          <p:cNvSpPr txBox="1">
            <a:spLocks noGrp="1"/>
          </p:cNvSpPr>
          <p:nvPr>
            <p:ph type="title"/>
          </p:nvPr>
        </p:nvSpPr>
        <p:spPr>
          <a:xfrm>
            <a:off x="838200" y="225379"/>
            <a:ext cx="10515600" cy="7920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Methods by Category - Highlights</a:t>
            </a:r>
            <a:endParaRPr lang="en-US" dirty="0"/>
          </a:p>
        </p:txBody>
      </p:sp>
      <p:grpSp>
        <p:nvGrpSpPr>
          <p:cNvPr id="253" name="Group 10"/>
          <p:cNvGrpSpPr/>
          <p:nvPr/>
        </p:nvGrpSpPr>
        <p:grpSpPr>
          <a:xfrm>
            <a:off x="552431" y="1128885"/>
            <a:ext cx="5543571" cy="2700774"/>
            <a:chOff x="0" y="-1"/>
            <a:chExt cx="5543569" cy="2700772"/>
          </a:xfrm>
        </p:grpSpPr>
        <p:grpSp>
          <p:nvGrpSpPr>
            <p:cNvPr id="250" name="Rectangle 3"/>
            <p:cNvGrpSpPr/>
            <p:nvPr/>
          </p:nvGrpSpPr>
          <p:grpSpPr>
            <a:xfrm>
              <a:off x="5" y="-1"/>
              <a:ext cx="5543564" cy="650792"/>
              <a:chOff x="-1" y="-1"/>
              <a:chExt cx="5543563" cy="650791"/>
            </a:xfrm>
          </p:grpSpPr>
          <p:sp>
            <p:nvSpPr>
              <p:cNvPr id="248" name="Rectangle"/>
              <p:cNvSpPr/>
              <p:nvPr/>
            </p:nvSpPr>
            <p:spPr>
              <a:xfrm>
                <a:off x="-1" y="-1"/>
                <a:ext cx="5543563" cy="650791"/>
              </a:xfrm>
              <a:prstGeom prst="rect">
                <a:avLst/>
              </a:pr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49" name="transform"/>
              <p:cNvSpPr txBox="1"/>
              <p:nvPr/>
            </p:nvSpPr>
            <p:spPr>
              <a:xfrm>
                <a:off x="-1" y="33009"/>
                <a:ext cx="5543563" cy="5847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/>
                </a:lvl1pPr>
              </a:lstStyle>
              <a:p>
                <a:r>
                  <a:rPr dirty="0"/>
                  <a:t>transform</a:t>
                </a:r>
                <a:r>
                  <a:rPr lang="en-US" dirty="0"/>
                  <a:t>ing</a:t>
                </a:r>
                <a:endParaRPr dirty="0"/>
              </a:p>
            </p:txBody>
          </p:sp>
        </p:grpSp>
        <p:sp>
          <p:nvSpPr>
            <p:cNvPr id="251" name="Rectangle 4"/>
            <p:cNvSpPr/>
            <p:nvPr/>
          </p:nvSpPr>
          <p:spPr>
            <a:xfrm>
              <a:off x="0" y="678930"/>
              <a:ext cx="5543562" cy="2021841"/>
            </a:xfrm>
            <a:prstGeom prst="rect">
              <a:avLst/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/>
              </a:pPr>
              <a:r>
                <a:t>collect</a:t>
              </a:r>
              <a:r>
                <a:rPr b="1">
                  <a:solidFill>
                    <a:srgbClr val="0066FF"/>
                  </a:solidFill>
                </a:rPr>
                <a:t>[With]</a:t>
              </a:r>
            </a:p>
            <a:p>
              <a:pPr>
                <a:defRPr sz="1600"/>
              </a:pPr>
              <a:r>
                <a:t>collect</a:t>
              </a:r>
              <a:r>
                <a:rPr b="1">
                  <a:solidFill>
                    <a:srgbClr val="0066FF"/>
                  </a:solidFill>
                </a:rPr>
                <a:t>[Boolean,Byte,Char,Double,Float,Int,Long,Short]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/>
              </a:pPr>
              <a:r>
                <a:t>collectIf</a:t>
              </a:r>
            </a:p>
            <a:p>
              <a:pPr>
                <a:defRPr sz="1600"/>
              </a:pPr>
              <a:r>
                <a:t>collectKeysAndValues</a:t>
              </a:r>
            </a:p>
            <a:p>
              <a:pPr>
                <a:defRPr sz="1600"/>
              </a:pPr>
              <a:r>
                <a:t>collectValues</a:t>
              </a:r>
            </a:p>
            <a:p>
              <a:pPr>
                <a:defRPr sz="1600"/>
              </a:pPr>
              <a:r>
                <a:t>collectWithIndex</a:t>
              </a:r>
            </a:p>
            <a:p>
              <a:pPr>
                <a:defRPr sz="1600"/>
              </a:pPr>
              <a:r>
                <a:t>collectWithOccurrences</a:t>
              </a:r>
            </a:p>
            <a:p>
              <a:pPr>
                <a:defRPr sz="1600"/>
              </a:pPr>
              <a:r>
                <a:t>flatCollect</a:t>
              </a:r>
            </a:p>
          </p:txBody>
        </p:sp>
        <p:sp>
          <p:nvSpPr>
            <p:cNvPr id="252" name="Straight Connector 9"/>
            <p:cNvSpPr/>
            <p:nvPr/>
          </p:nvSpPr>
          <p:spPr>
            <a:xfrm>
              <a:off x="4" y="650789"/>
              <a:ext cx="5543562" cy="1"/>
            </a:xfrm>
            <a:prstGeom prst="line">
              <a:avLst/>
            </a:prstGeom>
            <a:solidFill>
              <a:srgbClr val="F2F2F2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59" name="Group 11"/>
          <p:cNvGrpSpPr/>
          <p:nvPr/>
        </p:nvGrpSpPr>
        <p:grpSpPr>
          <a:xfrm>
            <a:off x="521346" y="4100166"/>
            <a:ext cx="2028574" cy="1978245"/>
            <a:chOff x="0" y="-1"/>
            <a:chExt cx="2028572" cy="1978244"/>
          </a:xfrm>
        </p:grpSpPr>
        <p:grpSp>
          <p:nvGrpSpPr>
            <p:cNvPr id="256" name="Rectangle 12"/>
            <p:cNvGrpSpPr/>
            <p:nvPr/>
          </p:nvGrpSpPr>
          <p:grpSpPr>
            <a:xfrm>
              <a:off x="0" y="-1"/>
              <a:ext cx="2028572" cy="650793"/>
              <a:chOff x="-1" y="-1"/>
              <a:chExt cx="2028571" cy="650792"/>
            </a:xfrm>
          </p:grpSpPr>
          <p:sp>
            <p:nvSpPr>
              <p:cNvPr id="254" name="Rectangle"/>
              <p:cNvSpPr/>
              <p:nvPr/>
            </p:nvSpPr>
            <p:spPr>
              <a:xfrm>
                <a:off x="-1" y="-1"/>
                <a:ext cx="2028571" cy="650792"/>
              </a:xfrm>
              <a:prstGeom prst="rect">
                <a:avLst/>
              </a:prstGeom>
              <a:solidFill>
                <a:srgbClr val="DEEBF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55" name="wrap"/>
              <p:cNvSpPr txBox="1"/>
              <p:nvPr/>
            </p:nvSpPr>
            <p:spPr>
              <a:xfrm>
                <a:off x="-1" y="33010"/>
                <a:ext cx="2028571" cy="5847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/>
                </a:lvl1pPr>
              </a:lstStyle>
              <a:p>
                <a:r>
                  <a:rPr dirty="0"/>
                  <a:t>wrap</a:t>
                </a:r>
                <a:r>
                  <a:rPr lang="en-US" dirty="0"/>
                  <a:t>ping</a:t>
                </a:r>
                <a:endParaRPr dirty="0"/>
              </a:p>
            </p:txBody>
          </p:sp>
        </p:grpSp>
        <p:sp>
          <p:nvSpPr>
            <p:cNvPr id="257" name="Rectangle 13"/>
            <p:cNvSpPr/>
            <p:nvPr/>
          </p:nvSpPr>
          <p:spPr>
            <a:xfrm>
              <a:off x="0" y="680302"/>
              <a:ext cx="2028570" cy="1297941"/>
            </a:xfrm>
            <a:prstGeom prst="rect">
              <a:avLst/>
            </a:prstGeom>
            <a:solidFill>
              <a:srgbClr val="DEEBF7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/>
              </a:pPr>
              <a:r>
                <a:t>asLazy</a:t>
              </a:r>
            </a:p>
            <a:p>
              <a:pPr>
                <a:defRPr sz="1600"/>
              </a:pPr>
              <a:r>
                <a:t>asParallel</a:t>
              </a:r>
            </a:p>
            <a:p>
              <a:pPr>
                <a:defRPr sz="1600"/>
              </a:pPr>
              <a:r>
                <a:t>asReversed</a:t>
              </a:r>
            </a:p>
            <a:p>
              <a:pPr>
                <a:defRPr sz="1600"/>
              </a:pPr>
              <a:r>
                <a:t>asSynchronized</a:t>
              </a:r>
            </a:p>
            <a:p>
              <a:pPr>
                <a:defRPr sz="1600"/>
              </a:pPr>
              <a:r>
                <a:t>asUnmodifiable</a:t>
              </a:r>
            </a:p>
          </p:txBody>
        </p:sp>
        <p:sp>
          <p:nvSpPr>
            <p:cNvPr id="258" name="Straight Connector 14"/>
            <p:cNvSpPr/>
            <p:nvPr/>
          </p:nvSpPr>
          <p:spPr>
            <a:xfrm>
              <a:off x="0" y="650790"/>
              <a:ext cx="2028570" cy="1"/>
            </a:xfrm>
            <a:prstGeom prst="line">
              <a:avLst/>
            </a:prstGeom>
            <a:solidFill>
              <a:srgbClr val="DEEBF7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65" name="Group 15"/>
          <p:cNvGrpSpPr/>
          <p:nvPr/>
        </p:nvGrpSpPr>
        <p:grpSpPr>
          <a:xfrm>
            <a:off x="7096362" y="1269357"/>
            <a:ext cx="1968763" cy="4152098"/>
            <a:chOff x="0" y="-1"/>
            <a:chExt cx="1968762" cy="4152097"/>
          </a:xfrm>
        </p:grpSpPr>
        <p:grpSp>
          <p:nvGrpSpPr>
            <p:cNvPr id="262" name="Rectangle 16"/>
            <p:cNvGrpSpPr/>
            <p:nvPr/>
          </p:nvGrpSpPr>
          <p:grpSpPr>
            <a:xfrm>
              <a:off x="5" y="-1"/>
              <a:ext cx="1968757" cy="650793"/>
              <a:chOff x="-1" y="-1"/>
              <a:chExt cx="1968756" cy="650792"/>
            </a:xfrm>
          </p:grpSpPr>
          <p:sp>
            <p:nvSpPr>
              <p:cNvPr id="260" name="Rectangle"/>
              <p:cNvSpPr/>
              <p:nvPr/>
            </p:nvSpPr>
            <p:spPr>
              <a:xfrm>
                <a:off x="-1" y="-1"/>
                <a:ext cx="1968756" cy="650792"/>
              </a:xfrm>
              <a:prstGeom prst="rect">
                <a:avLst/>
              </a:prstGeom>
              <a:solidFill>
                <a:srgbClr val="FBE5D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61" name="convert"/>
              <p:cNvSpPr txBox="1"/>
              <p:nvPr/>
            </p:nvSpPr>
            <p:spPr>
              <a:xfrm>
                <a:off x="-1" y="33010"/>
                <a:ext cx="1968756" cy="5847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/>
                </a:lvl1pPr>
              </a:lstStyle>
              <a:p>
                <a:r>
                  <a:rPr dirty="0"/>
                  <a:t>convert</a:t>
                </a:r>
                <a:r>
                  <a:rPr lang="en-US" dirty="0"/>
                  <a:t>ing</a:t>
                </a:r>
                <a:endParaRPr dirty="0"/>
              </a:p>
            </p:txBody>
          </p:sp>
        </p:grpSp>
        <p:sp>
          <p:nvSpPr>
            <p:cNvPr id="263" name="Rectangle 17"/>
            <p:cNvSpPr/>
            <p:nvPr/>
          </p:nvSpPr>
          <p:spPr>
            <a:xfrm>
              <a:off x="0" y="682455"/>
              <a:ext cx="1968755" cy="3469641"/>
            </a:xfrm>
            <a:prstGeom prst="rect">
              <a:avLst/>
            </a:prstGeom>
            <a:solidFill>
              <a:srgbClr val="FBE5D6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/>
              </a:pPr>
              <a:r>
                <a:t>toArray</a:t>
              </a:r>
            </a:p>
            <a:p>
              <a:pPr>
                <a:defRPr sz="1600"/>
              </a:pPr>
              <a:r>
                <a:t>toBag</a:t>
              </a:r>
            </a:p>
            <a:p>
              <a:pPr>
                <a:defRPr sz="1600"/>
              </a:pPr>
              <a:r>
                <a:t>toImmutable</a:t>
              </a:r>
            </a:p>
            <a:p>
              <a:pPr>
                <a:defRPr sz="1600"/>
              </a:pPr>
              <a:r>
                <a:t>toList</a:t>
              </a:r>
            </a:p>
            <a:p>
              <a:pPr>
                <a:defRPr sz="1600"/>
              </a:pPr>
              <a:r>
                <a:t>toMap</a:t>
              </a:r>
            </a:p>
            <a:p>
              <a:pPr>
                <a:defRPr sz="1600"/>
              </a:pPr>
              <a:r>
                <a:t>toReversed</a:t>
              </a:r>
            </a:p>
            <a:p>
              <a:pPr>
                <a:defRPr sz="1600"/>
              </a:pPr>
              <a:r>
                <a:t>toSet</a:t>
              </a:r>
            </a:p>
            <a:p>
              <a:pPr>
                <a:defRPr sz="1600"/>
              </a:pPr>
              <a:r>
                <a:t>toSortedBag</a:t>
              </a:r>
              <a:r>
                <a:rPr b="1">
                  <a:solidFill>
                    <a:srgbClr val="0066FF"/>
                  </a:solidFill>
                </a:rPr>
                <a:t>[By]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/>
              </a:pPr>
              <a:r>
                <a:t>toSortedList</a:t>
              </a:r>
              <a:r>
                <a:rPr b="1">
                  <a:solidFill>
                    <a:srgbClr val="0066FF"/>
                  </a:solidFill>
                </a:rPr>
                <a:t>[By]</a:t>
              </a:r>
            </a:p>
            <a:p>
              <a:pPr>
                <a:defRPr sz="1600"/>
              </a:pPr>
              <a:r>
                <a:t>toSortedMap</a:t>
              </a:r>
            </a:p>
            <a:p>
              <a:pPr>
                <a:defRPr sz="1600"/>
              </a:pPr>
              <a:r>
                <a:t>toSortedSet</a:t>
              </a:r>
            </a:p>
            <a:p>
              <a:pPr>
                <a:defRPr sz="1600"/>
              </a:pPr>
              <a:r>
                <a:t>toSortedSet</a:t>
              </a:r>
              <a:r>
                <a:rPr b="1">
                  <a:solidFill>
                    <a:srgbClr val="0066FF"/>
                  </a:solidFill>
                </a:rPr>
                <a:t>[By]</a:t>
              </a:r>
            </a:p>
            <a:p>
              <a:pPr>
                <a:defRPr sz="1600"/>
              </a:pPr>
              <a:r>
                <a:t>toStack</a:t>
              </a:r>
            </a:p>
            <a:p>
              <a:pPr>
                <a:defRPr sz="1600"/>
              </a:pPr>
              <a:r>
                <a:t>toString</a:t>
              </a:r>
            </a:p>
          </p:txBody>
        </p:sp>
        <p:sp>
          <p:nvSpPr>
            <p:cNvPr id="264" name="Straight Connector 18"/>
            <p:cNvSpPr/>
            <p:nvPr/>
          </p:nvSpPr>
          <p:spPr>
            <a:xfrm>
              <a:off x="5" y="650790"/>
              <a:ext cx="1968755" cy="1"/>
            </a:xfrm>
            <a:prstGeom prst="line">
              <a:avLst/>
            </a:prstGeom>
            <a:solidFill>
              <a:srgbClr val="FBE5D6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71" name="Group 19"/>
          <p:cNvGrpSpPr/>
          <p:nvPr/>
        </p:nvGrpSpPr>
        <p:grpSpPr>
          <a:xfrm>
            <a:off x="9251088" y="1591524"/>
            <a:ext cx="2241723" cy="2208202"/>
            <a:chOff x="0" y="-1"/>
            <a:chExt cx="2241722" cy="2208201"/>
          </a:xfrm>
        </p:grpSpPr>
        <p:grpSp>
          <p:nvGrpSpPr>
            <p:cNvPr id="268" name="Rectangle 20"/>
            <p:cNvGrpSpPr/>
            <p:nvPr/>
          </p:nvGrpSpPr>
          <p:grpSpPr>
            <a:xfrm>
              <a:off x="1" y="-1"/>
              <a:ext cx="2241721" cy="650793"/>
              <a:chOff x="-1" y="-1"/>
              <a:chExt cx="2241720" cy="650792"/>
            </a:xfrm>
          </p:grpSpPr>
          <p:sp>
            <p:nvSpPr>
              <p:cNvPr id="266" name="Rectangle"/>
              <p:cNvSpPr/>
              <p:nvPr/>
            </p:nvSpPr>
            <p:spPr>
              <a:xfrm>
                <a:off x="-1" y="-1"/>
                <a:ext cx="2241720" cy="650792"/>
              </a:xfrm>
              <a:prstGeom prst="rect">
                <a:avLst/>
              </a:prstGeom>
              <a:solidFill>
                <a:srgbClr val="DAE3F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67" name="filter"/>
              <p:cNvSpPr txBox="1"/>
              <p:nvPr/>
            </p:nvSpPr>
            <p:spPr>
              <a:xfrm>
                <a:off x="-1" y="33010"/>
                <a:ext cx="2241720" cy="5847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/>
                </a:lvl1pPr>
              </a:lstStyle>
              <a:p>
                <a:r>
                  <a:rPr dirty="0"/>
                  <a:t>filter</a:t>
                </a:r>
                <a:r>
                  <a:rPr lang="en-US" dirty="0"/>
                  <a:t>ing</a:t>
                </a:r>
                <a:endParaRPr dirty="0"/>
              </a:p>
            </p:txBody>
          </p:sp>
        </p:grpSp>
        <p:sp>
          <p:nvSpPr>
            <p:cNvPr id="269" name="Rectangle 21"/>
            <p:cNvSpPr/>
            <p:nvPr/>
          </p:nvSpPr>
          <p:spPr>
            <a:xfrm>
              <a:off x="0" y="668959"/>
              <a:ext cx="2241719" cy="1539241"/>
            </a:xfrm>
            <a:prstGeom prst="rect">
              <a:avLst/>
            </a:prstGeom>
            <a:solidFill>
              <a:srgbClr val="DAE3F3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/>
              </a:pPr>
              <a:r>
                <a:t>select</a:t>
              </a:r>
              <a:r>
                <a:rPr b="1">
                  <a:solidFill>
                    <a:srgbClr val="0066FF"/>
                  </a:solidFill>
                </a:rPr>
                <a:t>[With]</a:t>
              </a:r>
            </a:p>
            <a:p>
              <a:pPr>
                <a:defRPr sz="1600"/>
              </a:pPr>
              <a:r>
                <a:t>selectByOccurrences</a:t>
              </a:r>
            </a:p>
            <a:p>
              <a:pPr>
                <a:defRPr sz="1600"/>
              </a:pPr>
              <a:r>
                <a:t>selectInstancesOf</a:t>
              </a:r>
            </a:p>
            <a:p>
              <a:pPr>
                <a:defRPr sz="1600"/>
              </a:pPr>
              <a:r>
                <a:t>reject</a:t>
              </a:r>
              <a:r>
                <a:rPr b="1">
                  <a:solidFill>
                    <a:srgbClr val="0066FF"/>
                  </a:solidFill>
                </a:rPr>
                <a:t>[With]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/>
              </a:pPr>
              <a:r>
                <a:t>partition</a:t>
              </a:r>
              <a:r>
                <a:rPr b="1">
                  <a:solidFill>
                    <a:srgbClr val="0066FF"/>
                  </a:solidFill>
                </a:rPr>
                <a:t>[With]</a:t>
              </a:r>
            </a:p>
            <a:p>
              <a:pPr>
                <a:defRPr sz="1600"/>
              </a:pPr>
              <a:r>
                <a:t>partitionWhile</a:t>
              </a:r>
            </a:p>
          </p:txBody>
        </p:sp>
        <p:sp>
          <p:nvSpPr>
            <p:cNvPr id="270" name="Straight Connector 22"/>
            <p:cNvSpPr/>
            <p:nvPr/>
          </p:nvSpPr>
          <p:spPr>
            <a:xfrm>
              <a:off x="1" y="650790"/>
              <a:ext cx="2241719" cy="1"/>
            </a:xfrm>
            <a:prstGeom prst="line">
              <a:avLst/>
            </a:prstGeom>
            <a:solidFill>
              <a:srgbClr val="DAE3F3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77" name="Group 28"/>
          <p:cNvGrpSpPr/>
          <p:nvPr/>
        </p:nvGrpSpPr>
        <p:grpSpPr>
          <a:xfrm>
            <a:off x="8927706" y="4369181"/>
            <a:ext cx="2028576" cy="1980259"/>
            <a:chOff x="0" y="-1"/>
            <a:chExt cx="2028574" cy="1980258"/>
          </a:xfrm>
        </p:grpSpPr>
        <p:grpSp>
          <p:nvGrpSpPr>
            <p:cNvPr id="274" name="Rectangle 29"/>
            <p:cNvGrpSpPr/>
            <p:nvPr/>
          </p:nvGrpSpPr>
          <p:grpSpPr>
            <a:xfrm>
              <a:off x="2" y="-1"/>
              <a:ext cx="2028572" cy="650793"/>
              <a:chOff x="-1" y="-1"/>
              <a:chExt cx="2028571" cy="650792"/>
            </a:xfrm>
          </p:grpSpPr>
          <p:sp>
            <p:nvSpPr>
              <p:cNvPr id="272" name="Rectangle"/>
              <p:cNvSpPr/>
              <p:nvPr/>
            </p:nvSpPr>
            <p:spPr>
              <a:xfrm>
                <a:off x="-1" y="-1"/>
                <a:ext cx="2028571" cy="650792"/>
              </a:xfrm>
              <a:prstGeom prst="rect">
                <a:avLst/>
              </a:prstGeom>
              <a:solidFill>
                <a:srgbClr val="FFF1E1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73" name="test"/>
              <p:cNvSpPr txBox="1"/>
              <p:nvPr/>
            </p:nvSpPr>
            <p:spPr>
              <a:xfrm>
                <a:off x="-1" y="33010"/>
                <a:ext cx="2028571" cy="5847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/>
                </a:lvl1pPr>
              </a:lstStyle>
              <a:p>
                <a:r>
                  <a:rPr dirty="0"/>
                  <a:t>test</a:t>
                </a:r>
                <a:r>
                  <a:rPr lang="en-US" dirty="0"/>
                  <a:t>ing</a:t>
                </a:r>
                <a:endParaRPr dirty="0"/>
              </a:p>
            </p:txBody>
          </p:sp>
        </p:grpSp>
        <p:sp>
          <p:nvSpPr>
            <p:cNvPr id="275" name="Rectangle 30"/>
            <p:cNvSpPr/>
            <p:nvPr/>
          </p:nvSpPr>
          <p:spPr>
            <a:xfrm>
              <a:off x="0" y="669616"/>
              <a:ext cx="2028570" cy="1310641"/>
            </a:xfrm>
            <a:prstGeom prst="rect">
              <a:avLst/>
            </a:prstGeom>
            <a:solidFill>
              <a:srgbClr val="FFF1E1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/>
              </a:pPr>
              <a:r>
                <a:t>allSatisfy</a:t>
              </a:r>
              <a:r>
                <a:rPr b="1">
                  <a:solidFill>
                    <a:srgbClr val="0066FF"/>
                  </a:solidFill>
                </a:rPr>
                <a:t>[With]</a:t>
              </a:r>
            </a:p>
            <a:p>
              <a:pPr>
                <a:defRPr sz="1600"/>
              </a:pPr>
              <a:r>
                <a:t>anySatisfy</a:t>
              </a:r>
              <a:r>
                <a:rPr b="1">
                  <a:solidFill>
                    <a:srgbClr val="0066FF"/>
                  </a:solidFill>
                </a:rPr>
                <a:t>[With]</a:t>
              </a:r>
            </a:p>
            <a:p>
              <a:pPr>
                <a:defRPr sz="1600"/>
              </a:pPr>
              <a:r>
                <a:t>noneSatisfy</a:t>
              </a:r>
              <a:r>
                <a:rPr b="1">
                  <a:solidFill>
                    <a:srgbClr val="0066FF"/>
                  </a:solidFill>
                </a:rPr>
                <a:t>[With]</a:t>
              </a:r>
            </a:p>
            <a:p>
              <a:pPr>
                <a:defRPr sz="1600"/>
              </a:pPr>
              <a:r>
                <a:t>notEmpty</a:t>
              </a:r>
            </a:p>
            <a:p>
              <a:pPr>
                <a:defRPr sz="1600"/>
              </a:pPr>
              <a:r>
                <a:t>isEmpty</a:t>
              </a:r>
            </a:p>
          </p:txBody>
        </p:sp>
        <p:sp>
          <p:nvSpPr>
            <p:cNvPr id="276" name="Straight Connector 31"/>
            <p:cNvSpPr/>
            <p:nvPr/>
          </p:nvSpPr>
          <p:spPr>
            <a:xfrm>
              <a:off x="3" y="650790"/>
              <a:ext cx="2028570" cy="1"/>
            </a:xfrm>
            <a:prstGeom prst="line">
              <a:avLst/>
            </a:prstGeom>
            <a:solidFill>
              <a:srgbClr val="FFF1E1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83" name="Group 32"/>
          <p:cNvGrpSpPr/>
          <p:nvPr/>
        </p:nvGrpSpPr>
        <p:grpSpPr>
          <a:xfrm>
            <a:off x="2378424" y="4586860"/>
            <a:ext cx="2214038" cy="1967832"/>
            <a:chOff x="0" y="-1"/>
            <a:chExt cx="2214037" cy="1967830"/>
          </a:xfrm>
        </p:grpSpPr>
        <p:grpSp>
          <p:nvGrpSpPr>
            <p:cNvPr id="280" name="Rectangle 33"/>
            <p:cNvGrpSpPr/>
            <p:nvPr/>
          </p:nvGrpSpPr>
          <p:grpSpPr>
            <a:xfrm>
              <a:off x="1" y="-1"/>
              <a:ext cx="2214036" cy="650793"/>
              <a:chOff x="-1" y="-1"/>
              <a:chExt cx="2214035" cy="650792"/>
            </a:xfrm>
          </p:grpSpPr>
          <p:sp>
            <p:nvSpPr>
              <p:cNvPr id="278" name="Rectangle"/>
              <p:cNvSpPr/>
              <p:nvPr/>
            </p:nvSpPr>
            <p:spPr>
              <a:xfrm>
                <a:off x="-1" y="-1"/>
                <a:ext cx="2214035" cy="650792"/>
              </a:xfrm>
              <a:prstGeom prst="rect">
                <a:avLst/>
              </a:prstGeom>
              <a:solidFill>
                <a:srgbClr val="FFF2CC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79" name="find"/>
              <p:cNvSpPr txBox="1"/>
              <p:nvPr/>
            </p:nvSpPr>
            <p:spPr>
              <a:xfrm>
                <a:off x="-1" y="33010"/>
                <a:ext cx="2214035" cy="5847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/>
                </a:lvl1pPr>
              </a:lstStyle>
              <a:p>
                <a:r>
                  <a:rPr dirty="0"/>
                  <a:t>find</a:t>
                </a:r>
                <a:r>
                  <a:rPr lang="en-US" dirty="0"/>
                  <a:t>ing</a:t>
                </a:r>
                <a:endParaRPr dirty="0"/>
              </a:p>
            </p:txBody>
          </p:sp>
        </p:grpSp>
        <p:sp>
          <p:nvSpPr>
            <p:cNvPr id="281" name="Rectangle 34"/>
            <p:cNvSpPr/>
            <p:nvPr/>
          </p:nvSpPr>
          <p:spPr>
            <a:xfrm>
              <a:off x="0" y="657188"/>
              <a:ext cx="2214034" cy="1310641"/>
            </a:xfrm>
            <a:prstGeom prst="rect">
              <a:avLst/>
            </a:prstGeom>
            <a:solidFill>
              <a:srgbClr val="FFF2CC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/>
              </a:pPr>
              <a:r>
                <a:t>detect</a:t>
              </a:r>
              <a:r>
                <a:rPr b="1">
                  <a:solidFill>
                    <a:srgbClr val="0066FF"/>
                  </a:solidFill>
                </a:rPr>
                <a:t>[With]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/>
              </a:pPr>
              <a:r>
                <a:t>detect</a:t>
              </a:r>
              <a:r>
                <a:rPr b="1">
                  <a:solidFill>
                    <a:srgbClr val="0066FF"/>
                  </a:solidFill>
                </a:rPr>
                <a:t>[With]</a:t>
              </a:r>
              <a:r>
                <a:t>IfNone</a:t>
              </a:r>
            </a:p>
            <a:p>
              <a:pPr>
                <a:defRPr sz="1600"/>
              </a:pPr>
              <a:r>
                <a:t>detect</a:t>
              </a:r>
              <a:r>
                <a:rPr b="1">
                  <a:solidFill>
                    <a:srgbClr val="0066FF"/>
                  </a:solidFill>
                </a:rPr>
                <a:t>[With]</a:t>
              </a:r>
              <a:r>
                <a:t>Optional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/>
              </a:pPr>
              <a:r>
                <a:t>max</a:t>
              </a:r>
              <a:r>
                <a:rPr b="1">
                  <a:solidFill>
                    <a:srgbClr val="0066FF"/>
                  </a:solidFill>
                </a:rPr>
                <a:t>[By]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/>
              </a:pPr>
              <a:r>
                <a:t>min</a:t>
              </a:r>
              <a:r>
                <a:rPr b="1">
                  <a:solidFill>
                    <a:srgbClr val="0066FF"/>
                  </a:solidFill>
                </a:rPr>
                <a:t>[By]</a:t>
              </a:r>
            </a:p>
          </p:txBody>
        </p:sp>
        <p:sp>
          <p:nvSpPr>
            <p:cNvPr id="282" name="Straight Connector 35"/>
            <p:cNvSpPr/>
            <p:nvPr/>
          </p:nvSpPr>
          <p:spPr>
            <a:xfrm>
              <a:off x="0" y="650790"/>
              <a:ext cx="2214034" cy="1"/>
            </a:xfrm>
            <a:prstGeom prst="line">
              <a:avLst/>
            </a:prstGeom>
            <a:solidFill>
              <a:srgbClr val="FFF2CC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89" name="Group 24"/>
          <p:cNvGrpSpPr/>
          <p:nvPr/>
        </p:nvGrpSpPr>
        <p:grpSpPr>
          <a:xfrm>
            <a:off x="3848574" y="2493103"/>
            <a:ext cx="3089568" cy="2478793"/>
            <a:chOff x="0" y="-1"/>
            <a:chExt cx="3089567" cy="2478791"/>
          </a:xfrm>
        </p:grpSpPr>
        <p:grpSp>
          <p:nvGrpSpPr>
            <p:cNvPr id="286" name="Rectangle 25"/>
            <p:cNvGrpSpPr/>
            <p:nvPr/>
          </p:nvGrpSpPr>
          <p:grpSpPr>
            <a:xfrm>
              <a:off x="3" y="-1"/>
              <a:ext cx="3089564" cy="650793"/>
              <a:chOff x="0" y="-1"/>
              <a:chExt cx="3089562" cy="650792"/>
            </a:xfrm>
          </p:grpSpPr>
          <p:sp>
            <p:nvSpPr>
              <p:cNvPr id="284" name="Rectangle"/>
              <p:cNvSpPr/>
              <p:nvPr/>
            </p:nvSpPr>
            <p:spPr>
              <a:xfrm>
                <a:off x="0" y="-1"/>
                <a:ext cx="3089562" cy="650792"/>
              </a:xfrm>
              <a:prstGeom prst="rect">
                <a:avLst/>
              </a:prstGeom>
              <a:solidFill>
                <a:srgbClr val="E2F0D9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85" name="group"/>
              <p:cNvSpPr txBox="1"/>
              <p:nvPr/>
            </p:nvSpPr>
            <p:spPr>
              <a:xfrm>
                <a:off x="0" y="33010"/>
                <a:ext cx="3089562" cy="5847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/>
                </a:lvl1pPr>
              </a:lstStyle>
              <a:p>
                <a:r>
                  <a:rPr lang="en-US" dirty="0"/>
                  <a:t>g</a:t>
                </a:r>
                <a:r>
                  <a:rPr dirty="0"/>
                  <a:t>roup</a:t>
                </a:r>
                <a:r>
                  <a:rPr lang="en-US" dirty="0"/>
                  <a:t>ing</a:t>
                </a:r>
                <a:endParaRPr dirty="0"/>
              </a:p>
            </p:txBody>
          </p:sp>
        </p:grpSp>
        <p:sp>
          <p:nvSpPr>
            <p:cNvPr id="287" name="Rectangle 26"/>
            <p:cNvSpPr/>
            <p:nvPr/>
          </p:nvSpPr>
          <p:spPr>
            <a:xfrm>
              <a:off x="0" y="685549"/>
              <a:ext cx="3089562" cy="1793241"/>
            </a:xfrm>
            <a:prstGeom prst="rect">
              <a:avLst/>
            </a:prstGeom>
            <a:solidFill>
              <a:srgbClr val="E2F0D9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/>
              </a:pPr>
              <a:r>
                <a:t>groupBy</a:t>
              </a:r>
            </a:p>
            <a:p>
              <a:pPr>
                <a:defRPr sz="1600"/>
              </a:pPr>
              <a:r>
                <a:t>groupByEach</a:t>
              </a:r>
            </a:p>
            <a:p>
              <a:pPr>
                <a:defRPr sz="1600"/>
              </a:pPr>
              <a:r>
                <a:t>groupByUniqueKey</a:t>
              </a:r>
            </a:p>
            <a:p>
              <a:pPr>
                <a:defRPr sz="1600"/>
              </a:pPr>
              <a:r>
                <a:t>sumBy</a:t>
              </a:r>
              <a:r>
                <a:rPr b="1">
                  <a:solidFill>
                    <a:srgbClr val="0066FF"/>
                  </a:solidFill>
                </a:rPr>
                <a:t>[Double,Float,Int,Long]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/>
              </a:pPr>
              <a:r>
                <a:t>sumOf</a:t>
              </a:r>
              <a:r>
                <a:rPr b="1">
                  <a:solidFill>
                    <a:srgbClr val="0066FF"/>
                  </a:solidFill>
                </a:rPr>
                <a:t>[Double,Float,Int,Long]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/>
              </a:pPr>
              <a:r>
                <a:t>aggregateBy</a:t>
              </a:r>
            </a:p>
            <a:p>
              <a:pPr>
                <a:defRPr sz="1600"/>
              </a:pPr>
              <a:r>
                <a:t>aggregateInPlaceBy</a:t>
              </a:r>
            </a:p>
          </p:txBody>
        </p:sp>
        <p:sp>
          <p:nvSpPr>
            <p:cNvPr id="288" name="Straight Connector 27"/>
            <p:cNvSpPr/>
            <p:nvPr/>
          </p:nvSpPr>
          <p:spPr>
            <a:xfrm>
              <a:off x="0" y="650790"/>
              <a:ext cx="3089562" cy="1"/>
            </a:xfrm>
            <a:prstGeom prst="line">
              <a:avLst/>
            </a:prstGeom>
            <a:solidFill>
              <a:srgbClr val="E2F0D9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90C5AF5-537C-A608-4161-9D0310BB86B5}"/>
              </a:ext>
            </a:extLst>
          </p:cNvPr>
          <p:cNvSpPr txBox="1"/>
          <p:nvPr/>
        </p:nvSpPr>
        <p:spPr>
          <a:xfrm>
            <a:off x="0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🐿️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B68E1-B971-53F6-9574-60867B1F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0EFB-FEBF-51F4-14C4-31463B2F5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822960"/>
          </a:xfrm>
        </p:spPr>
        <p:txBody>
          <a:bodyPr/>
          <a:lstStyle/>
          <a:p>
            <a:r>
              <a:rPr lang="en-US" dirty="0"/>
              <a:t>Simulating Method Categories in IntelliJ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541C5-0700-ACBB-5D6C-5D47E474AE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3324"/>
            <a:ext cx="7772400" cy="47087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7EEA28-248E-27BD-0AC3-AC7DB5307E67}"/>
              </a:ext>
            </a:extLst>
          </p:cNvPr>
          <p:cNvSpPr txBox="1"/>
          <p:nvPr/>
        </p:nvSpPr>
        <p:spPr>
          <a:xfrm>
            <a:off x="0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🐿️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21D37-A392-03EE-586D-5FAD9C6A6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CED0B-071D-42E7-AF1F-66B77D6AD5B3}"/>
              </a:ext>
            </a:extLst>
          </p:cNvPr>
          <p:cNvSpPr txBox="1"/>
          <p:nvPr/>
        </p:nvSpPr>
        <p:spPr>
          <a:xfrm>
            <a:off x="838200" y="1097776"/>
            <a:ext cx="4229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</a:t>
            </a:r>
            <a:r>
              <a:rPr lang="en-US" b="1" dirty="0"/>
              <a:t>Custom Code Folding Regions</a:t>
            </a:r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9A31B18-ECB7-A23A-9950-4393F056B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963" y="1060309"/>
            <a:ext cx="4587479" cy="5296041"/>
          </a:xfrm>
          <a:prstGeom prst="rect">
            <a:avLst/>
          </a:prstGeom>
          <a:ln w="25400">
            <a:solidFill>
              <a:schemeClr val="accent1"/>
            </a:solidFill>
          </a:ln>
          <a:effectLst>
            <a:softEdge rad="0"/>
          </a:effec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1A2A41-9C6A-43D2-8239-27968DE6245B}"/>
              </a:ext>
            </a:extLst>
          </p:cNvPr>
          <p:cNvCxnSpPr>
            <a:cxnSpLocks/>
          </p:cNvCxnSpPr>
          <p:nvPr/>
        </p:nvCxnSpPr>
        <p:spPr>
          <a:xfrm flipV="1">
            <a:off x="3416643" y="1334530"/>
            <a:ext cx="2910016" cy="1075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630C00-5E55-5BF6-F05F-92601C82362D}"/>
              </a:ext>
            </a:extLst>
          </p:cNvPr>
          <p:cNvCxnSpPr>
            <a:cxnSpLocks/>
          </p:cNvCxnSpPr>
          <p:nvPr/>
        </p:nvCxnSpPr>
        <p:spPr>
          <a:xfrm>
            <a:off x="3416643" y="2409568"/>
            <a:ext cx="2910016" cy="3651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773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itle 1"/>
          <p:cNvSpPr txBox="1">
            <a:spLocks noGrp="1"/>
          </p:cNvSpPr>
          <p:nvPr>
            <p:ph type="title"/>
          </p:nvPr>
        </p:nvSpPr>
        <p:spPr>
          <a:xfrm>
            <a:off x="838200" y="225379"/>
            <a:ext cx="10515600" cy="792053"/>
          </a:xfrm>
          <a:prstGeom prst="rect">
            <a:avLst/>
          </a:prstGeom>
        </p:spPr>
        <p:txBody>
          <a:bodyPr/>
          <a:lstStyle/>
          <a:p>
            <a:r>
              <a:t>Let’s Do It!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7B5161-E119-F229-D991-9E4CD4DE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51F16C-4618-1254-5A93-A7469A69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</a:rPr>
              <a:t>Memory: Methodology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69B52A-26C4-EE1A-2EFE-9E0E2642D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Aptos" panose="020B0004020202020204" pitchFamily="34" charset="0"/>
              </a:rPr>
              <a:t>Java Object Layout (JOL) - </a:t>
            </a:r>
            <a:r>
              <a:rPr lang="en-US" u="sng" dirty="0">
                <a:latin typeface="Aptos" panose="020B0004020202020204" pitchFamily="34" charset="0"/>
                <a:hlinkClick r:id="rId2"/>
              </a:rPr>
              <a:t>OpenJDK Code Tools Project</a:t>
            </a:r>
            <a:br>
              <a:rPr lang="en-US" u="sng" dirty="0">
                <a:latin typeface="Aptos" panose="020B0004020202020204" pitchFamily="34" charset="0"/>
              </a:rPr>
            </a:br>
            <a:r>
              <a:rPr lang="en-US" sz="2200" i="1" dirty="0">
                <a:latin typeface="Aptos" panose="020B0004020202020204" pitchFamily="34" charset="0"/>
              </a:rPr>
              <a:t>JOL (Java Object Layout) is the tiny toolbox to analyze object layout schemes in JVMs. JOL [is] much more accurate than other tools relying on heap dumps, specification assumptions, etc.</a:t>
            </a:r>
            <a:endParaRPr lang="en-US" sz="2200" dirty="0">
              <a:latin typeface="Aptos" panose="020B0004020202020204" pitchFamily="34" charset="0"/>
            </a:endParaRPr>
          </a:p>
          <a:p>
            <a:pPr marL="1005839" lvl="2" indent="0">
              <a:lnSpc>
                <a:spcPts val="1500"/>
              </a:lnSpc>
              <a:buNone/>
            </a:pPr>
            <a:endParaRPr lang="en-US" sz="1700" dirty="0">
              <a:solidFill>
                <a:schemeClr val="accent1">
                  <a:lumMod val="50000"/>
                </a:schemeClr>
              </a:solidFill>
              <a:latin typeface="JetBrains Mono Medium" panose="02000009000000000000" pitchFamily="49" charset="0"/>
              <a:ea typeface="JetBrains Mono Medium" panose="02000009000000000000" pitchFamily="49" charset="0"/>
              <a:cs typeface="JetBrains Mono Medium" panose="02000009000000000000" pitchFamily="49" charset="0"/>
            </a:endParaRPr>
          </a:p>
          <a:p>
            <a:pPr marL="548639" lvl="1" indent="0">
              <a:lnSpc>
                <a:spcPts val="1500"/>
              </a:lnSpc>
              <a:buNone/>
            </a:pP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&lt;dependency&gt;</a:t>
            </a:r>
          </a:p>
          <a:p>
            <a:pPr marL="548639" lvl="1" indent="0">
              <a:lnSpc>
                <a:spcPts val="1500"/>
              </a:lnSpc>
              <a:buNone/>
            </a:pP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    &lt;</a:t>
            </a:r>
            <a:r>
              <a:rPr lang="en-US" sz="1700" dirty="0" err="1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groupId</a:t>
            </a: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&gt;</a:t>
            </a:r>
            <a:r>
              <a:rPr lang="en-US" sz="1700" dirty="0" err="1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org.openjdk.jol</a:t>
            </a: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&lt;/</a:t>
            </a:r>
            <a:r>
              <a:rPr lang="en-US" sz="1700" dirty="0" err="1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groupId</a:t>
            </a: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&gt;</a:t>
            </a:r>
          </a:p>
          <a:p>
            <a:pPr marL="548639" lvl="1" indent="0">
              <a:lnSpc>
                <a:spcPts val="1500"/>
              </a:lnSpc>
              <a:buNone/>
            </a:pP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    &lt;</a:t>
            </a:r>
            <a:r>
              <a:rPr lang="en-US" sz="1700" dirty="0" err="1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artifactId</a:t>
            </a: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&gt;jol-core&lt;/</a:t>
            </a:r>
            <a:r>
              <a:rPr lang="en-US" sz="1700" dirty="0" err="1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artifactId</a:t>
            </a: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&gt;</a:t>
            </a:r>
          </a:p>
          <a:p>
            <a:pPr marL="548639" lvl="1" indent="0">
              <a:lnSpc>
                <a:spcPts val="1500"/>
              </a:lnSpc>
              <a:buNone/>
            </a:pP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    &lt;version&gt;0.17&lt;/version&gt;</a:t>
            </a:r>
          </a:p>
          <a:p>
            <a:pPr marL="548639" lvl="1" indent="0">
              <a:lnSpc>
                <a:spcPts val="1500"/>
              </a:lnSpc>
              <a:buNone/>
            </a:pP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JetBrains Mono Medium" panose="02000009000000000000" pitchFamily="49" charset="0"/>
                <a:ea typeface="JetBrains Mono Medium" panose="02000009000000000000" pitchFamily="49" charset="0"/>
                <a:cs typeface="JetBrains Mono Medium" panose="02000009000000000000" pitchFamily="49" charset="0"/>
              </a:rPr>
              <a:t>&lt;/dependency&gt;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Aptos" panose="020B0004020202020204" pitchFamily="34" charset="0"/>
              </a:rPr>
              <a:t>Further reading</a:t>
            </a:r>
          </a:p>
          <a:p>
            <a:pPr lvl="1">
              <a:lnSpc>
                <a:spcPct val="120000"/>
              </a:lnSpc>
            </a:pPr>
            <a:r>
              <a:rPr lang="en-US" dirty="0" err="1">
                <a:latin typeface="Aptos" panose="020B0004020202020204" pitchFamily="34" charset="0"/>
              </a:rPr>
              <a:t>Baeldung</a:t>
            </a:r>
            <a:r>
              <a:rPr lang="en-US" dirty="0">
                <a:latin typeface="Aptos" panose="020B0004020202020204" pitchFamily="34" charset="0"/>
              </a:rPr>
              <a:t>: </a:t>
            </a:r>
            <a:r>
              <a:rPr lang="en-US" u="sng" dirty="0">
                <a:latin typeface="Aptos" panose="020B0004020202020204" pitchFamily="34" charset="0"/>
                <a:hlinkClick r:id="rId3"/>
              </a:rPr>
              <a:t>Memory Layout of Objects in Java</a:t>
            </a:r>
            <a:endParaRPr lang="en-US" dirty="0">
              <a:latin typeface="Aptos" panose="020B00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dirty="0" err="1">
                <a:latin typeface="Aptos" panose="020B0004020202020204" pitchFamily="34" charset="0"/>
              </a:rPr>
              <a:t>StackOverflow</a:t>
            </a:r>
            <a:r>
              <a:rPr lang="en-US" dirty="0">
                <a:latin typeface="Aptos" panose="020B0004020202020204" pitchFamily="34" charset="0"/>
              </a:rPr>
              <a:t>: </a:t>
            </a:r>
          </a:p>
          <a:p>
            <a:pPr lvl="2">
              <a:lnSpc>
                <a:spcPct val="120000"/>
              </a:lnSpc>
            </a:pPr>
            <a:r>
              <a:rPr lang="en-US" u="sng" dirty="0">
                <a:latin typeface="Aptos" panose="020B0004020202020204" pitchFamily="34" charset="0"/>
                <a:hlinkClick r:id="rId4"/>
              </a:rPr>
              <a:t>Does Java Object Layout work with Java Records?</a:t>
            </a:r>
            <a:endParaRPr lang="en-US" u="sng" dirty="0">
              <a:latin typeface="Aptos" panose="020B0004020202020204" pitchFamily="34" charset="0"/>
            </a:endParaRPr>
          </a:p>
          <a:p>
            <a:pPr lvl="2">
              <a:lnSpc>
                <a:spcPct val="120000"/>
              </a:lnSpc>
            </a:pPr>
            <a:r>
              <a:rPr lang="en-US" dirty="0">
                <a:latin typeface="Aptos" panose="020B0004020202020204" pitchFamily="34" charset="0"/>
                <a:hlinkClick r:id="rId5"/>
              </a:rPr>
              <a:t>Does Java Object Layout (JOL) work with Java 25 and Compact Object Headers enabled?</a:t>
            </a:r>
            <a:endParaRPr lang="en-US" u="sng" dirty="0">
              <a:latin typeface="Aptos" panose="020B0004020202020204" pitchFamily="34" charset="0"/>
            </a:endParaRP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A74B74-31EE-CF78-2B4F-FAF4D7D31539}"/>
              </a:ext>
            </a:extLst>
          </p:cNvPr>
          <p:cNvSpPr txBox="1"/>
          <p:nvPr/>
        </p:nvSpPr>
        <p:spPr>
          <a:xfrm>
            <a:off x="0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🐿️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510F7F-3071-9330-399E-5EF79809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08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F4B80A-B43E-B858-17CD-6AC98AC2B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Memory: Word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Count 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20DC2-21BE-4AD1-9CAC-C0FC0352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13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94C2B61-954C-6F4D-53C7-F5A60D4BA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28875" y="1544955"/>
            <a:ext cx="7334250" cy="4581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D36F6E-5CE7-B6E0-80BD-E758EE975269}"/>
              </a:ext>
            </a:extLst>
          </p:cNvPr>
          <p:cNvSpPr txBox="1"/>
          <p:nvPr/>
        </p:nvSpPr>
        <p:spPr>
          <a:xfrm>
            <a:off x="0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🐿️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02888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0AB49-38AB-57FF-50F3-2616A8B2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822960"/>
          </a:xfrm>
        </p:spPr>
        <p:txBody>
          <a:bodyPr/>
          <a:lstStyle/>
          <a:p>
            <a:r>
              <a:rPr lang="en-US" dirty="0"/>
              <a:t>Memory: Generation Set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1570142-83C8-8955-DE0C-42FAD9297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3637" y="1554480"/>
            <a:ext cx="7324725" cy="4591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86E335-E445-274E-68AC-FEA3C11A6B3C}"/>
              </a:ext>
            </a:extLst>
          </p:cNvPr>
          <p:cNvSpPr txBox="1"/>
          <p:nvPr/>
        </p:nvSpPr>
        <p:spPr>
          <a:xfrm>
            <a:off x="0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🐿️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95F657-398C-1CA6-04C0-D750849E8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11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6733F-81CD-789E-E21F-6427BC8F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0E529D-352F-4F29-3A52-991E9F763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822960"/>
          </a:xfrm>
        </p:spPr>
        <p:txBody>
          <a:bodyPr/>
          <a:lstStyle/>
          <a:p>
            <a:r>
              <a:rPr lang="en-US" dirty="0"/>
              <a:t>Memory: Year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Generation Map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77096C1-5837-DBF1-1FD1-00BBD813A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28875" y="1554480"/>
            <a:ext cx="7334250" cy="45815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DA5404-5710-7A23-A097-7DB2509E272C}"/>
              </a:ext>
            </a:extLst>
          </p:cNvPr>
          <p:cNvSpPr txBox="1"/>
          <p:nvPr/>
        </p:nvSpPr>
        <p:spPr>
          <a:xfrm>
            <a:off x="0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🐿️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A0EA9B-391A-B149-4F4D-67ED15C5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92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itle 1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10515600" cy="822960"/>
          </a:xfrm>
        </p:spPr>
        <p:txBody>
          <a:bodyPr/>
          <a:lstStyle/>
          <a:p>
            <a:r>
              <a:rPr lang="en-US"/>
              <a:t>Memory Usage (Overhead in KB, Count)</a:t>
            </a:r>
          </a:p>
        </p:txBody>
      </p:sp>
      <p:pic>
        <p:nvPicPr>
          <p:cNvPr id="300" name="Picture 23" descr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796" y="1113822"/>
            <a:ext cx="4584591" cy="2755632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25" descr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796" y="3965842"/>
            <a:ext cx="4584590" cy="2755632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312" y="3965842"/>
            <a:ext cx="4584591" cy="2755632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4" descr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312" y="1113820"/>
            <a:ext cx="4584590" cy="2755632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D84A90-5A65-E940-BC09-C941C0C90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D392D-3C0F-3CB5-415F-84EBA8E0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0791-7C6D-65B9-E5F6-B92BE2FBC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822960"/>
          </a:xfrm>
        </p:spPr>
        <p:txBody>
          <a:bodyPr>
            <a:normAutofit/>
          </a:bodyPr>
          <a:lstStyle/>
          <a:p>
            <a:r>
              <a:rPr lang="en-US" dirty="0"/>
              <a:t>Eclipse Collections – What’s in It for Me?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7FB0F8-F674-4047-BD1B-B60D0B98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310470"/>
              </p:ext>
            </p:extLst>
          </p:nvPr>
        </p:nvGraphicFramePr>
        <p:xfrm>
          <a:off x="1844040" y="1232054"/>
          <a:ext cx="8503920" cy="515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val="7621808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49324648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84423927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62857968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82180793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>
                          <a:latin typeface="+mn-lt"/>
                        </a:rPr>
                        <a:t>Features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B="13716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i="0" dirty="0">
                          <a:latin typeface="+mn-lt"/>
                        </a:rPr>
                        <a:t>Productivity </a:t>
                      </a:r>
                    </a:p>
                  </a:txBody>
                  <a:tcPr marB="137160" vert="vert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i="0" dirty="0">
                          <a:latin typeface="+mn-lt"/>
                        </a:rPr>
                        <a:t>Performance </a:t>
                      </a:r>
                    </a:p>
                  </a:txBody>
                  <a:tcPr marB="137160" vert="vert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n-lt"/>
                        </a:rPr>
                        <a:t>Thread Safety </a:t>
                      </a:r>
                    </a:p>
                  </a:txBody>
                  <a:tcPr marB="137160" vert="vert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B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i="0" dirty="0">
                          <a:latin typeface="+mn-lt"/>
                        </a:rPr>
                        <a:t>Type Safety  </a:t>
                      </a:r>
                    </a:p>
                  </a:txBody>
                  <a:tcPr marB="137160" vert="vert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254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Univers" panose="020B0503020202020204" pitchFamily="34" charset="0"/>
                        </a:rPr>
                        <a:t>Rich functional API with good symmetry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80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Memory Efficiency </a:t>
                      </a:r>
                      <a:endParaRPr lang="en-US" sz="18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D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84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Optimized Eager API </a:t>
                      </a:r>
                      <a:endParaRPr lang="en-US" sz="18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D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59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Primitive Collections </a:t>
                      </a:r>
                      <a:endParaRPr lang="en-US" sz="18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D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285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Immutable Collections </a:t>
                      </a:r>
                      <a:endParaRPr lang="en-US" sz="18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D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11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Lazy and Parallel Lazy API </a:t>
                      </a:r>
                      <a:endParaRPr lang="en-US" sz="18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D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62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Multimap, Bag, </a:t>
                      </a:r>
                      <a:r>
                        <a:rPr lang="en-US" sz="1800" dirty="0" err="1"/>
                        <a:t>BiMap</a:t>
                      </a:r>
                      <a:r>
                        <a:rPr lang="en-US" sz="1800" dirty="0"/>
                        <a:t>, Pool, Interval </a:t>
                      </a:r>
                      <a:endParaRPr lang="en-US" sz="18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D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86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Hashing Strategy Data Structures </a:t>
                      </a:r>
                      <a:endParaRPr lang="en-US" sz="18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55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Multi-reader Data Structures </a:t>
                      </a:r>
                      <a:endParaRPr lang="en-US" sz="18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48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Mutable and Immutable Collection Factories </a:t>
                      </a:r>
                      <a:endParaRPr lang="en-US" sz="1800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Univers" panose="020B0503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1841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31A5B18-EC76-0D07-1117-7770FDB14336}"/>
              </a:ext>
            </a:extLst>
          </p:cNvPr>
          <p:cNvSpPr txBox="1"/>
          <p:nvPr/>
        </p:nvSpPr>
        <p:spPr>
          <a:xfrm>
            <a:off x="3128" y="612542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🦤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D9B3A8-ED57-3875-16AF-F438047A6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79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A412-CE6A-77D7-4649-3AB93838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Example: DataFrame-EC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755EC-F5A3-A627-4AE2-5F65B9246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922"/>
            <a:ext cx="10515600" cy="518835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…built on the solid foundation of Eclipse Collections types</a:t>
            </a: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1D391CA-EB22-11A3-49E3-605B69091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2296" y="1831247"/>
            <a:ext cx="4581525" cy="335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495054-12D5-B6D0-7BE9-CFCC22A911B4}"/>
              </a:ext>
            </a:extLst>
          </p:cNvPr>
          <p:cNvSpPr txBox="1"/>
          <p:nvPr/>
        </p:nvSpPr>
        <p:spPr>
          <a:xfrm>
            <a:off x="3128" y="612542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🦤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ED0E4-CD55-8A36-F2B4-85A0657F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18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93BE54-88DE-F5C2-4AB6-A5B9C57D023A}"/>
              </a:ext>
            </a:extLst>
          </p:cNvPr>
          <p:cNvSpPr txBox="1"/>
          <p:nvPr/>
        </p:nvSpPr>
        <p:spPr>
          <a:xfrm>
            <a:off x="2333675" y="6340863"/>
            <a:ext cx="6171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https://github.com/vmzakharov/dataframe-ec</a:t>
            </a:r>
          </a:p>
        </p:txBody>
      </p:sp>
    </p:spTree>
    <p:extLst>
      <p:ext uri="{BB962C8B-B14F-4D97-AF65-F5344CB8AC3E}">
        <p14:creationId xmlns:p14="http://schemas.microsoft.com/office/powerpoint/2010/main" val="2869990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A412-CE6A-77D7-4649-3AB93838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Example: DataFrame-EC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755EC-F5A3-A627-4AE2-5F65B9246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922"/>
            <a:ext cx="10515600" cy="518835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…the foundation, and walls, and joints, and studs, and…</a:t>
            </a: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93" name="Graphic 92">
            <a:extLst>
              <a:ext uri="{FF2B5EF4-FFF2-40B4-BE49-F238E27FC236}">
                <a16:creationId xmlns:a16="http://schemas.microsoft.com/office/drawing/2014/main" id="{1DF8A637-887F-4002-15CA-0756C0A3E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2" y="1807371"/>
            <a:ext cx="11115675" cy="4314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0CBBDB-6F49-592D-E4F0-BF5B368D196F}"/>
              </a:ext>
            </a:extLst>
          </p:cNvPr>
          <p:cNvSpPr txBox="1"/>
          <p:nvPr/>
        </p:nvSpPr>
        <p:spPr>
          <a:xfrm>
            <a:off x="3128" y="612542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🦤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18C11-BEA5-FBE4-773D-FB6C113BA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7FBB50-C5CE-FAC8-53E1-CE634C7DA12F}"/>
              </a:ext>
            </a:extLst>
          </p:cNvPr>
          <p:cNvSpPr txBox="1"/>
          <p:nvPr/>
        </p:nvSpPr>
        <p:spPr>
          <a:xfrm>
            <a:off x="2333675" y="6340863"/>
            <a:ext cx="6171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https://github.com/vmzakharov/dataframe-ec</a:t>
            </a:r>
          </a:p>
        </p:txBody>
      </p:sp>
    </p:spTree>
    <p:extLst>
      <p:ext uri="{BB962C8B-B14F-4D97-AF65-F5344CB8AC3E}">
        <p14:creationId xmlns:p14="http://schemas.microsoft.com/office/powerpoint/2010/main" val="2680959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C3F1-CC2A-F123-BDD7-5E7E9C6E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EB467-ACEC-2CB6-FD26-728501ED3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Expect more from your collections </a:t>
            </a:r>
          </a:p>
          <a:p>
            <a:r>
              <a:rPr lang="en-US" dirty="0"/>
              <a:t>Memory is an expensive resource – use it wisely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Eclipse Collections – more features with less waste</a:t>
            </a:r>
          </a:p>
          <a:p>
            <a:r>
              <a:rPr lang="en-US" dirty="0"/>
              <a:t>Intention revealing code – easy to write, easy to read!</a:t>
            </a:r>
          </a:p>
          <a:p>
            <a:r>
              <a:rPr lang="en-US" dirty="0"/>
              <a:t>Many resources available</a:t>
            </a:r>
          </a:p>
          <a:p>
            <a:pPr lvl="1"/>
            <a:r>
              <a:rPr lang="en-US" dirty="0"/>
              <a:t>Source code w/ Reference Guide in </a:t>
            </a:r>
            <a:r>
              <a:rPr lang="en-US" dirty="0" err="1"/>
              <a:t>AsciiDoc</a:t>
            </a:r>
            <a:endParaRPr lang="en-US" dirty="0"/>
          </a:p>
          <a:p>
            <a:pPr lvl="2"/>
            <a:r>
              <a:rPr lang="en-US" dirty="0">
                <a:hlinkClick r:id="rId2"/>
              </a:rPr>
              <a:t>https://github.com/eclipse-collections/eclipse-collections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Code katas </a:t>
            </a:r>
          </a:p>
          <a:p>
            <a:pPr lvl="2"/>
            <a:r>
              <a:rPr lang="en-US" dirty="0">
                <a:hlinkClick r:id="rId3"/>
              </a:rPr>
              <a:t>https://github.com/eclipse-collections/eclipse-collections-kata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Book: Eclipse Collections Categorically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A072D1-8C1B-C6A1-8390-02C3F89D9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05461">
            <a:off x="9300580" y="3661858"/>
            <a:ext cx="2113053" cy="26076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Above">
              <a:rot lat="0" lon="0" rev="0"/>
            </a:camera>
            <a:lightRig rig="threePt" dir="t"/>
          </a:scene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CEAE4B-1338-54D5-01E4-C5F93152FED3}"/>
              </a:ext>
            </a:extLst>
          </p:cNvPr>
          <p:cNvSpPr txBox="1"/>
          <p:nvPr/>
        </p:nvSpPr>
        <p:spPr>
          <a:xfrm>
            <a:off x="0" y="6126480"/>
            <a:ext cx="73152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🐿️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4ADB1-F041-31C0-CBCF-0B1C18D1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20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000AFC-9060-C264-9B3C-36DCB1F81D46}"/>
              </a:ext>
            </a:extLst>
          </p:cNvPr>
          <p:cNvGrpSpPr/>
          <p:nvPr/>
        </p:nvGrpSpPr>
        <p:grpSpPr>
          <a:xfrm>
            <a:off x="9195438" y="1051560"/>
            <a:ext cx="2158362" cy="2158362"/>
            <a:chOff x="9195438" y="1051560"/>
            <a:chExt cx="2158362" cy="21583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3350572-C203-D6AA-E140-206241D1B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95438" y="1051560"/>
              <a:ext cx="2158362" cy="215836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116E0A4-743D-7099-2DC5-34DE0044E83B}"/>
                </a:ext>
              </a:extLst>
            </p:cNvPr>
            <p:cNvSpPr/>
            <p:nvPr/>
          </p:nvSpPr>
          <p:spPr>
            <a:xfrm>
              <a:off x="9427528" y="1281694"/>
              <a:ext cx="182880" cy="182880"/>
            </a:xfrm>
            <a:prstGeom prst="rect">
              <a:avLst/>
            </a:prstGeom>
            <a:solidFill>
              <a:srgbClr val="F794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400F7D-A022-93E4-7160-1AE33D99231A}"/>
                </a:ext>
              </a:extLst>
            </p:cNvPr>
            <p:cNvSpPr/>
            <p:nvPr/>
          </p:nvSpPr>
          <p:spPr>
            <a:xfrm>
              <a:off x="10943908" y="1281694"/>
              <a:ext cx="182880" cy="182880"/>
            </a:xfrm>
            <a:prstGeom prst="rect">
              <a:avLst/>
            </a:prstGeom>
            <a:solidFill>
              <a:srgbClr val="F794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B37440-1233-BC71-5B31-05C4B68B6F0E}"/>
                </a:ext>
              </a:extLst>
            </p:cNvPr>
            <p:cNvSpPr/>
            <p:nvPr/>
          </p:nvSpPr>
          <p:spPr>
            <a:xfrm>
              <a:off x="9427528" y="2800614"/>
              <a:ext cx="182880" cy="182880"/>
            </a:xfrm>
            <a:prstGeom prst="rect">
              <a:avLst/>
            </a:prstGeom>
            <a:solidFill>
              <a:srgbClr val="F794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8079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B1840A-0A8F-15F7-2454-401F82DD6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44B8D3-5139-EEF2-C2FA-E3374121C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F35AA-5070-B51D-7492-7226CF8B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47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84DA-2B31-7C3D-32A6-CB43E195C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Eclipse Collections Set Type Hierarchy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E17414-88B9-7453-18EB-ADCFD3F2B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55D25964-79BD-1889-55AD-F66730D57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039" y="983330"/>
            <a:ext cx="9477922" cy="587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28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variety of objects&#10;&#10;AI-generated content may be incorrect.">
            <a:extLst>
              <a:ext uri="{FF2B5EF4-FFF2-40B4-BE49-F238E27FC236}">
                <a16:creationId xmlns:a16="http://schemas.microsoft.com/office/drawing/2014/main" id="{2699D11E-2037-AF6B-AED6-F6FEC6EC638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211" y="958109"/>
            <a:ext cx="7803578" cy="57212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04E03B-C10E-EF55-732F-BDDBEC4E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Non-JDK Collection Types in EC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6896D8-AAFA-A7F6-3552-C28C9D9B4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CE7D-5D74-4EC3-A871-8F42005EC53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2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1325</Words>
  <Application>Microsoft Office PowerPoint</Application>
  <PresentationFormat>Widescreen</PresentationFormat>
  <Paragraphs>402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D2CodingLigature Nerd Font</vt:lpstr>
      <vt:lpstr>Aptos</vt:lpstr>
      <vt:lpstr>Aptos Display</vt:lpstr>
      <vt:lpstr>Aptos Narrow</vt:lpstr>
      <vt:lpstr>Arial</vt:lpstr>
      <vt:lpstr>Consolas</vt:lpstr>
      <vt:lpstr>JetBrains Mono</vt:lpstr>
      <vt:lpstr>JetBrains Mono Medium</vt:lpstr>
      <vt:lpstr>Univers</vt:lpstr>
      <vt:lpstr>Wingdings</vt:lpstr>
      <vt:lpstr>Office Theme</vt:lpstr>
      <vt:lpstr>Refactoring. to  </vt:lpstr>
      <vt:lpstr>Introduction</vt:lpstr>
      <vt:lpstr>Why Refactor to EC?</vt:lpstr>
      <vt:lpstr>Any Types You Need</vt:lpstr>
      <vt:lpstr>Instantiate Them Using Factories</vt:lpstr>
      <vt:lpstr>Evolving from JDK to EC Factories and Types</vt:lpstr>
      <vt:lpstr>Evolving from JDK to EC Factories and Types</vt:lpstr>
      <vt:lpstr>Set/Stream vs. ImmutableSet</vt:lpstr>
      <vt:lpstr>Methods by Category - Highlights</vt:lpstr>
      <vt:lpstr>Simulating Method Categories in IntelliJ</vt:lpstr>
      <vt:lpstr>Let’s Do It!</vt:lpstr>
      <vt:lpstr>Memory: Methodology</vt:lpstr>
      <vt:lpstr>Memory: Word  Count Map</vt:lpstr>
      <vt:lpstr>Memory: Generation Set</vt:lpstr>
      <vt:lpstr>Memory: Year  Generation Map</vt:lpstr>
      <vt:lpstr>Memory Usage (Overhead in KB, Count)</vt:lpstr>
      <vt:lpstr>Eclipse Collections – What’s in It for Me?</vt:lpstr>
      <vt:lpstr>Example: DataFrame-EC</vt:lpstr>
      <vt:lpstr>Example: DataFrame-EC</vt:lpstr>
      <vt:lpstr>Takeaways</vt:lpstr>
      <vt:lpstr>Appendix</vt:lpstr>
      <vt:lpstr>Eclipse Collections Set Type Hierarchy</vt:lpstr>
      <vt:lpstr>Non-JDK Collection Types in 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Vladimir Zakharov</dc:creator>
  <cp:lastModifiedBy>Vladimir Zakharov</cp:lastModifiedBy>
  <cp:revision>30</cp:revision>
  <dcterms:created xsi:type="dcterms:W3CDTF">2025-09-21T17:56:41Z</dcterms:created>
  <dcterms:modified xsi:type="dcterms:W3CDTF">2025-09-30T04:31:06Z</dcterms:modified>
</cp:coreProperties>
</file>