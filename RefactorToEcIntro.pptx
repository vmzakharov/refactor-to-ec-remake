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8"/>
  </p:notesMasterIdLst>
  <p:sldIdLst>
    <p:sldId id="256" r:id="rId2"/>
    <p:sldId id="265" r:id="rId3"/>
    <p:sldId id="269" r:id="rId4"/>
    <p:sldId id="267" r:id="rId5"/>
    <p:sldId id="258" r:id="rId6"/>
    <p:sldId id="259" r:id="rId7"/>
    <p:sldId id="260" r:id="rId8"/>
    <p:sldId id="261" r:id="rId9"/>
    <p:sldId id="262" r:id="rId10"/>
    <p:sldId id="263" r:id="rId11"/>
    <p:sldId id="270" r:id="rId12"/>
    <p:sldId id="271" r:id="rId13"/>
    <p:sldId id="264" r:id="rId14"/>
    <p:sldId id="333" r:id="rId15"/>
    <p:sldId id="308" r:id="rId16"/>
    <p:sldId id="309" r:id="rId17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Univers"/>
        <a:ea typeface="Univers"/>
        <a:cs typeface="Univers"/>
        <a:sym typeface="Univers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Univers"/>
        <a:ea typeface="Univers"/>
        <a:cs typeface="Univers"/>
        <a:sym typeface="Univers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Univers"/>
        <a:ea typeface="Univers"/>
        <a:cs typeface="Univers"/>
        <a:sym typeface="Univers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Univers"/>
        <a:ea typeface="Univers"/>
        <a:cs typeface="Univers"/>
        <a:sym typeface="Univers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Univers"/>
        <a:ea typeface="Univers"/>
        <a:cs typeface="Univers"/>
        <a:sym typeface="Univers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Univers"/>
        <a:ea typeface="Univers"/>
        <a:cs typeface="Univers"/>
        <a:sym typeface="Univers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Univers"/>
        <a:ea typeface="Univers"/>
        <a:cs typeface="Univers"/>
        <a:sym typeface="Univers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Univers"/>
        <a:ea typeface="Univers"/>
        <a:cs typeface="Univers"/>
        <a:sym typeface="Univers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Univers"/>
        <a:ea typeface="Univers"/>
        <a:cs typeface="Univers"/>
        <a:sym typeface="Univer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5E5"/>
    <a:srgbClr val="FFFFBD"/>
    <a:srgbClr val="F1DDFF"/>
    <a:srgbClr val="99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Univers"/>
          <a:ea typeface="Univers"/>
          <a:cs typeface="Univer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ff" i="off">
        <a:font>
          <a:latin typeface="Univers"/>
          <a:ea typeface="Univers"/>
          <a:cs typeface="Univer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firstCol>
    <a:lastRow>
      <a:tcTxStyle b="off" i="off">
        <a:font>
          <a:latin typeface="Univers"/>
          <a:ea typeface="Univers"/>
          <a:cs typeface="Univer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Univers"/>
          <a:ea typeface="Univers"/>
          <a:cs typeface="Univer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>
          <a:latin typeface="Univers"/>
          <a:ea typeface="Univers"/>
          <a:cs typeface="Univer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Univers"/>
          <a:ea typeface="Univers"/>
          <a:cs typeface="Univer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Univers"/>
          <a:ea typeface="Univers"/>
          <a:cs typeface="Univer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Univers"/>
          <a:ea typeface="Univers"/>
          <a:cs typeface="Univer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Univers"/>
          <a:ea typeface="Univers"/>
          <a:cs typeface="Univer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Univers"/>
          <a:ea typeface="Univers"/>
          <a:cs typeface="Univer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Univers"/>
          <a:ea typeface="Univers"/>
          <a:cs typeface="Univer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027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hape 110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1" name="Shape 111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15953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Text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13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2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31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888888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888888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888888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888888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0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839787" y="365125"/>
            <a:ext cx="10515601" cy="652308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1217533"/>
            <a:ext cx="5157789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00" b="1"/>
            </a:lvl1pPr>
            <a:lvl2pPr marL="0" indent="457200">
              <a:buSzTx/>
              <a:buFontTx/>
              <a:buNone/>
              <a:defRPr sz="2400" b="1"/>
            </a:lvl2pPr>
            <a:lvl3pPr marL="0" indent="914400">
              <a:buSzTx/>
              <a:buFontTx/>
              <a:buNone/>
              <a:defRPr sz="2400" b="1"/>
            </a:lvl3pPr>
            <a:lvl4pPr marL="0" indent="1371600">
              <a:buSzTx/>
              <a:buFontTx/>
              <a:buNone/>
              <a:defRPr sz="2400" b="1"/>
            </a:lvl4pPr>
            <a:lvl5pPr marL="0" indent="1828800"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0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172200" y="1217533"/>
            <a:ext cx="5183188" cy="823913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2400" b="1"/>
            </a:pPr>
            <a:endParaRPr/>
          </a:p>
        </p:txBody>
      </p:sp>
      <p:sp>
        <p:nvSpPr>
          <p:cNvPr id="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74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5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  <a:endParaRPr/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84" name="Picture Placeholder 2"/>
          <p:cNvSpPr>
            <a:spLocks noGrp="1"/>
          </p:cNvSpPr>
          <p:nvPr>
            <p:ph type="pic" sz="half" idx="13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5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94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itle Text"/>
          <p:cNvSpPr txBox="1"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03" name="Body Level One…"/>
          <p:cNvSpPr txBox="1"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838200" y="1287886"/>
            <a:ext cx="10515600" cy="4889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80144" y="6404292"/>
            <a:ext cx="273657" cy="2692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 dirty="0"/>
          </a:p>
        </p:txBody>
      </p:sp>
      <p:sp>
        <p:nvSpPr>
          <p:cNvPr id="5" name="Straight Connector 7"/>
          <p:cNvSpPr/>
          <p:nvPr/>
        </p:nvSpPr>
        <p:spPr>
          <a:xfrm>
            <a:off x="838200" y="1017431"/>
            <a:ext cx="10515601" cy="1"/>
          </a:xfrm>
          <a:prstGeom prst="line">
            <a:avLst/>
          </a:prstGeom>
          <a:ln w="1905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7"/>
    <p:sldLayoutId id="2147483657" r:id="rId8"/>
    <p:sldLayoutId id="2147483658" r:id="rId9"/>
    <p:sldLayoutId id="2147483659" r:id="rId10"/>
  </p:sldLayoutIdLst>
  <p:transition spd="med"/>
  <p:hf hdr="0" ftr="0" dt="0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 Condensed"/>
          <a:ea typeface="Univers Condensed"/>
          <a:cs typeface="Univers Condensed"/>
          <a:sym typeface="Univers Condensed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 Condensed"/>
          <a:ea typeface="Univers Condensed"/>
          <a:cs typeface="Univers Condensed"/>
          <a:sym typeface="Univers Condensed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 Condensed"/>
          <a:ea typeface="Univers Condensed"/>
          <a:cs typeface="Univers Condensed"/>
          <a:sym typeface="Univers Condensed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 Condensed"/>
          <a:ea typeface="Univers Condensed"/>
          <a:cs typeface="Univers Condensed"/>
          <a:sym typeface="Univers Condensed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 Condensed"/>
          <a:ea typeface="Univers Condensed"/>
          <a:cs typeface="Univers Condensed"/>
          <a:sym typeface="Univers Condensed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 Condensed"/>
          <a:ea typeface="Univers Condensed"/>
          <a:cs typeface="Univers Condensed"/>
          <a:sym typeface="Univers Condensed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 Condensed"/>
          <a:ea typeface="Univers Condensed"/>
          <a:cs typeface="Univers Condensed"/>
          <a:sym typeface="Univers Condensed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 Condensed"/>
          <a:ea typeface="Univers Condensed"/>
          <a:cs typeface="Univers Condensed"/>
          <a:sym typeface="Univers Condensed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 Condensed"/>
          <a:ea typeface="Univers Condensed"/>
          <a:cs typeface="Univers Condensed"/>
          <a:sym typeface="Univers Condensed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"/>
          <a:ea typeface="Univers"/>
          <a:cs typeface="Univers"/>
          <a:sym typeface="Univers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"/>
          <a:ea typeface="Univers"/>
          <a:cs typeface="Univers"/>
          <a:sym typeface="Univers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"/>
          <a:ea typeface="Univers"/>
          <a:cs typeface="Univers"/>
          <a:sym typeface="Univers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"/>
          <a:ea typeface="Univers"/>
          <a:cs typeface="Univers"/>
          <a:sym typeface="Univers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"/>
          <a:ea typeface="Univers"/>
          <a:cs typeface="Univers"/>
          <a:sym typeface="Univers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"/>
          <a:ea typeface="Univers"/>
          <a:cs typeface="Univers"/>
          <a:sym typeface="Univers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"/>
          <a:ea typeface="Univers"/>
          <a:cs typeface="Univers"/>
          <a:sym typeface="Univers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"/>
          <a:ea typeface="Univers"/>
          <a:cs typeface="Univers"/>
          <a:sym typeface="Univers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Univers"/>
          <a:ea typeface="Univers"/>
          <a:cs typeface="Univers"/>
          <a:sym typeface="Univers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Univers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Univers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Univers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Univers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Univers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Univers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Univers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Univers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Univer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oldmansachs/gs-collections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eclipse/eclipse-collections/blob/master/CONTRIBUTING.md" TargetMode="External"/><Relationship Id="rId5" Type="http://schemas.openxmlformats.org/officeDocument/2006/relationships/hyperlink" Target="https://github.com/eclipse/eclipse-collections-kata" TargetMode="External"/><Relationship Id="rId4" Type="http://schemas.openxmlformats.org/officeDocument/2006/relationships/hyperlink" Target="https://www.eclipse.org/collections/index.html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arnesandnoble.com/w/eclipse-collections-categorically-donald-raab/1147510676?ean=9798992700732" TargetMode="External"/><Relationship Id="rId7" Type="http://schemas.openxmlformats.org/officeDocument/2006/relationships/image" Target="../media/image5.png"/><Relationship Id="rId2" Type="http://schemas.openxmlformats.org/officeDocument/2006/relationships/hyperlink" Target="https://www.amazon.com/Eclipse-Collections-Categorically-Level-programming/dp/B0F6713S3W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itle 1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Refactoring to </a:t>
            </a:r>
            <a:br/>
            <a:r>
              <a:t>Eclipse Collections</a:t>
            </a:r>
          </a:p>
        </p:txBody>
      </p:sp>
      <p:sp>
        <p:nvSpPr>
          <p:cNvPr id="114" name="Subtitle 2"/>
          <p:cNvSpPr txBox="1">
            <a:spLocks noGrp="1"/>
          </p:cNvSpPr>
          <p:nvPr>
            <p:ph type="subTitle" sz="quarter" idx="1"/>
          </p:nvPr>
        </p:nvSpPr>
        <p:spPr>
          <a:xfrm>
            <a:off x="1524000" y="3602037"/>
            <a:ext cx="9144000" cy="165576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solidFill>
                  <a:srgbClr val="808080"/>
                </a:solidFill>
              </a:defRPr>
            </a:pPr>
            <a:endParaRPr/>
          </a:p>
          <a:p>
            <a:pPr>
              <a:defRPr sz="3200">
                <a:solidFill>
                  <a:srgbClr val="808080"/>
                </a:solidFill>
              </a:defRPr>
            </a:pPr>
            <a:r>
              <a:t>Making Your Java Streams</a:t>
            </a:r>
            <a:br/>
            <a:r>
              <a:t>Leaner, Meaner, and Cleaner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Picture 8" descr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568" y="2405269"/>
            <a:ext cx="1257273" cy="958507"/>
          </a:xfrm>
          <a:prstGeom prst="rect">
            <a:avLst/>
          </a:prstGeom>
          <a:ln w="12700">
            <a:miter lim="400000"/>
          </a:ln>
        </p:spPr>
      </p:pic>
      <p:sp>
        <p:nvSpPr>
          <p:cNvPr id="117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Introduction</a:t>
            </a:r>
          </a:p>
        </p:txBody>
      </p:sp>
      <p:sp>
        <p:nvSpPr>
          <p:cNvPr id="118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287886"/>
            <a:ext cx="10515600" cy="4889077"/>
          </a:xfrm>
          <a:prstGeom prst="rect">
            <a:avLst/>
          </a:prstGeom>
        </p:spPr>
        <p:txBody>
          <a:bodyPr>
            <a:normAutofit fontScale="92500"/>
          </a:bodyPr>
          <a:lstStyle/>
          <a:p>
            <a:pPr>
              <a:lnSpc>
                <a:spcPct val="108000"/>
              </a:lnSpc>
              <a:defRPr sz="2500"/>
            </a:pPr>
            <a:r>
              <a:rPr dirty="0"/>
              <a:t>What is Eclipse Collections?</a:t>
            </a:r>
          </a:p>
          <a:p>
            <a:pPr marL="685800" lvl="1" indent="-228600">
              <a:lnSpc>
                <a:spcPct val="108000"/>
              </a:lnSpc>
              <a:spcBef>
                <a:spcPts val="500"/>
              </a:spcBef>
              <a:defRPr sz="2200"/>
            </a:pPr>
            <a:r>
              <a:rPr dirty="0"/>
              <a:t>Feature rich, memory efficient Java Collections framework</a:t>
            </a:r>
          </a:p>
          <a:p>
            <a:pPr>
              <a:lnSpc>
                <a:spcPct val="108000"/>
              </a:lnSpc>
              <a:defRPr sz="2500"/>
            </a:pPr>
            <a:r>
              <a:rPr dirty="0"/>
              <a:t>History</a:t>
            </a:r>
          </a:p>
          <a:p>
            <a:pPr marL="685800" lvl="1" indent="-228600">
              <a:lnSpc>
                <a:spcPct val="108000"/>
              </a:lnSpc>
              <a:spcBef>
                <a:spcPts val="500"/>
              </a:spcBef>
              <a:defRPr sz="2200"/>
            </a:pPr>
            <a:r>
              <a:rPr dirty="0"/>
              <a:t>Eclipse Collections started off as an internal collections</a:t>
            </a:r>
            <a:br>
              <a:rPr dirty="0"/>
            </a:br>
            <a:r>
              <a:rPr dirty="0"/>
              <a:t>framework named Caramel at Goldman Sachs in 2004</a:t>
            </a:r>
          </a:p>
          <a:p>
            <a:pPr marL="685800" lvl="1" indent="-228600">
              <a:lnSpc>
                <a:spcPct val="108000"/>
              </a:lnSpc>
              <a:spcBef>
                <a:spcPts val="500"/>
              </a:spcBef>
              <a:defRPr sz="2200"/>
            </a:pPr>
            <a:r>
              <a:rPr dirty="0"/>
              <a:t>In 2012, it was open sourced to GitHub as a project called </a:t>
            </a:r>
            <a:r>
              <a:rPr u="sng" dirty="0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3"/>
              </a:rPr>
              <a:t>GS Collections</a:t>
            </a:r>
          </a:p>
          <a:p>
            <a:pPr marL="685800" lvl="1" indent="-228600">
              <a:lnSpc>
                <a:spcPct val="108000"/>
              </a:lnSpc>
              <a:spcBef>
                <a:spcPts val="500"/>
              </a:spcBef>
              <a:defRPr sz="2200"/>
            </a:pPr>
            <a:r>
              <a:rPr dirty="0"/>
              <a:t>GS Collections was migrated to the Eclipse Foundation, re-branded as </a:t>
            </a:r>
            <a:r>
              <a:rPr u="sng" dirty="0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4"/>
              </a:rPr>
              <a:t>Eclipse Collections</a:t>
            </a:r>
            <a:r>
              <a:rPr dirty="0">
                <a:solidFill>
                  <a:srgbClr val="FF0000"/>
                </a:solidFill>
              </a:rPr>
              <a:t> </a:t>
            </a:r>
            <a:r>
              <a:rPr dirty="0"/>
              <a:t>in 2015</a:t>
            </a:r>
            <a:endParaRPr lang="en-US" dirty="0"/>
          </a:p>
          <a:p>
            <a:pPr marL="685800" lvl="1" indent="-228600">
              <a:lnSpc>
                <a:spcPct val="108000"/>
              </a:lnSpc>
              <a:spcBef>
                <a:spcPts val="500"/>
              </a:spcBef>
              <a:defRPr sz="2200"/>
            </a:pPr>
            <a:r>
              <a:rPr lang="en-US" dirty="0"/>
              <a:t>Eclipse Collections 12.0 (Java 11+) &amp; 13.0 (Java 17+) released in June 2025</a:t>
            </a:r>
            <a:endParaRPr dirty="0"/>
          </a:p>
          <a:p>
            <a:pPr>
              <a:lnSpc>
                <a:spcPct val="108000"/>
              </a:lnSpc>
              <a:defRPr sz="2500"/>
            </a:pPr>
            <a:r>
              <a:rPr dirty="0"/>
              <a:t>Learn Eclipse Collections with </a:t>
            </a:r>
            <a:r>
              <a:rPr u="sng" dirty="0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5"/>
              </a:rPr>
              <a:t>Kata</a:t>
            </a:r>
          </a:p>
          <a:p>
            <a:pPr>
              <a:lnSpc>
                <a:spcPct val="108000"/>
              </a:lnSpc>
              <a:defRPr sz="2500"/>
            </a:pPr>
            <a:r>
              <a:rPr dirty="0"/>
              <a:t>Eclipse Collections is </a:t>
            </a:r>
            <a:r>
              <a:rPr u="sng" dirty="0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6"/>
              </a:rPr>
              <a:t>open for contributions</a:t>
            </a:r>
            <a:r>
              <a:rPr dirty="0"/>
              <a:t>!</a:t>
            </a:r>
          </a:p>
        </p:txBody>
      </p:sp>
      <p:sp>
        <p:nvSpPr>
          <p:cNvPr id="119" name="Slide Number Placeholder 3"/>
          <p:cNvSpPr txBox="1">
            <a:spLocks noGrp="1"/>
          </p:cNvSpPr>
          <p:nvPr>
            <p:ph type="sldNum" sz="quarter" idx="2"/>
          </p:nvPr>
        </p:nvSpPr>
        <p:spPr>
          <a:xfrm>
            <a:off x="11164902" y="6404292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329DB-F132-1CDD-B0AC-FDD56811B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56C1E-2DF4-224F-A78F-EE95CF50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Book: Eclipse Collections Categorically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CE1F3B-31EF-B567-26A6-3CF0B9A8D3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Paperback, Hardcover(x2), and eBook Versions Available</a:t>
            </a:r>
          </a:p>
          <a:p>
            <a:r>
              <a:rPr lang="en-US" dirty="0">
                <a:hlinkClick r:id="rId2"/>
              </a:rPr>
              <a:t>Amazon</a:t>
            </a:r>
            <a:r>
              <a:rPr lang="en-US" dirty="0"/>
              <a:t> / </a:t>
            </a:r>
            <a:r>
              <a:rPr lang="en-US" dirty="0">
                <a:hlinkClick r:id="rId3"/>
              </a:rPr>
              <a:t>Barnes &amp; Noble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1845BA-7DEE-DA32-D5ED-B225F441C9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8083" y="2471735"/>
            <a:ext cx="2990884" cy="384856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FB2F71A-38D3-5E9B-ABA0-5ECDE410CB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688" y="3103681"/>
            <a:ext cx="2224384" cy="275316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scene3d>
            <a:camera prst="perspectiveAbove">
              <a:rot lat="0" lon="0" rev="0"/>
            </a:camera>
            <a:lightRig rig="threePt" dir="t"/>
          </a:scene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6A072D1-8C1B-C6A1-8390-02C3F89D97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4512" y="3001707"/>
            <a:ext cx="2321742" cy="286522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scene3d>
            <a:camera prst="perspectiveAbove">
              <a:rot lat="0" lon="0" rev="0"/>
            </a:camera>
            <a:lightRig rig="threePt" dir="t"/>
          </a:scene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A2FAC23-E225-045D-3924-56C311FB59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01694" y="2746444"/>
            <a:ext cx="2640950" cy="337574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scene3d>
            <a:camera prst="perspectiveAbove">
              <a:rot lat="0" lon="0" rev="0"/>
            </a:camera>
            <a:lightRig rig="threePt" dir="t"/>
          </a:scene3d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6FF7FC18-535D-D34A-D488-0BC47BB35900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850662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C0EFB-FEBF-51F4-14C4-31463B2F5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Simulating Method Categories in Java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CA876A-D174-1114-EF8D-0AAC7D13D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IntelliJ Custom Code Folding Regions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E541C5-0700-ACBB-5D6C-5D47E474AE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302" y="1825720"/>
            <a:ext cx="7772400" cy="470878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47081E-1F5C-17DB-0560-70997DA10A6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244876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traight Connector 52"/>
          <p:cNvSpPr/>
          <p:nvPr/>
        </p:nvSpPr>
        <p:spPr>
          <a:xfrm>
            <a:off x="5165294" y="5076153"/>
            <a:ext cx="771532" cy="1162728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2" name="Straight Connector 53"/>
          <p:cNvSpPr/>
          <p:nvPr/>
        </p:nvSpPr>
        <p:spPr>
          <a:xfrm flipH="1">
            <a:off x="2355272" y="4986001"/>
            <a:ext cx="2812962" cy="699382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3" name="Straight Connector 72"/>
          <p:cNvSpPr/>
          <p:nvPr/>
        </p:nvSpPr>
        <p:spPr>
          <a:xfrm flipH="1" flipV="1">
            <a:off x="8109398" y="3796048"/>
            <a:ext cx="1714053" cy="431555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4" name="Straight Connector 69"/>
          <p:cNvSpPr/>
          <p:nvPr/>
        </p:nvSpPr>
        <p:spPr>
          <a:xfrm flipH="1">
            <a:off x="8094342" y="2921023"/>
            <a:ext cx="1361717" cy="836029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5" name="Oval 55"/>
          <p:cNvSpPr/>
          <p:nvPr/>
        </p:nvSpPr>
        <p:spPr>
          <a:xfrm>
            <a:off x="5467937" y="2576220"/>
            <a:ext cx="146397" cy="14639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" name="Straight Connector 38"/>
          <p:cNvSpPr/>
          <p:nvPr/>
        </p:nvSpPr>
        <p:spPr>
          <a:xfrm>
            <a:off x="5583508" y="1700347"/>
            <a:ext cx="631229" cy="889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28575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sp>
        <p:nvSpPr>
          <p:cNvPr id="187" name="Straight Connector 37"/>
          <p:cNvSpPr/>
          <p:nvPr/>
        </p:nvSpPr>
        <p:spPr>
          <a:xfrm>
            <a:off x="3505610" y="1650249"/>
            <a:ext cx="1969800" cy="9669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sp>
        <p:nvSpPr>
          <p:cNvPr id="128" name="Straight Connector 56"/>
          <p:cNvSpPr/>
          <p:nvPr/>
        </p:nvSpPr>
        <p:spPr>
          <a:xfrm flipV="1">
            <a:off x="5434884" y="2722616"/>
            <a:ext cx="106252" cy="1057334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9" name="Straight Connector 28"/>
          <p:cNvSpPr/>
          <p:nvPr/>
        </p:nvSpPr>
        <p:spPr>
          <a:xfrm flipH="1" flipV="1">
            <a:off x="5495387" y="3961331"/>
            <a:ext cx="3505302" cy="1242707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0" name="Straight Connector 23"/>
          <p:cNvSpPr/>
          <p:nvPr/>
        </p:nvSpPr>
        <p:spPr>
          <a:xfrm flipV="1">
            <a:off x="5168232" y="3992451"/>
            <a:ext cx="266653" cy="934128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1" name="Straight Connector 26"/>
          <p:cNvSpPr/>
          <p:nvPr/>
        </p:nvSpPr>
        <p:spPr>
          <a:xfrm>
            <a:off x="1574443" y="2826859"/>
            <a:ext cx="1015577" cy="1007583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2" name="Straight Connector 34"/>
          <p:cNvSpPr/>
          <p:nvPr/>
        </p:nvSpPr>
        <p:spPr>
          <a:xfrm flipV="1">
            <a:off x="1227485" y="3937959"/>
            <a:ext cx="1362535" cy="870600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3" name="Straight Connector 43"/>
          <p:cNvSpPr/>
          <p:nvPr/>
        </p:nvSpPr>
        <p:spPr>
          <a:xfrm flipH="1">
            <a:off x="2279795" y="3937958"/>
            <a:ext cx="413743" cy="1694934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4" name="Straight Connector 14"/>
          <p:cNvSpPr/>
          <p:nvPr/>
        </p:nvSpPr>
        <p:spPr>
          <a:xfrm flipH="1">
            <a:off x="2714976" y="3886200"/>
            <a:ext cx="2634345" cy="0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5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Why Refactor to EC?</a:t>
            </a:r>
          </a:p>
        </p:txBody>
      </p:sp>
      <p:sp>
        <p:nvSpPr>
          <p:cNvPr id="136" name="Slide Number Placeholder 2"/>
          <p:cNvSpPr txBox="1">
            <a:spLocks noGrp="1"/>
          </p:cNvSpPr>
          <p:nvPr>
            <p:ph type="sldNum" sz="quarter" idx="2"/>
          </p:nvPr>
        </p:nvSpPr>
        <p:spPr>
          <a:xfrm>
            <a:off x="11164902" y="6404292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5</a:t>
            </a:fld>
            <a:endParaRPr/>
          </a:p>
        </p:txBody>
      </p:sp>
      <p:grpSp>
        <p:nvGrpSpPr>
          <p:cNvPr id="139" name="Rectangle: Rounded Corners 8"/>
          <p:cNvGrpSpPr/>
          <p:nvPr/>
        </p:nvGrpSpPr>
        <p:grpSpPr>
          <a:xfrm>
            <a:off x="507106" y="2559212"/>
            <a:ext cx="2134674" cy="357853"/>
            <a:chOff x="0" y="0"/>
            <a:chExt cx="2134672" cy="357851"/>
          </a:xfrm>
        </p:grpSpPr>
        <p:sp>
          <p:nvSpPr>
            <p:cNvPr id="137" name="Rounded Rectangle"/>
            <p:cNvSpPr/>
            <p:nvPr/>
          </p:nvSpPr>
          <p:spPr>
            <a:xfrm>
              <a:off x="0" y="0"/>
              <a:ext cx="2134673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8" name="No “Bun” methods"/>
            <p:cNvSpPr txBox="1"/>
            <p:nvPr/>
          </p:nvSpPr>
          <p:spPr>
            <a:xfrm>
              <a:off x="17468" y="12555"/>
              <a:ext cx="2099737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No “Bun” methods</a:t>
              </a:r>
            </a:p>
          </p:txBody>
        </p:sp>
      </p:grpSp>
      <p:grpSp>
        <p:nvGrpSpPr>
          <p:cNvPr id="142" name="Rectangle: Rounded Corners 11"/>
          <p:cNvGrpSpPr/>
          <p:nvPr/>
        </p:nvGrpSpPr>
        <p:grpSpPr>
          <a:xfrm>
            <a:off x="1574441" y="3688079"/>
            <a:ext cx="1947930" cy="396241"/>
            <a:chOff x="0" y="0"/>
            <a:chExt cx="1947928" cy="396240"/>
          </a:xfrm>
        </p:grpSpPr>
        <p:sp>
          <p:nvSpPr>
            <p:cNvPr id="140" name="Rounded Rectangle"/>
            <p:cNvSpPr/>
            <p:nvPr/>
          </p:nvSpPr>
          <p:spPr>
            <a:xfrm>
              <a:off x="0" y="1716"/>
              <a:ext cx="1947929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1" name="Concise Code"/>
            <p:cNvSpPr txBox="1"/>
            <p:nvPr/>
          </p:nvSpPr>
          <p:spPr>
            <a:xfrm>
              <a:off x="19175" y="0"/>
              <a:ext cx="1909579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t>Concise Code</a:t>
              </a:r>
            </a:p>
          </p:txBody>
        </p:sp>
      </p:grpSp>
      <p:grpSp>
        <p:nvGrpSpPr>
          <p:cNvPr id="145" name="Rectangle: Rounded Corners 41"/>
          <p:cNvGrpSpPr/>
          <p:nvPr/>
        </p:nvGrpSpPr>
        <p:grpSpPr>
          <a:xfrm>
            <a:off x="1035702" y="5376922"/>
            <a:ext cx="2613658" cy="637412"/>
            <a:chOff x="0" y="0"/>
            <a:chExt cx="2613657" cy="637410"/>
          </a:xfrm>
        </p:grpSpPr>
        <p:sp>
          <p:nvSpPr>
            <p:cNvPr id="143" name="Rounded Rectangle"/>
            <p:cNvSpPr/>
            <p:nvPr/>
          </p:nvSpPr>
          <p:spPr>
            <a:xfrm>
              <a:off x="0" y="0"/>
              <a:ext cx="2613658" cy="637411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4" name="Comprehensive Support for Primitive Types"/>
            <p:cNvSpPr txBox="1"/>
            <p:nvPr/>
          </p:nvSpPr>
          <p:spPr>
            <a:xfrm>
              <a:off x="31115" y="31685"/>
              <a:ext cx="2551427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Comprehensive Support for Primitive Types</a:t>
              </a:r>
            </a:p>
          </p:txBody>
        </p:sp>
      </p:grpSp>
      <p:grpSp>
        <p:nvGrpSpPr>
          <p:cNvPr id="148" name="Rectangle: Rounded Corners 32"/>
          <p:cNvGrpSpPr/>
          <p:nvPr/>
        </p:nvGrpSpPr>
        <p:grpSpPr>
          <a:xfrm>
            <a:off x="351420" y="4725151"/>
            <a:ext cx="1722080" cy="357853"/>
            <a:chOff x="0" y="0"/>
            <a:chExt cx="1722078" cy="357851"/>
          </a:xfrm>
        </p:grpSpPr>
        <p:sp>
          <p:nvSpPr>
            <p:cNvPr id="146" name="Rounded Rectangle"/>
            <p:cNvSpPr/>
            <p:nvPr/>
          </p:nvSpPr>
          <p:spPr>
            <a:xfrm>
              <a:off x="0" y="0"/>
              <a:ext cx="1722079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7" name="Rich[er] APIs"/>
            <p:cNvSpPr txBox="1"/>
            <p:nvPr/>
          </p:nvSpPr>
          <p:spPr>
            <a:xfrm>
              <a:off x="17468" y="12555"/>
              <a:ext cx="1687142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Rich[er] APIs</a:t>
              </a:r>
            </a:p>
          </p:txBody>
        </p:sp>
      </p:grpSp>
      <p:grpSp>
        <p:nvGrpSpPr>
          <p:cNvPr id="151" name="Rectangle: Rounded Corners 54"/>
          <p:cNvGrpSpPr/>
          <p:nvPr/>
        </p:nvGrpSpPr>
        <p:grpSpPr>
          <a:xfrm>
            <a:off x="3772654" y="2451297"/>
            <a:ext cx="3470857" cy="396242"/>
            <a:chOff x="0" y="0"/>
            <a:chExt cx="3470855" cy="396240"/>
          </a:xfrm>
        </p:grpSpPr>
        <p:sp>
          <p:nvSpPr>
            <p:cNvPr id="149" name="Rounded Rectangle"/>
            <p:cNvSpPr/>
            <p:nvPr/>
          </p:nvSpPr>
          <p:spPr>
            <a:xfrm>
              <a:off x="0" y="1716"/>
              <a:ext cx="3470856" cy="39280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0" name="Testability/Debuggability"/>
            <p:cNvSpPr txBox="1"/>
            <p:nvPr/>
          </p:nvSpPr>
          <p:spPr>
            <a:xfrm>
              <a:off x="19175" y="0"/>
              <a:ext cx="3432506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t>Testability/Debuggability</a:t>
              </a:r>
            </a:p>
          </p:txBody>
        </p:sp>
      </p:grpSp>
      <p:grpSp>
        <p:nvGrpSpPr>
          <p:cNvPr id="154" name="Rectangle: Rounded Corners 3"/>
          <p:cNvGrpSpPr/>
          <p:nvPr/>
        </p:nvGrpSpPr>
        <p:grpSpPr>
          <a:xfrm>
            <a:off x="4651850" y="3656329"/>
            <a:ext cx="1566071" cy="459741"/>
            <a:chOff x="0" y="0"/>
            <a:chExt cx="1566070" cy="459740"/>
          </a:xfrm>
        </p:grpSpPr>
        <p:sp>
          <p:nvSpPr>
            <p:cNvPr id="152" name="Rounded Rectangle"/>
            <p:cNvSpPr/>
            <p:nvPr/>
          </p:nvSpPr>
          <p:spPr>
            <a:xfrm>
              <a:off x="0" y="33466"/>
              <a:ext cx="1566071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57150" cap="flat">
              <a:solidFill>
                <a:srgbClr val="FFFFFF">
                  <a:alpha val="50195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3" name="Benefits"/>
            <p:cNvSpPr txBox="1"/>
            <p:nvPr/>
          </p:nvSpPr>
          <p:spPr>
            <a:xfrm>
              <a:off x="19174" y="0"/>
              <a:ext cx="1527722" cy="459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400">
                  <a:solidFill>
                    <a:srgbClr val="1F4E79"/>
                  </a:solidFill>
                </a:defRPr>
              </a:lvl1pPr>
            </a:lstStyle>
            <a:p>
              <a:r>
                <a:t>Benefits</a:t>
              </a:r>
            </a:p>
          </p:txBody>
        </p:sp>
      </p:grpSp>
      <p:grpSp>
        <p:nvGrpSpPr>
          <p:cNvPr id="157" name="Rectangle: Rounded Corners 64"/>
          <p:cNvGrpSpPr/>
          <p:nvPr/>
        </p:nvGrpSpPr>
        <p:grpSpPr>
          <a:xfrm>
            <a:off x="4021804" y="4834709"/>
            <a:ext cx="2292857" cy="396241"/>
            <a:chOff x="0" y="0"/>
            <a:chExt cx="2292855" cy="396240"/>
          </a:xfrm>
        </p:grpSpPr>
        <p:sp>
          <p:nvSpPr>
            <p:cNvPr id="155" name="Rounded Rectangle"/>
            <p:cNvSpPr/>
            <p:nvPr/>
          </p:nvSpPr>
          <p:spPr>
            <a:xfrm>
              <a:off x="0" y="1716"/>
              <a:ext cx="2292856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6" name="Memory Savings"/>
            <p:cNvSpPr txBox="1"/>
            <p:nvPr/>
          </p:nvSpPr>
          <p:spPr>
            <a:xfrm>
              <a:off x="19175" y="0"/>
              <a:ext cx="2254506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t>Memory Savings</a:t>
              </a:r>
            </a:p>
          </p:txBody>
        </p:sp>
      </p:grpSp>
      <p:grpSp>
        <p:nvGrpSpPr>
          <p:cNvPr id="160" name="Rectangle: Rounded Corners 65"/>
          <p:cNvGrpSpPr/>
          <p:nvPr/>
        </p:nvGrpSpPr>
        <p:grpSpPr>
          <a:xfrm>
            <a:off x="7376938" y="5094821"/>
            <a:ext cx="4016777" cy="396241"/>
            <a:chOff x="0" y="0"/>
            <a:chExt cx="4016776" cy="396240"/>
          </a:xfrm>
        </p:grpSpPr>
        <p:sp>
          <p:nvSpPr>
            <p:cNvPr id="158" name="Rounded Rectangle"/>
            <p:cNvSpPr/>
            <p:nvPr/>
          </p:nvSpPr>
          <p:spPr>
            <a:xfrm>
              <a:off x="0" y="1716"/>
              <a:ext cx="4016777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9" name="Better Performance [citation needed ]"/>
            <p:cNvSpPr txBox="1"/>
            <p:nvPr/>
          </p:nvSpPr>
          <p:spPr>
            <a:xfrm>
              <a:off x="19174" y="0"/>
              <a:ext cx="3978428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sz="2000">
                  <a:solidFill>
                    <a:srgbClr val="1F4E79"/>
                  </a:solidFill>
                </a:defRPr>
              </a:pPr>
              <a:r>
                <a:t>Better Performance </a:t>
              </a:r>
              <a:r>
                <a:rPr baseline="30000"/>
                <a:t>[</a:t>
              </a:r>
              <a:r>
                <a:rPr i="1" baseline="30000"/>
                <a:t>citation needed </a:t>
              </a:r>
              <a:r>
                <a:rPr baseline="30000"/>
                <a:t>]</a:t>
              </a:r>
            </a:p>
          </p:txBody>
        </p:sp>
      </p:grpSp>
      <p:grpSp>
        <p:nvGrpSpPr>
          <p:cNvPr id="163" name="Rectangle: Rounded Corners 40"/>
          <p:cNvGrpSpPr/>
          <p:nvPr/>
        </p:nvGrpSpPr>
        <p:grpSpPr>
          <a:xfrm>
            <a:off x="4705124" y="6059954"/>
            <a:ext cx="2613658" cy="357853"/>
            <a:chOff x="0" y="0"/>
            <a:chExt cx="2613656" cy="357851"/>
          </a:xfrm>
        </p:grpSpPr>
        <p:sp>
          <p:nvSpPr>
            <p:cNvPr id="161" name="Rounded Rectangle"/>
            <p:cNvSpPr/>
            <p:nvPr/>
          </p:nvSpPr>
          <p:spPr>
            <a:xfrm>
              <a:off x="0" y="0"/>
              <a:ext cx="2613657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62" name="Efficient Maps and Sets"/>
            <p:cNvSpPr txBox="1"/>
            <p:nvPr/>
          </p:nvSpPr>
          <p:spPr>
            <a:xfrm>
              <a:off x="17469" y="12555"/>
              <a:ext cx="2578719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Efficient Maps and Sets</a:t>
              </a:r>
            </a:p>
          </p:txBody>
        </p:sp>
      </p:grpSp>
      <p:sp>
        <p:nvSpPr>
          <p:cNvPr id="188" name="Straight Connector 45"/>
          <p:cNvSpPr/>
          <p:nvPr/>
        </p:nvSpPr>
        <p:spPr>
          <a:xfrm>
            <a:off x="6246493" y="3820158"/>
            <a:ext cx="1061916" cy="37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76200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grpSp>
        <p:nvGrpSpPr>
          <p:cNvPr id="169" name="Group 82"/>
          <p:cNvGrpSpPr/>
          <p:nvPr/>
        </p:nvGrpSpPr>
        <p:grpSpPr>
          <a:xfrm>
            <a:off x="7308408" y="3597927"/>
            <a:ext cx="1368018" cy="396241"/>
            <a:chOff x="0" y="0"/>
            <a:chExt cx="1368016" cy="396240"/>
          </a:xfrm>
        </p:grpSpPr>
        <p:sp>
          <p:nvSpPr>
            <p:cNvPr id="165" name="Oval 48"/>
            <p:cNvSpPr/>
            <p:nvPr/>
          </p:nvSpPr>
          <p:spPr>
            <a:xfrm>
              <a:off x="698178" y="142968"/>
              <a:ext cx="102813" cy="110303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68" name="Rectangle: Rounded Corners 47"/>
            <p:cNvGrpSpPr/>
            <p:nvPr/>
          </p:nvGrpSpPr>
          <p:grpSpPr>
            <a:xfrm>
              <a:off x="0" y="-1"/>
              <a:ext cx="1368017" cy="396242"/>
              <a:chOff x="0" y="0"/>
              <a:chExt cx="1368016" cy="396240"/>
            </a:xfrm>
          </p:grpSpPr>
          <p:sp>
            <p:nvSpPr>
              <p:cNvPr id="166" name="Rounded Rectangle"/>
              <p:cNvSpPr/>
              <p:nvPr/>
            </p:nvSpPr>
            <p:spPr>
              <a:xfrm>
                <a:off x="0" y="2082"/>
                <a:ext cx="1368017" cy="39207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67" name="It’s Easy!"/>
              <p:cNvSpPr txBox="1"/>
              <p:nvPr/>
            </p:nvSpPr>
            <p:spPr>
              <a:xfrm>
                <a:off x="19139" y="0"/>
                <a:ext cx="1329739" cy="39624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000">
                    <a:solidFill>
                      <a:srgbClr val="1F4E79"/>
                    </a:solidFill>
                  </a:defRPr>
                </a:lvl1pPr>
              </a:lstStyle>
              <a:p>
                <a:r>
                  <a:t>It’s Easy!</a:t>
                </a:r>
              </a:p>
            </p:txBody>
          </p:sp>
        </p:grpSp>
      </p:grpSp>
      <p:grpSp>
        <p:nvGrpSpPr>
          <p:cNvPr id="172" name="Rectangle: Rounded Corners 49"/>
          <p:cNvGrpSpPr/>
          <p:nvPr/>
        </p:nvGrpSpPr>
        <p:grpSpPr>
          <a:xfrm>
            <a:off x="7629753" y="2631531"/>
            <a:ext cx="3659778" cy="332741"/>
            <a:chOff x="0" y="0"/>
            <a:chExt cx="3659776" cy="332740"/>
          </a:xfrm>
        </p:grpSpPr>
        <p:sp>
          <p:nvSpPr>
            <p:cNvPr id="170" name="Rounded Rectangle"/>
            <p:cNvSpPr/>
            <p:nvPr/>
          </p:nvSpPr>
          <p:spPr>
            <a:xfrm>
              <a:off x="0" y="17886"/>
              <a:ext cx="3659777" cy="29696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1" name="Drop-in replacement for JDK types"/>
            <p:cNvSpPr txBox="1"/>
            <p:nvPr/>
          </p:nvSpPr>
          <p:spPr>
            <a:xfrm>
              <a:off x="14496" y="0"/>
              <a:ext cx="3630785" cy="332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Drop-in replacement for JDK types</a:t>
              </a:r>
            </a:p>
          </p:txBody>
        </p:sp>
      </p:grpSp>
      <p:grpSp>
        <p:nvGrpSpPr>
          <p:cNvPr id="175" name="Rectangle: Rounded Corners 50"/>
          <p:cNvGrpSpPr/>
          <p:nvPr/>
        </p:nvGrpSpPr>
        <p:grpSpPr>
          <a:xfrm>
            <a:off x="9146754" y="4241279"/>
            <a:ext cx="2443690" cy="332741"/>
            <a:chOff x="0" y="0"/>
            <a:chExt cx="2443689" cy="332740"/>
          </a:xfrm>
        </p:grpSpPr>
        <p:sp>
          <p:nvSpPr>
            <p:cNvPr id="173" name="Rounded Rectangle"/>
            <p:cNvSpPr/>
            <p:nvPr/>
          </p:nvSpPr>
          <p:spPr>
            <a:xfrm>
              <a:off x="0" y="11046"/>
              <a:ext cx="2443690" cy="31064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4" name="Intuitive humane APIs"/>
            <p:cNvSpPr txBox="1"/>
            <p:nvPr/>
          </p:nvSpPr>
          <p:spPr>
            <a:xfrm>
              <a:off x="15164" y="0"/>
              <a:ext cx="2413361" cy="332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Intuitive humane APIs</a:t>
              </a:r>
            </a:p>
          </p:txBody>
        </p:sp>
      </p:grpSp>
      <p:grpSp>
        <p:nvGrpSpPr>
          <p:cNvPr id="180" name="Group 63"/>
          <p:cNvGrpSpPr/>
          <p:nvPr/>
        </p:nvGrpSpPr>
        <p:grpSpPr>
          <a:xfrm>
            <a:off x="2073499" y="1292268"/>
            <a:ext cx="2134674" cy="357853"/>
            <a:chOff x="0" y="0"/>
            <a:chExt cx="2134672" cy="357851"/>
          </a:xfrm>
        </p:grpSpPr>
        <p:sp>
          <p:nvSpPr>
            <p:cNvPr id="176" name="Oval 60"/>
            <p:cNvSpPr/>
            <p:nvPr/>
          </p:nvSpPr>
          <p:spPr>
            <a:xfrm>
              <a:off x="994137" y="98956"/>
              <a:ext cx="146397" cy="146397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79" name="Rectangle: Rounded Corners 35"/>
            <p:cNvGrpSpPr/>
            <p:nvPr/>
          </p:nvGrpSpPr>
          <p:grpSpPr>
            <a:xfrm>
              <a:off x="0" y="0"/>
              <a:ext cx="2134673" cy="357852"/>
              <a:chOff x="0" y="0"/>
              <a:chExt cx="2134672" cy="357851"/>
            </a:xfrm>
          </p:grpSpPr>
          <p:sp>
            <p:nvSpPr>
              <p:cNvPr id="177" name="Rounded Rectangle"/>
              <p:cNvSpPr/>
              <p:nvPr/>
            </p:nvSpPr>
            <p:spPr>
              <a:xfrm>
                <a:off x="0" y="0"/>
                <a:ext cx="2134673" cy="357852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78" name="Lazy or Eager"/>
              <p:cNvSpPr txBox="1"/>
              <p:nvPr/>
            </p:nvSpPr>
            <p:spPr>
              <a:xfrm>
                <a:off x="17468" y="12555"/>
                <a:ext cx="2099737" cy="3327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600">
                    <a:solidFill>
                      <a:srgbClr val="1F4E79"/>
                    </a:solidFill>
                  </a:defRPr>
                </a:lvl1pPr>
              </a:lstStyle>
              <a:p>
                <a:r>
                  <a:t>Lazy or Eager</a:t>
                </a:r>
              </a:p>
            </p:txBody>
          </p:sp>
        </p:grpSp>
      </p:grpSp>
      <p:grpSp>
        <p:nvGrpSpPr>
          <p:cNvPr id="185" name="Group 68"/>
          <p:cNvGrpSpPr/>
          <p:nvPr/>
        </p:nvGrpSpPr>
        <p:grpSpPr>
          <a:xfrm>
            <a:off x="5642636" y="1342366"/>
            <a:ext cx="1398370" cy="357853"/>
            <a:chOff x="0" y="0"/>
            <a:chExt cx="1398368" cy="357851"/>
          </a:xfrm>
        </p:grpSpPr>
        <p:sp>
          <p:nvSpPr>
            <p:cNvPr id="181" name="Oval 61"/>
            <p:cNvSpPr/>
            <p:nvPr/>
          </p:nvSpPr>
          <p:spPr>
            <a:xfrm>
              <a:off x="624074" y="103460"/>
              <a:ext cx="95901" cy="146397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84" name="Rectangle: Rounded Corners 36"/>
            <p:cNvGrpSpPr/>
            <p:nvPr/>
          </p:nvGrpSpPr>
          <p:grpSpPr>
            <a:xfrm>
              <a:off x="0" y="0"/>
              <a:ext cx="1398369" cy="357852"/>
              <a:chOff x="0" y="0"/>
              <a:chExt cx="1398368" cy="357851"/>
            </a:xfrm>
          </p:grpSpPr>
          <p:sp>
            <p:nvSpPr>
              <p:cNvPr id="182" name="Rounded Rectangle"/>
              <p:cNvSpPr/>
              <p:nvPr/>
            </p:nvSpPr>
            <p:spPr>
              <a:xfrm>
                <a:off x="0" y="0"/>
                <a:ext cx="1398369" cy="357852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600">
                    <a:solidFill>
                      <a:srgbClr val="1F4E79"/>
                    </a:solidFill>
                  </a:defRPr>
                </a:pPr>
                <a:endParaRPr/>
              </a:p>
            </p:txBody>
          </p:sp>
          <p:sp>
            <p:nvSpPr>
              <p:cNvPr id="183" name="TestUtils"/>
              <p:cNvSpPr txBox="1"/>
              <p:nvPr/>
            </p:nvSpPr>
            <p:spPr>
              <a:xfrm>
                <a:off x="17468" y="12555"/>
                <a:ext cx="1363432" cy="3327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600">
                    <a:solidFill>
                      <a:srgbClr val="1F4E79"/>
                    </a:solidFill>
                  </a:defRPr>
                </a:lvl1pPr>
              </a:lstStyle>
              <a:p>
                <a:r>
                  <a:t>TestUtils</a:t>
                </a:r>
              </a:p>
            </p:txBody>
          </p:sp>
        </p:grpSp>
      </p:grpSp>
      <p:pic>
        <p:nvPicPr>
          <p:cNvPr id="68" name="Picture 67">
            <a:extLst>
              <a:ext uri="{FF2B5EF4-FFF2-40B4-BE49-F238E27FC236}">
                <a16:creationId xmlns:a16="http://schemas.microsoft.com/office/drawing/2014/main" id="{6D2EE6F9-F522-44CD-81F7-9941C9C519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931" y="1519026"/>
            <a:ext cx="1372089" cy="1058895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traight Arrow Connector 60"/>
          <p:cNvSpPr/>
          <p:nvPr/>
        </p:nvSpPr>
        <p:spPr>
          <a:xfrm rot="16200000" flipH="1">
            <a:off x="7616049" y="4137233"/>
            <a:ext cx="2092075" cy="4860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400" y="0"/>
                  <a:pt x="10800" y="5400"/>
                  <a:pt x="10800" y="10800"/>
                </a:cubicBezTo>
                <a:cubicBezTo>
                  <a:pt x="10800" y="16200"/>
                  <a:pt x="16200" y="21600"/>
                  <a:pt x="21600" y="21600"/>
                </a:cubicBezTo>
              </a:path>
            </a:pathLst>
          </a:custGeom>
          <a:ln w="38100">
            <a:solidFill>
              <a:srgbClr val="2E75B6"/>
            </a:solidFill>
            <a:prstDash val="sysDash"/>
            <a:miter/>
            <a:tailEnd type="triangle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91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Any Types You Need</a:t>
            </a:r>
          </a:p>
        </p:txBody>
      </p:sp>
      <p:grpSp>
        <p:nvGrpSpPr>
          <p:cNvPr id="196" name="Group 11"/>
          <p:cNvGrpSpPr/>
          <p:nvPr/>
        </p:nvGrpSpPr>
        <p:grpSpPr>
          <a:xfrm>
            <a:off x="3430530" y="2897427"/>
            <a:ext cx="1390709" cy="873572"/>
            <a:chOff x="0" y="0"/>
            <a:chExt cx="1390708" cy="873571"/>
          </a:xfrm>
        </p:grpSpPr>
        <p:sp>
          <p:nvSpPr>
            <p:cNvPr id="192" name="Rectangle: Rounded Corners 12"/>
            <p:cNvSpPr/>
            <p:nvPr/>
          </p:nvSpPr>
          <p:spPr>
            <a:xfrm>
              <a:off x="0" y="0"/>
              <a:ext cx="1390709" cy="873572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95" name="Rectangle: Rounded Corners 13"/>
            <p:cNvGrpSpPr/>
            <p:nvPr/>
          </p:nvGrpSpPr>
          <p:grpSpPr>
            <a:xfrm>
              <a:off x="76327" y="88203"/>
              <a:ext cx="1238056" cy="697165"/>
              <a:chOff x="0" y="0"/>
              <a:chExt cx="1238055" cy="697163"/>
            </a:xfrm>
          </p:grpSpPr>
          <p:sp>
            <p:nvSpPr>
              <p:cNvPr id="193" name="Rounded Rectangle"/>
              <p:cNvSpPr/>
              <p:nvPr/>
            </p:nvSpPr>
            <p:spPr>
              <a:xfrm>
                <a:off x="0" y="0"/>
                <a:ext cx="1238056" cy="697164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94" name="Sorted"/>
              <p:cNvSpPr txBox="1"/>
              <p:nvPr/>
            </p:nvSpPr>
            <p:spPr>
              <a:xfrm>
                <a:off x="34032" y="150461"/>
                <a:ext cx="1169991" cy="3962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2000"/>
                </a:lvl1pPr>
              </a:lstStyle>
              <a:p>
                <a:r>
                  <a:t>Sorted</a:t>
                </a:r>
              </a:p>
            </p:txBody>
          </p:sp>
        </p:grpSp>
      </p:grpSp>
      <p:grpSp>
        <p:nvGrpSpPr>
          <p:cNvPr id="201" name="Group 22"/>
          <p:cNvGrpSpPr/>
          <p:nvPr/>
        </p:nvGrpSpPr>
        <p:grpSpPr>
          <a:xfrm>
            <a:off x="7727877" y="2121918"/>
            <a:ext cx="1614225" cy="2432087"/>
            <a:chOff x="0" y="0"/>
            <a:chExt cx="1614224" cy="2432086"/>
          </a:xfrm>
        </p:grpSpPr>
        <p:sp>
          <p:nvSpPr>
            <p:cNvPr id="197" name="Rectangle 23"/>
            <p:cNvSpPr/>
            <p:nvPr/>
          </p:nvSpPr>
          <p:spPr>
            <a:xfrm>
              <a:off x="-1" y="0"/>
              <a:ext cx="1614226" cy="2432087"/>
            </a:xfrm>
            <a:prstGeom prst="roundRect">
              <a:avLst>
                <a:gd name="adj" fmla="val 6461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00" name="Rectangle 24"/>
            <p:cNvGrpSpPr/>
            <p:nvPr/>
          </p:nvGrpSpPr>
          <p:grpSpPr>
            <a:xfrm>
              <a:off x="84964" y="103521"/>
              <a:ext cx="1444296" cy="2225041"/>
              <a:chOff x="0" y="0"/>
              <a:chExt cx="1444295" cy="2225039"/>
            </a:xfrm>
          </p:grpSpPr>
          <p:sp>
            <p:nvSpPr>
              <p:cNvPr id="198" name="Rounded Rectangle"/>
              <p:cNvSpPr/>
              <p:nvPr/>
            </p:nvSpPr>
            <p:spPr>
              <a:xfrm>
                <a:off x="0" y="3547"/>
                <a:ext cx="1444296" cy="2217946"/>
              </a:xfrm>
              <a:prstGeom prst="roundRect">
                <a:avLst>
                  <a:gd name="adj" fmla="val 8111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99" name="Bag…"/>
              <p:cNvSpPr txBox="1"/>
              <p:nvPr/>
            </p:nvSpPr>
            <p:spPr>
              <a:xfrm>
                <a:off x="34310" y="0"/>
                <a:ext cx="1375675" cy="222504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Bag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t>BiMap</a:t>
                </a:r>
              </a:p>
              <a:p>
                <a:pPr>
                  <a:defRPr sz="2000"/>
                </a:pPr>
                <a:r>
                  <a:t>Interval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List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t>Map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Set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Stack</a:t>
                </a:r>
              </a:p>
            </p:txBody>
          </p:sp>
        </p:grpSp>
      </p:grpSp>
      <p:sp>
        <p:nvSpPr>
          <p:cNvPr id="202" name="Straight Arrow Connector 26"/>
          <p:cNvSpPr/>
          <p:nvPr/>
        </p:nvSpPr>
        <p:spPr>
          <a:xfrm flipV="1">
            <a:off x="2779878" y="3334213"/>
            <a:ext cx="650652" cy="10052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3" name="Straight Arrow Connector 27"/>
          <p:cNvSpPr/>
          <p:nvPr/>
        </p:nvSpPr>
        <p:spPr>
          <a:xfrm>
            <a:off x="4821237" y="3334213"/>
            <a:ext cx="531117" cy="1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4" name="Freeform: Shape 37"/>
          <p:cNvSpPr/>
          <p:nvPr/>
        </p:nvSpPr>
        <p:spPr>
          <a:xfrm>
            <a:off x="2779878" y="2210491"/>
            <a:ext cx="2568627" cy="8983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541" extrusionOk="0">
                <a:moveTo>
                  <a:pt x="0" y="20541"/>
                </a:moveTo>
                <a:cubicBezTo>
                  <a:pt x="3522" y="20430"/>
                  <a:pt x="3247" y="20375"/>
                  <a:pt x="3987" y="15894"/>
                </a:cubicBezTo>
                <a:cubicBezTo>
                  <a:pt x="4727" y="11414"/>
                  <a:pt x="5137" y="4278"/>
                  <a:pt x="6788" y="1955"/>
                </a:cubicBezTo>
                <a:cubicBezTo>
                  <a:pt x="8439" y="-368"/>
                  <a:pt x="11888" y="-921"/>
                  <a:pt x="13893" y="1955"/>
                </a:cubicBezTo>
                <a:cubicBezTo>
                  <a:pt x="15897" y="4832"/>
                  <a:pt x="17530" y="16116"/>
                  <a:pt x="18815" y="19213"/>
                </a:cubicBezTo>
                <a:cubicBezTo>
                  <a:pt x="19530" y="20679"/>
                  <a:pt x="19765" y="20377"/>
                  <a:pt x="21600" y="20541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09" name="Group 38"/>
          <p:cNvGrpSpPr/>
          <p:nvPr/>
        </p:nvGrpSpPr>
        <p:grpSpPr>
          <a:xfrm>
            <a:off x="9744261" y="3032491"/>
            <a:ext cx="1587612" cy="610939"/>
            <a:chOff x="0" y="0"/>
            <a:chExt cx="1587610" cy="610937"/>
          </a:xfrm>
        </p:grpSpPr>
        <p:sp>
          <p:nvSpPr>
            <p:cNvPr id="205" name="Rectangle 39"/>
            <p:cNvSpPr/>
            <p:nvPr/>
          </p:nvSpPr>
          <p:spPr>
            <a:xfrm>
              <a:off x="0" y="0"/>
              <a:ext cx="1587611" cy="610938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08" name="Rectangle 40"/>
            <p:cNvGrpSpPr/>
            <p:nvPr/>
          </p:nvGrpSpPr>
          <p:grpSpPr>
            <a:xfrm>
              <a:off x="58801" y="61685"/>
              <a:ext cx="1470012" cy="487567"/>
              <a:chOff x="0" y="0"/>
              <a:chExt cx="1470011" cy="487565"/>
            </a:xfrm>
          </p:grpSpPr>
          <p:sp>
            <p:nvSpPr>
              <p:cNvPr id="206" name="Rounded Rectangle"/>
              <p:cNvSpPr/>
              <p:nvPr/>
            </p:nvSpPr>
            <p:spPr>
              <a:xfrm>
                <a:off x="0" y="0"/>
                <a:ext cx="1470012" cy="48756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07" name="Multimap"/>
              <p:cNvSpPr txBox="1"/>
              <p:nvPr/>
            </p:nvSpPr>
            <p:spPr>
              <a:xfrm>
                <a:off x="23800" y="45662"/>
                <a:ext cx="1422411" cy="3962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2000"/>
                </a:lvl1pPr>
              </a:lstStyle>
              <a:p>
                <a:r>
                  <a:t>Multimap</a:t>
                </a:r>
              </a:p>
            </p:txBody>
          </p:sp>
        </p:grpSp>
      </p:grpSp>
      <p:sp>
        <p:nvSpPr>
          <p:cNvPr id="233" name="Straight Arrow Connector 41"/>
          <p:cNvSpPr/>
          <p:nvPr/>
        </p:nvSpPr>
        <p:spPr>
          <a:xfrm>
            <a:off x="9348317" y="3337960"/>
            <a:ext cx="389595" cy="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1" name="Slide Number Placeholder 47"/>
          <p:cNvSpPr txBox="1">
            <a:spLocks noGrp="1"/>
          </p:cNvSpPr>
          <p:nvPr>
            <p:ph type="sldNum" sz="quarter" idx="2"/>
          </p:nvPr>
        </p:nvSpPr>
        <p:spPr>
          <a:xfrm>
            <a:off x="11164902" y="6404292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6</a:t>
            </a:fld>
            <a:endParaRPr/>
          </a:p>
        </p:txBody>
      </p:sp>
      <p:grpSp>
        <p:nvGrpSpPr>
          <p:cNvPr id="216" name="Group 48"/>
          <p:cNvGrpSpPr/>
          <p:nvPr/>
        </p:nvGrpSpPr>
        <p:grpSpPr>
          <a:xfrm>
            <a:off x="8152724" y="5426287"/>
            <a:ext cx="2358205" cy="1007589"/>
            <a:chOff x="0" y="0"/>
            <a:chExt cx="2358203" cy="1007588"/>
          </a:xfrm>
        </p:grpSpPr>
        <p:sp>
          <p:nvSpPr>
            <p:cNvPr id="212" name="Rectangle 49"/>
            <p:cNvSpPr/>
            <p:nvPr/>
          </p:nvSpPr>
          <p:spPr>
            <a:xfrm>
              <a:off x="0" y="0"/>
              <a:ext cx="2358204" cy="1007589"/>
            </a:xfrm>
            <a:prstGeom prst="roundRect">
              <a:avLst>
                <a:gd name="adj" fmla="val 7674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15" name="Rectangle 50"/>
            <p:cNvGrpSpPr/>
            <p:nvPr/>
          </p:nvGrpSpPr>
          <p:grpSpPr>
            <a:xfrm>
              <a:off x="109825" y="92239"/>
              <a:ext cx="2138551" cy="823110"/>
              <a:chOff x="0" y="0"/>
              <a:chExt cx="2138550" cy="823109"/>
            </a:xfrm>
          </p:grpSpPr>
          <p:sp>
            <p:nvSpPr>
              <p:cNvPr id="213" name="Rounded Rectangle"/>
              <p:cNvSpPr/>
              <p:nvPr/>
            </p:nvSpPr>
            <p:spPr>
              <a:xfrm>
                <a:off x="0" y="0"/>
                <a:ext cx="2138551" cy="823110"/>
              </a:xfrm>
              <a:prstGeom prst="roundRect">
                <a:avLst>
                  <a:gd name="adj" fmla="val 2656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14" name="*.asLazy()…"/>
              <p:cNvSpPr txBox="1"/>
              <p:nvPr/>
            </p:nvSpPr>
            <p:spPr>
              <a:xfrm>
                <a:off x="6402" y="61034"/>
                <a:ext cx="2125746" cy="701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*.asLazy()</a:t>
                </a:r>
              </a:p>
              <a:p>
                <a:pPr>
                  <a:defRPr sz="2000"/>
                </a:pPr>
                <a:r>
                  <a:t>*.asParallel()</a:t>
                </a:r>
              </a:p>
            </p:txBody>
          </p:sp>
        </p:grpSp>
      </p:grpSp>
      <p:grpSp>
        <p:nvGrpSpPr>
          <p:cNvPr id="221" name="Group 51"/>
          <p:cNvGrpSpPr/>
          <p:nvPr/>
        </p:nvGrpSpPr>
        <p:grpSpPr>
          <a:xfrm>
            <a:off x="5352353" y="1728802"/>
            <a:ext cx="1614226" cy="3210823"/>
            <a:chOff x="0" y="0"/>
            <a:chExt cx="1614224" cy="3210822"/>
          </a:xfrm>
        </p:grpSpPr>
        <p:sp>
          <p:nvSpPr>
            <p:cNvPr id="217" name="Rectangle: Rounded Corners 52"/>
            <p:cNvSpPr/>
            <p:nvPr/>
          </p:nvSpPr>
          <p:spPr>
            <a:xfrm>
              <a:off x="-1" y="0"/>
              <a:ext cx="1614226" cy="3210823"/>
            </a:xfrm>
            <a:prstGeom prst="roundRect">
              <a:avLst>
                <a:gd name="adj" fmla="val 6460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20" name="Rectangle: Rounded Corners 53"/>
            <p:cNvGrpSpPr/>
            <p:nvPr/>
          </p:nvGrpSpPr>
          <p:grpSpPr>
            <a:xfrm>
              <a:off x="88595" y="80797"/>
              <a:ext cx="1437038" cy="3049227"/>
              <a:chOff x="0" y="0"/>
              <a:chExt cx="1437037" cy="3049225"/>
            </a:xfrm>
          </p:grpSpPr>
          <p:sp>
            <p:nvSpPr>
              <p:cNvPr id="218" name="Rounded Rectangle"/>
              <p:cNvSpPr/>
              <p:nvPr/>
            </p:nvSpPr>
            <p:spPr>
              <a:xfrm>
                <a:off x="0" y="0"/>
                <a:ext cx="1437038" cy="3049226"/>
              </a:xfrm>
              <a:prstGeom prst="roundRect">
                <a:avLst>
                  <a:gd name="adj" fmla="val 6348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19" name="Boolean…"/>
              <p:cNvSpPr txBox="1"/>
              <p:nvPr/>
            </p:nvSpPr>
            <p:spPr>
              <a:xfrm>
                <a:off x="26717" y="107293"/>
                <a:ext cx="1383603" cy="28346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rPr dirty="0"/>
                  <a:t>Boolean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Byte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Char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Double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Float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Int</a:t>
                </a:r>
              </a:p>
              <a:p>
                <a:pPr>
                  <a:defRPr sz="2000"/>
                </a:pPr>
                <a:r>
                  <a:rPr dirty="0"/>
                  <a:t>Long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rPr dirty="0"/>
                  <a:t>Object</a:t>
                </a:r>
              </a:p>
              <a:p>
                <a:pPr>
                  <a:defRPr sz="2000"/>
                </a:pPr>
                <a:r>
                  <a:rPr dirty="0"/>
                  <a:t>Short</a:t>
                </a:r>
              </a:p>
            </p:txBody>
          </p:sp>
        </p:grpSp>
      </p:grpSp>
      <p:sp>
        <p:nvSpPr>
          <p:cNvPr id="222" name="Freeform: Shape 54"/>
          <p:cNvSpPr/>
          <p:nvPr/>
        </p:nvSpPr>
        <p:spPr>
          <a:xfrm>
            <a:off x="2783729" y="1195069"/>
            <a:ext cx="4944148" cy="17352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674" extrusionOk="0">
                <a:moveTo>
                  <a:pt x="0" y="20674"/>
                </a:moveTo>
                <a:cubicBezTo>
                  <a:pt x="1552" y="20635"/>
                  <a:pt x="1188" y="19003"/>
                  <a:pt x="1759" y="13983"/>
                </a:cubicBezTo>
                <a:cubicBezTo>
                  <a:pt x="2301" y="8828"/>
                  <a:pt x="2149" y="3448"/>
                  <a:pt x="4771" y="1504"/>
                </a:cubicBezTo>
                <a:cubicBezTo>
                  <a:pt x="7394" y="-440"/>
                  <a:pt x="14964" y="-826"/>
                  <a:pt x="17493" y="2319"/>
                </a:cubicBezTo>
                <a:cubicBezTo>
                  <a:pt x="20022" y="5465"/>
                  <a:pt x="19094" y="19977"/>
                  <a:pt x="19945" y="20375"/>
                </a:cubicBezTo>
                <a:cubicBezTo>
                  <a:pt x="20796" y="20774"/>
                  <a:pt x="20124" y="20472"/>
                  <a:pt x="21600" y="20674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3" name="Straight Arrow Connector 56"/>
          <p:cNvSpPr/>
          <p:nvPr/>
        </p:nvSpPr>
        <p:spPr>
          <a:xfrm>
            <a:off x="6966577" y="3334213"/>
            <a:ext cx="761300" cy="3750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24" name="Freeform: Shape 59"/>
          <p:cNvSpPr/>
          <p:nvPr/>
        </p:nvSpPr>
        <p:spPr>
          <a:xfrm flipV="1">
            <a:off x="4821237" y="3592530"/>
            <a:ext cx="2902790" cy="18808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374" extrusionOk="0">
                <a:moveTo>
                  <a:pt x="0" y="20374"/>
                </a:moveTo>
                <a:cubicBezTo>
                  <a:pt x="2002" y="20099"/>
                  <a:pt x="2080" y="19964"/>
                  <a:pt x="2313" y="15733"/>
                </a:cubicBezTo>
                <a:cubicBezTo>
                  <a:pt x="2527" y="12539"/>
                  <a:pt x="2027" y="4014"/>
                  <a:pt x="4303" y="1745"/>
                </a:cubicBezTo>
                <a:cubicBezTo>
                  <a:pt x="6579" y="-525"/>
                  <a:pt x="13588" y="-762"/>
                  <a:pt x="15968" y="2118"/>
                </a:cubicBezTo>
                <a:cubicBezTo>
                  <a:pt x="18348" y="4997"/>
                  <a:pt x="17653" y="17207"/>
                  <a:pt x="18584" y="19022"/>
                </a:cubicBezTo>
                <a:cubicBezTo>
                  <a:pt x="19516" y="20838"/>
                  <a:pt x="19686" y="20134"/>
                  <a:pt x="21600" y="20374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5" name="Straight Arrow Connector 60"/>
          <p:cNvSpPr/>
          <p:nvPr/>
        </p:nvSpPr>
        <p:spPr>
          <a:xfrm rot="5400000">
            <a:off x="9195037" y="4083254"/>
            <a:ext cx="1782856" cy="9032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400" y="0"/>
                  <a:pt x="10800" y="5400"/>
                  <a:pt x="10800" y="10800"/>
                </a:cubicBezTo>
                <a:cubicBezTo>
                  <a:pt x="10800" y="16200"/>
                  <a:pt x="16200" y="21600"/>
                  <a:pt x="21600" y="21600"/>
                </a:cubicBezTo>
              </a:path>
            </a:pathLst>
          </a:custGeom>
          <a:ln w="38100">
            <a:solidFill>
              <a:srgbClr val="2E75B6"/>
            </a:solidFill>
            <a:prstDash val="sysDash"/>
            <a:miter/>
            <a:tailEnd type="triangle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226" name="Freeform: Shape 72"/>
          <p:cNvSpPr/>
          <p:nvPr/>
        </p:nvSpPr>
        <p:spPr>
          <a:xfrm>
            <a:off x="5062081" y="1457912"/>
            <a:ext cx="636604" cy="6316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92" h="20927" extrusionOk="0">
                <a:moveTo>
                  <a:pt x="21092" y="9386"/>
                </a:moveTo>
                <a:cubicBezTo>
                  <a:pt x="20852" y="5799"/>
                  <a:pt x="20611" y="2212"/>
                  <a:pt x="17485" y="970"/>
                </a:cubicBezTo>
                <a:cubicBezTo>
                  <a:pt x="14360" y="-272"/>
                  <a:pt x="5102" y="-673"/>
                  <a:pt x="2337" y="1932"/>
                </a:cubicBezTo>
                <a:cubicBezTo>
                  <a:pt x="-428" y="4537"/>
                  <a:pt x="-508" y="13433"/>
                  <a:pt x="895" y="16599"/>
                </a:cubicBezTo>
                <a:cubicBezTo>
                  <a:pt x="2297" y="19765"/>
                  <a:pt x="4842" y="19504"/>
                  <a:pt x="10753" y="20927"/>
                </a:cubicBezTo>
              </a:path>
            </a:pathLst>
          </a:custGeom>
          <a:ln w="38100">
            <a:solidFill>
              <a:srgbClr val="33CC33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31" name="Group 8"/>
          <p:cNvGrpSpPr/>
          <p:nvPr/>
        </p:nvGrpSpPr>
        <p:grpSpPr>
          <a:xfrm>
            <a:off x="785795" y="2812750"/>
            <a:ext cx="1997933" cy="1063029"/>
            <a:chOff x="0" y="0"/>
            <a:chExt cx="1997931" cy="1063028"/>
          </a:xfrm>
        </p:grpSpPr>
        <p:sp>
          <p:nvSpPr>
            <p:cNvPr id="227" name="Rectangle: Rounded Corners 9"/>
            <p:cNvSpPr/>
            <p:nvPr/>
          </p:nvSpPr>
          <p:spPr>
            <a:xfrm>
              <a:off x="0" y="0"/>
              <a:ext cx="1997932" cy="1063029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30" name="Rectangle: Rounded Corners 10"/>
            <p:cNvGrpSpPr/>
            <p:nvPr/>
          </p:nvGrpSpPr>
          <p:grpSpPr>
            <a:xfrm>
              <a:off x="73694" y="79691"/>
              <a:ext cx="1850544" cy="903645"/>
              <a:chOff x="0" y="0"/>
              <a:chExt cx="1850543" cy="903644"/>
            </a:xfrm>
          </p:grpSpPr>
          <p:sp>
            <p:nvSpPr>
              <p:cNvPr id="228" name="Rounded Rectangle"/>
              <p:cNvSpPr/>
              <p:nvPr/>
            </p:nvSpPr>
            <p:spPr>
              <a:xfrm>
                <a:off x="0" y="0"/>
                <a:ext cx="1850544" cy="903645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29" name="Immutable…"/>
              <p:cNvSpPr txBox="1"/>
              <p:nvPr/>
            </p:nvSpPr>
            <p:spPr>
              <a:xfrm>
                <a:off x="44112" y="101301"/>
                <a:ext cx="1762319" cy="701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Immutable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Mutable</a:t>
                </a:r>
              </a:p>
            </p:txBody>
          </p:sp>
        </p:grpSp>
      </p:grpSp>
      <p:sp>
        <p:nvSpPr>
          <p:cNvPr id="232" name="TextBox 2"/>
          <p:cNvSpPr txBox="1"/>
          <p:nvPr/>
        </p:nvSpPr>
        <p:spPr>
          <a:xfrm>
            <a:off x="681973" y="4178417"/>
            <a:ext cx="4493975" cy="2301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MutableIntList</a:t>
            </a:r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LongStack</a:t>
            </a:r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SortedBagMultimap</a:t>
            </a:r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ImmutableObjectLongMap</a:t>
            </a:r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MutableSortedSetMultimap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Oval 29"/>
          <p:cNvSpPr/>
          <p:nvPr/>
        </p:nvSpPr>
        <p:spPr>
          <a:xfrm>
            <a:off x="1184563" y="4800600"/>
            <a:ext cx="9822874" cy="1822856"/>
          </a:xfrm>
          <a:prstGeom prst="ellipse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6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Instantiate Them Using Factories</a:t>
            </a:r>
          </a:p>
        </p:txBody>
      </p:sp>
      <p:sp>
        <p:nvSpPr>
          <p:cNvPr id="237" name="Slide Number Placeholder 47"/>
          <p:cNvSpPr txBox="1">
            <a:spLocks noGrp="1"/>
          </p:cNvSpPr>
          <p:nvPr>
            <p:ph type="sldNum" sz="quarter" idx="2"/>
          </p:nvPr>
        </p:nvSpPr>
        <p:spPr>
          <a:xfrm>
            <a:off x="11164902" y="6404292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7</a:t>
            </a:fld>
            <a:endParaRPr/>
          </a:p>
        </p:txBody>
      </p:sp>
      <p:graphicFrame>
        <p:nvGraphicFramePr>
          <p:cNvPr id="238" name="Table 3"/>
          <p:cNvGraphicFramePr/>
          <p:nvPr/>
        </p:nvGraphicFramePr>
        <p:xfrm>
          <a:off x="1052945" y="1294627"/>
          <a:ext cx="10086111" cy="3474720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11732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3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0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47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16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171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Primitive Type</a:t>
                      </a:r>
                    </a:p>
                  </a:txBody>
                  <a:tcPr marL="45720" marR="45720" anchor="b" horzOverflow="overflow">
                    <a:lnL w="38100">
                      <a:solidFill>
                        <a:srgbClr val="FFFFFF"/>
                      </a:solidFill>
                    </a:lnL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Container Type</a:t>
                      </a:r>
                    </a:p>
                  </a:txBody>
                  <a:tcPr marL="45720" marR="45720" anchor="b" horzOverflow="overflow"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Mutability</a:t>
                      </a:r>
                    </a:p>
                  </a:txBody>
                  <a:tcPr marL="45720" marR="45720" anchor="b" horzOverflow="overflow"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Multimap</a:t>
                      </a:r>
                    </a:p>
                  </a:txBody>
                  <a:tcPr marL="45720" marR="45720" anchor="b" horzOverflow="overflow"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Initialized</a:t>
                      </a:r>
                    </a:p>
                  </a:txBody>
                  <a:tcPr marL="45720" marR="45720" anchor="b" horzOverflow="overflow"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Lazy</a:t>
                      </a:r>
                    </a:p>
                  </a:txBody>
                  <a:tcPr marL="45720" marR="45720" anchor="b" horzOverflow="overflow">
                    <a:lnB w="12700">
                      <a:solidFill>
                        <a:srgbClr val="000000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Boolean</a:t>
                      </a:r>
                      <a:br/>
                      <a:r>
                        <a:t>Byte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Char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Double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Float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Int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Long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Object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Short</a:t>
                      </a:r>
                    </a:p>
                  </a:txBody>
                  <a:tcPr marL="45720" marR="45720" horzOverflow="overflow">
                    <a:lnL w="38100">
                      <a:solidFill>
                        <a:srgbClr val="FFFFFF"/>
                      </a:solidFill>
                    </a:lnL>
                    <a:lnT w="12700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Bags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BiMaps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Lists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Maps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Multimaps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Sets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SortedBags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SortedMaps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SortedSets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Stacks</a:t>
                      </a:r>
                    </a:p>
                  </a:txBody>
                  <a:tcPr marL="45720" marR="45720" horzOverflow="overflow">
                    <a:lnT w="12700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.mutable
.immutable
.fixedSize</a:t>
                      </a:r>
                    </a:p>
                  </a:txBody>
                  <a:tcPr marL="45720" marR="45720" horzOverflow="overflow">
                    <a:lnT w="12700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.bag
.list
.set
.sortedSet</a:t>
                      </a:r>
                    </a:p>
                  </a:txBody>
                  <a:tcPr marL="45720" marR="45720" horzOverflow="overflow">
                    <a:lnT w="12700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.empty()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.of()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.with()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.of(one)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.with(one)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   ...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.of(one,…,ten)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.with(one,…,ten)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.of(... elements)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.with(... elements)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.ofAll(Iterable)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.withAll(Iterable)</a:t>
                      </a:r>
                    </a:p>
                  </a:txBody>
                  <a:tcPr marL="45720" marR="45720" horzOverflow="overflow">
                    <a:lnT w="12700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.asLazy()</a:t>
                      </a:r>
                    </a:p>
                  </a:txBody>
                  <a:tcPr marL="45720" marR="45720" horzOverflow="overflow">
                    <a:lnT w="12700">
                      <a:solidFill>
                        <a:srgbClr val="000000"/>
                      </a:solidFill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9" name="Rectangle 3"/>
          <p:cNvSpPr txBox="1"/>
          <p:nvPr/>
        </p:nvSpPr>
        <p:spPr>
          <a:xfrm>
            <a:off x="1492827" y="5458909"/>
            <a:ext cx="9206346" cy="434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LongStacks</a:t>
            </a:r>
            <a:r>
              <a:rPr>
                <a:solidFill>
                  <a:srgbClr val="000000"/>
                </a:solidFill>
              </a:rPr>
              <a:t>.</a:t>
            </a:r>
            <a:r>
              <a:rPr b="1" i="1">
                <a:solidFill>
                  <a:srgbClr val="660E7A"/>
                </a:solidFill>
              </a:rPr>
              <a:t>immutable</a:t>
            </a:r>
            <a:r>
              <a:rPr>
                <a:solidFill>
                  <a:srgbClr val="000000"/>
                </a:solidFill>
              </a:rPr>
              <a:t>.with(</a:t>
            </a:r>
            <a:r>
              <a:rPr>
                <a:solidFill>
                  <a:srgbClr val="0000FF"/>
                </a:solidFill>
              </a:rPr>
              <a:t>1</a:t>
            </a:r>
            <a:r>
              <a:rPr>
                <a:solidFill>
                  <a:srgbClr val="000000"/>
                </a:solidFill>
              </a:rPr>
              <a:t>, </a:t>
            </a:r>
            <a:r>
              <a:rPr>
                <a:solidFill>
                  <a:srgbClr val="0000FF"/>
                </a:solidFill>
              </a:rPr>
              <a:t>2</a:t>
            </a:r>
            <a:r>
              <a:rPr>
                <a:solidFill>
                  <a:srgbClr val="000000"/>
                </a:solidFill>
              </a:rPr>
              <a:t>, </a:t>
            </a:r>
            <a:r>
              <a:rPr>
                <a:solidFill>
                  <a:srgbClr val="0000FF"/>
                </a:solidFill>
              </a:rPr>
              <a:t>3</a:t>
            </a:r>
            <a:r>
              <a:rPr>
                <a:solidFill>
                  <a:srgbClr val="000000"/>
                </a:solidFill>
              </a:rPr>
              <a:t>).asLazy()</a:t>
            </a:r>
          </a:p>
        </p:txBody>
      </p:sp>
      <p:pic>
        <p:nvPicPr>
          <p:cNvPr id="240" name="Graphic 16" descr="Graphic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944" y="5317988"/>
            <a:ext cx="914401" cy="914401"/>
          </a:xfrm>
          <a:prstGeom prst="rect">
            <a:avLst/>
          </a:prstGeom>
          <a:ln w="12700">
            <a:miter lim="400000"/>
          </a:ln>
        </p:spPr>
      </p:pic>
      <p:sp>
        <p:nvSpPr>
          <p:cNvPr id="241" name="Right Brace 19"/>
          <p:cNvSpPr/>
          <p:nvPr/>
        </p:nvSpPr>
        <p:spPr>
          <a:xfrm rot="5400000">
            <a:off x="5964999" y="2154527"/>
            <a:ext cx="262003" cy="77985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965" y="0"/>
                  <a:pt x="10800" y="594"/>
                  <a:pt x="10800" y="1327"/>
                </a:cubicBezTo>
                <a:lnTo>
                  <a:pt x="10800" y="9473"/>
                </a:lnTo>
                <a:cubicBezTo>
                  <a:pt x="10800" y="10206"/>
                  <a:pt x="15635" y="10800"/>
                  <a:pt x="21600" y="10800"/>
                </a:cubicBezTo>
                <a:cubicBezTo>
                  <a:pt x="15635" y="10800"/>
                  <a:pt x="10800" y="11394"/>
                  <a:pt x="10800" y="12127"/>
                </a:cubicBezTo>
                <a:lnTo>
                  <a:pt x="10800" y="20273"/>
                </a:lnTo>
                <a:cubicBezTo>
                  <a:pt x="10800" y="21006"/>
                  <a:pt x="5965" y="21600"/>
                  <a:pt x="0" y="21600"/>
                </a:cubicBezTo>
              </a:path>
            </a:pathLst>
          </a:custGeom>
          <a:ln w="1905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 algn="ctr"/>
            <a:endParaRPr/>
          </a:p>
        </p:txBody>
      </p:sp>
      <p:sp>
        <p:nvSpPr>
          <p:cNvPr id="242" name="Right Brace 43"/>
          <p:cNvSpPr/>
          <p:nvPr/>
        </p:nvSpPr>
        <p:spPr>
          <a:xfrm rot="16200000" flipV="1">
            <a:off x="5149215" y="2353173"/>
            <a:ext cx="197913" cy="61706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965" y="0"/>
                  <a:pt x="10800" y="567"/>
                  <a:pt x="10800" y="1267"/>
                </a:cubicBezTo>
                <a:lnTo>
                  <a:pt x="10800" y="9533"/>
                </a:lnTo>
                <a:cubicBezTo>
                  <a:pt x="10800" y="10233"/>
                  <a:pt x="15635" y="10800"/>
                  <a:pt x="21600" y="10800"/>
                </a:cubicBezTo>
                <a:cubicBezTo>
                  <a:pt x="15635" y="10800"/>
                  <a:pt x="10800" y="11367"/>
                  <a:pt x="10800" y="12067"/>
                </a:cubicBezTo>
                <a:lnTo>
                  <a:pt x="10800" y="20333"/>
                </a:lnTo>
                <a:cubicBezTo>
                  <a:pt x="10800" y="21033"/>
                  <a:pt x="5965" y="21600"/>
                  <a:pt x="0" y="21600"/>
                </a:cubicBezTo>
              </a:path>
            </a:pathLst>
          </a:custGeom>
          <a:ln w="1905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 algn="ctr"/>
            <a:endParaRPr/>
          </a:p>
        </p:txBody>
      </p:sp>
      <p:sp>
        <p:nvSpPr>
          <p:cNvPr id="243" name="TextBox 20"/>
          <p:cNvSpPr txBox="1"/>
          <p:nvPr/>
        </p:nvSpPr>
        <p:spPr>
          <a:xfrm>
            <a:off x="4580652" y="6068286"/>
            <a:ext cx="3030697" cy="434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LazyLongIterable</a:t>
            </a:r>
          </a:p>
        </p:txBody>
      </p:sp>
      <p:sp>
        <p:nvSpPr>
          <p:cNvPr id="244" name="Rectangle 7"/>
          <p:cNvSpPr txBox="1"/>
          <p:nvPr/>
        </p:nvSpPr>
        <p:spPr>
          <a:xfrm>
            <a:off x="3255820" y="4794967"/>
            <a:ext cx="3969329" cy="434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ImmutableLongStack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Methods by Category - Highlights</a:t>
            </a:r>
          </a:p>
        </p:txBody>
      </p:sp>
      <p:sp>
        <p:nvSpPr>
          <p:cNvPr id="247" name="Slide Number Placeholder 2"/>
          <p:cNvSpPr txBox="1">
            <a:spLocks noGrp="1"/>
          </p:cNvSpPr>
          <p:nvPr>
            <p:ph type="sldNum" sz="quarter" idx="2"/>
          </p:nvPr>
        </p:nvSpPr>
        <p:spPr>
          <a:xfrm>
            <a:off x="11164902" y="6404292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8</a:t>
            </a:fld>
            <a:endParaRPr/>
          </a:p>
        </p:txBody>
      </p:sp>
      <p:grpSp>
        <p:nvGrpSpPr>
          <p:cNvPr id="253" name="Group 10"/>
          <p:cNvGrpSpPr/>
          <p:nvPr/>
        </p:nvGrpSpPr>
        <p:grpSpPr>
          <a:xfrm>
            <a:off x="552431" y="1128886"/>
            <a:ext cx="5543569" cy="2700772"/>
            <a:chOff x="0" y="0"/>
            <a:chExt cx="5543567" cy="2700770"/>
          </a:xfrm>
        </p:grpSpPr>
        <p:grpSp>
          <p:nvGrpSpPr>
            <p:cNvPr id="250" name="Rectangle 3"/>
            <p:cNvGrpSpPr/>
            <p:nvPr/>
          </p:nvGrpSpPr>
          <p:grpSpPr>
            <a:xfrm>
              <a:off x="6" y="0"/>
              <a:ext cx="5543562" cy="650790"/>
              <a:chOff x="0" y="0"/>
              <a:chExt cx="5543561" cy="650789"/>
            </a:xfrm>
          </p:grpSpPr>
          <p:sp>
            <p:nvSpPr>
              <p:cNvPr id="248" name="Rectangle"/>
              <p:cNvSpPr/>
              <p:nvPr/>
            </p:nvSpPr>
            <p:spPr>
              <a:xfrm>
                <a:off x="-1" y="-1"/>
                <a:ext cx="5543563" cy="650791"/>
              </a:xfrm>
              <a:prstGeom prst="rect">
                <a:avLst/>
              </a:prstGeom>
              <a:solidFill>
                <a:srgbClr val="F2F2F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49" name="transform"/>
              <p:cNvSpPr txBox="1"/>
              <p:nvPr/>
            </p:nvSpPr>
            <p:spPr>
              <a:xfrm>
                <a:off x="-1" y="38374"/>
                <a:ext cx="5543563" cy="574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t>transform</a:t>
                </a:r>
              </a:p>
            </p:txBody>
          </p:sp>
        </p:grpSp>
        <p:sp>
          <p:nvSpPr>
            <p:cNvPr id="251" name="Rectangle 4"/>
            <p:cNvSpPr/>
            <p:nvPr/>
          </p:nvSpPr>
          <p:spPr>
            <a:xfrm>
              <a:off x="0" y="678930"/>
              <a:ext cx="5543562" cy="2021841"/>
            </a:xfrm>
            <a:prstGeom prst="rect">
              <a:avLst/>
            </a:prstGeom>
            <a:solidFill>
              <a:srgbClr val="F2F2F2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collect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collect</a:t>
              </a:r>
              <a:r>
                <a:rPr b="1">
                  <a:solidFill>
                    <a:srgbClr val="0066FF"/>
                  </a:solidFill>
                </a:rPr>
                <a:t>[Boolean,Byte,Char,Double,Float,Int,Long,Short]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collectIf</a:t>
              </a:r>
            </a:p>
            <a:p>
              <a:pPr>
                <a:defRPr sz="1600"/>
              </a:pPr>
              <a:r>
                <a:t>collectKeysAndValues</a:t>
              </a:r>
            </a:p>
            <a:p>
              <a:pPr>
                <a:defRPr sz="1600"/>
              </a:pPr>
              <a:r>
                <a:t>collectValues</a:t>
              </a:r>
            </a:p>
            <a:p>
              <a:pPr>
                <a:defRPr sz="1600"/>
              </a:pPr>
              <a:r>
                <a:t>collectWithIndex</a:t>
              </a:r>
            </a:p>
            <a:p>
              <a:pPr>
                <a:defRPr sz="1600"/>
              </a:pPr>
              <a:r>
                <a:t>collectWithOccurrences</a:t>
              </a:r>
            </a:p>
            <a:p>
              <a:pPr>
                <a:defRPr sz="1600"/>
              </a:pPr>
              <a:r>
                <a:t>flatCollect</a:t>
              </a:r>
            </a:p>
          </p:txBody>
        </p:sp>
        <p:sp>
          <p:nvSpPr>
            <p:cNvPr id="252" name="Straight Connector 9"/>
            <p:cNvSpPr/>
            <p:nvPr/>
          </p:nvSpPr>
          <p:spPr>
            <a:xfrm>
              <a:off x="4" y="650789"/>
              <a:ext cx="5543562" cy="1"/>
            </a:xfrm>
            <a:prstGeom prst="line">
              <a:avLst/>
            </a:prstGeom>
            <a:solidFill>
              <a:srgbClr val="F2F2F2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59" name="Group 11"/>
          <p:cNvGrpSpPr/>
          <p:nvPr/>
        </p:nvGrpSpPr>
        <p:grpSpPr>
          <a:xfrm>
            <a:off x="521346" y="4100167"/>
            <a:ext cx="2028572" cy="1978243"/>
            <a:chOff x="0" y="0"/>
            <a:chExt cx="2028570" cy="1978242"/>
          </a:xfrm>
        </p:grpSpPr>
        <p:grpSp>
          <p:nvGrpSpPr>
            <p:cNvPr id="256" name="Rectangle 12"/>
            <p:cNvGrpSpPr/>
            <p:nvPr/>
          </p:nvGrpSpPr>
          <p:grpSpPr>
            <a:xfrm>
              <a:off x="1" y="0"/>
              <a:ext cx="2028570" cy="650791"/>
              <a:chOff x="0" y="0"/>
              <a:chExt cx="2028569" cy="650790"/>
            </a:xfrm>
          </p:grpSpPr>
          <p:sp>
            <p:nvSpPr>
              <p:cNvPr id="254" name="Rectangle"/>
              <p:cNvSpPr/>
              <p:nvPr/>
            </p:nvSpPr>
            <p:spPr>
              <a:xfrm>
                <a:off x="-1" y="-1"/>
                <a:ext cx="2028571" cy="650792"/>
              </a:xfrm>
              <a:prstGeom prst="rect">
                <a:avLst/>
              </a:prstGeom>
              <a:solidFill>
                <a:srgbClr val="DEEBF7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55" name="wrap"/>
              <p:cNvSpPr txBox="1"/>
              <p:nvPr/>
            </p:nvSpPr>
            <p:spPr>
              <a:xfrm>
                <a:off x="-1" y="38375"/>
                <a:ext cx="2028571" cy="574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t>wrap</a:t>
                </a:r>
              </a:p>
            </p:txBody>
          </p:sp>
        </p:grpSp>
        <p:sp>
          <p:nvSpPr>
            <p:cNvPr id="257" name="Rectangle 13"/>
            <p:cNvSpPr/>
            <p:nvPr/>
          </p:nvSpPr>
          <p:spPr>
            <a:xfrm>
              <a:off x="0" y="680302"/>
              <a:ext cx="2028570" cy="1297941"/>
            </a:xfrm>
            <a:prstGeom prst="rect">
              <a:avLst/>
            </a:prstGeom>
            <a:solidFill>
              <a:srgbClr val="DEEBF7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asLazy</a:t>
              </a:r>
            </a:p>
            <a:p>
              <a:pPr>
                <a:defRPr sz="1600"/>
              </a:pPr>
              <a:r>
                <a:t>asParallel</a:t>
              </a:r>
            </a:p>
            <a:p>
              <a:pPr>
                <a:defRPr sz="1600"/>
              </a:pPr>
              <a:r>
                <a:t>asReversed</a:t>
              </a:r>
            </a:p>
            <a:p>
              <a:pPr>
                <a:defRPr sz="1600"/>
              </a:pPr>
              <a:r>
                <a:t>asSynchronized</a:t>
              </a:r>
            </a:p>
            <a:p>
              <a:pPr>
                <a:defRPr sz="1600"/>
              </a:pPr>
              <a:r>
                <a:t>asUnmodifiable</a:t>
              </a:r>
            </a:p>
          </p:txBody>
        </p:sp>
        <p:sp>
          <p:nvSpPr>
            <p:cNvPr id="258" name="Straight Connector 14"/>
            <p:cNvSpPr/>
            <p:nvPr/>
          </p:nvSpPr>
          <p:spPr>
            <a:xfrm>
              <a:off x="0" y="650790"/>
              <a:ext cx="2028570" cy="1"/>
            </a:xfrm>
            <a:prstGeom prst="line">
              <a:avLst/>
            </a:prstGeom>
            <a:solidFill>
              <a:srgbClr val="DEEBF7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65" name="Group 15"/>
          <p:cNvGrpSpPr/>
          <p:nvPr/>
        </p:nvGrpSpPr>
        <p:grpSpPr>
          <a:xfrm>
            <a:off x="7096362" y="1269358"/>
            <a:ext cx="1968761" cy="4152097"/>
            <a:chOff x="0" y="0"/>
            <a:chExt cx="1968760" cy="4152096"/>
          </a:xfrm>
        </p:grpSpPr>
        <p:grpSp>
          <p:nvGrpSpPr>
            <p:cNvPr id="262" name="Rectangle 16"/>
            <p:cNvGrpSpPr/>
            <p:nvPr/>
          </p:nvGrpSpPr>
          <p:grpSpPr>
            <a:xfrm>
              <a:off x="6" y="0"/>
              <a:ext cx="1968755" cy="650791"/>
              <a:chOff x="0" y="0"/>
              <a:chExt cx="1968754" cy="650790"/>
            </a:xfrm>
          </p:grpSpPr>
          <p:sp>
            <p:nvSpPr>
              <p:cNvPr id="260" name="Rectangle"/>
              <p:cNvSpPr/>
              <p:nvPr/>
            </p:nvSpPr>
            <p:spPr>
              <a:xfrm>
                <a:off x="-1" y="-1"/>
                <a:ext cx="1968756" cy="650792"/>
              </a:xfrm>
              <a:prstGeom prst="rect">
                <a:avLst/>
              </a:prstGeom>
              <a:solidFill>
                <a:srgbClr val="FBE5D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61" name="convert"/>
              <p:cNvSpPr txBox="1"/>
              <p:nvPr/>
            </p:nvSpPr>
            <p:spPr>
              <a:xfrm>
                <a:off x="-1" y="38375"/>
                <a:ext cx="1968756" cy="574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t>convert</a:t>
                </a:r>
              </a:p>
            </p:txBody>
          </p:sp>
        </p:grpSp>
        <p:sp>
          <p:nvSpPr>
            <p:cNvPr id="263" name="Rectangle 17"/>
            <p:cNvSpPr/>
            <p:nvPr/>
          </p:nvSpPr>
          <p:spPr>
            <a:xfrm>
              <a:off x="0" y="682455"/>
              <a:ext cx="1968755" cy="3469641"/>
            </a:xfrm>
            <a:prstGeom prst="rect">
              <a:avLst/>
            </a:prstGeom>
            <a:solidFill>
              <a:srgbClr val="FBE5D6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toArray</a:t>
              </a:r>
            </a:p>
            <a:p>
              <a:pPr>
                <a:defRPr sz="1600"/>
              </a:pPr>
              <a:r>
                <a:t>toBag</a:t>
              </a:r>
            </a:p>
            <a:p>
              <a:pPr>
                <a:defRPr sz="1600"/>
              </a:pPr>
              <a:r>
                <a:t>toImmutable</a:t>
              </a:r>
            </a:p>
            <a:p>
              <a:pPr>
                <a:defRPr sz="1600"/>
              </a:pPr>
              <a:r>
                <a:t>toList</a:t>
              </a:r>
            </a:p>
            <a:p>
              <a:pPr>
                <a:defRPr sz="1600"/>
              </a:pPr>
              <a:r>
                <a:t>toMap</a:t>
              </a:r>
            </a:p>
            <a:p>
              <a:pPr>
                <a:defRPr sz="1600"/>
              </a:pPr>
              <a:r>
                <a:t>toReversed</a:t>
              </a:r>
            </a:p>
            <a:p>
              <a:pPr>
                <a:defRPr sz="1600"/>
              </a:pPr>
              <a:r>
                <a:t>toSet</a:t>
              </a:r>
            </a:p>
            <a:p>
              <a:pPr>
                <a:defRPr sz="1600"/>
              </a:pPr>
              <a:r>
                <a:t>toSortedBag</a:t>
              </a:r>
              <a:r>
                <a:rPr b="1">
                  <a:solidFill>
                    <a:srgbClr val="0066FF"/>
                  </a:solidFill>
                </a:rPr>
                <a:t>[By]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toSortedList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  <a:p>
              <a:pPr>
                <a:defRPr sz="1600"/>
              </a:pPr>
              <a:r>
                <a:t>toSortedMap</a:t>
              </a:r>
            </a:p>
            <a:p>
              <a:pPr>
                <a:defRPr sz="1600"/>
              </a:pPr>
              <a:r>
                <a:t>toSortedSet</a:t>
              </a:r>
            </a:p>
            <a:p>
              <a:pPr>
                <a:defRPr sz="1600"/>
              </a:pPr>
              <a:r>
                <a:t>toSortedSet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  <a:p>
              <a:pPr>
                <a:defRPr sz="1600"/>
              </a:pPr>
              <a:r>
                <a:t>toStack</a:t>
              </a:r>
            </a:p>
            <a:p>
              <a:pPr>
                <a:defRPr sz="1600"/>
              </a:pPr>
              <a:r>
                <a:t>toString</a:t>
              </a:r>
            </a:p>
          </p:txBody>
        </p:sp>
        <p:sp>
          <p:nvSpPr>
            <p:cNvPr id="264" name="Straight Connector 18"/>
            <p:cNvSpPr/>
            <p:nvPr/>
          </p:nvSpPr>
          <p:spPr>
            <a:xfrm>
              <a:off x="5" y="650790"/>
              <a:ext cx="1968755" cy="1"/>
            </a:xfrm>
            <a:prstGeom prst="line">
              <a:avLst/>
            </a:prstGeom>
            <a:solidFill>
              <a:srgbClr val="FBE5D6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71" name="Group 19"/>
          <p:cNvGrpSpPr/>
          <p:nvPr/>
        </p:nvGrpSpPr>
        <p:grpSpPr>
          <a:xfrm>
            <a:off x="9251088" y="1591525"/>
            <a:ext cx="2241721" cy="2208200"/>
            <a:chOff x="0" y="0"/>
            <a:chExt cx="2241720" cy="2208199"/>
          </a:xfrm>
        </p:grpSpPr>
        <p:grpSp>
          <p:nvGrpSpPr>
            <p:cNvPr id="268" name="Rectangle 20"/>
            <p:cNvGrpSpPr/>
            <p:nvPr/>
          </p:nvGrpSpPr>
          <p:grpSpPr>
            <a:xfrm>
              <a:off x="2" y="0"/>
              <a:ext cx="2241719" cy="650791"/>
              <a:chOff x="0" y="0"/>
              <a:chExt cx="2241718" cy="650790"/>
            </a:xfrm>
          </p:grpSpPr>
          <p:sp>
            <p:nvSpPr>
              <p:cNvPr id="266" name="Rectangle"/>
              <p:cNvSpPr/>
              <p:nvPr/>
            </p:nvSpPr>
            <p:spPr>
              <a:xfrm>
                <a:off x="-1" y="-1"/>
                <a:ext cx="2241720" cy="650792"/>
              </a:xfrm>
              <a:prstGeom prst="rect">
                <a:avLst/>
              </a:prstGeom>
              <a:solidFill>
                <a:srgbClr val="DAE3F3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67" name="filter"/>
              <p:cNvSpPr txBox="1"/>
              <p:nvPr/>
            </p:nvSpPr>
            <p:spPr>
              <a:xfrm>
                <a:off x="-1" y="38375"/>
                <a:ext cx="2241720" cy="574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t>filter</a:t>
                </a:r>
              </a:p>
            </p:txBody>
          </p:sp>
        </p:grpSp>
        <p:sp>
          <p:nvSpPr>
            <p:cNvPr id="269" name="Rectangle 21"/>
            <p:cNvSpPr/>
            <p:nvPr/>
          </p:nvSpPr>
          <p:spPr>
            <a:xfrm>
              <a:off x="0" y="668959"/>
              <a:ext cx="2241719" cy="1539241"/>
            </a:xfrm>
            <a:prstGeom prst="rect">
              <a:avLst/>
            </a:prstGeom>
            <a:solidFill>
              <a:srgbClr val="DAE3F3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select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selectByOccurrences</a:t>
              </a:r>
            </a:p>
            <a:p>
              <a:pPr>
                <a:defRPr sz="1600"/>
              </a:pPr>
              <a:r>
                <a:t>selectInstancesOf</a:t>
              </a:r>
            </a:p>
            <a:p>
              <a:pPr>
                <a:defRPr sz="1600"/>
              </a:pPr>
              <a:r>
                <a:t>reject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partition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partitionWhile</a:t>
              </a:r>
            </a:p>
          </p:txBody>
        </p:sp>
        <p:sp>
          <p:nvSpPr>
            <p:cNvPr id="270" name="Straight Connector 22"/>
            <p:cNvSpPr/>
            <p:nvPr/>
          </p:nvSpPr>
          <p:spPr>
            <a:xfrm>
              <a:off x="1" y="650790"/>
              <a:ext cx="2241719" cy="1"/>
            </a:xfrm>
            <a:prstGeom prst="line">
              <a:avLst/>
            </a:prstGeom>
            <a:solidFill>
              <a:srgbClr val="DAE3F3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77" name="Group 28"/>
          <p:cNvGrpSpPr/>
          <p:nvPr/>
        </p:nvGrpSpPr>
        <p:grpSpPr>
          <a:xfrm>
            <a:off x="8927706" y="4369182"/>
            <a:ext cx="2028574" cy="1980257"/>
            <a:chOff x="0" y="0"/>
            <a:chExt cx="2028572" cy="1980256"/>
          </a:xfrm>
        </p:grpSpPr>
        <p:grpSp>
          <p:nvGrpSpPr>
            <p:cNvPr id="274" name="Rectangle 29"/>
            <p:cNvGrpSpPr/>
            <p:nvPr/>
          </p:nvGrpSpPr>
          <p:grpSpPr>
            <a:xfrm>
              <a:off x="3" y="0"/>
              <a:ext cx="2028570" cy="650791"/>
              <a:chOff x="0" y="0"/>
              <a:chExt cx="2028569" cy="650790"/>
            </a:xfrm>
          </p:grpSpPr>
          <p:sp>
            <p:nvSpPr>
              <p:cNvPr id="272" name="Rectangle"/>
              <p:cNvSpPr/>
              <p:nvPr/>
            </p:nvSpPr>
            <p:spPr>
              <a:xfrm>
                <a:off x="-1" y="-1"/>
                <a:ext cx="2028571" cy="650792"/>
              </a:xfrm>
              <a:prstGeom prst="rect">
                <a:avLst/>
              </a:prstGeom>
              <a:solidFill>
                <a:srgbClr val="FFF1E1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73" name="test"/>
              <p:cNvSpPr txBox="1"/>
              <p:nvPr/>
            </p:nvSpPr>
            <p:spPr>
              <a:xfrm>
                <a:off x="-1" y="38375"/>
                <a:ext cx="2028571" cy="574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t>test</a:t>
                </a:r>
              </a:p>
            </p:txBody>
          </p:sp>
        </p:grpSp>
        <p:sp>
          <p:nvSpPr>
            <p:cNvPr id="275" name="Rectangle 30"/>
            <p:cNvSpPr/>
            <p:nvPr/>
          </p:nvSpPr>
          <p:spPr>
            <a:xfrm>
              <a:off x="0" y="669616"/>
              <a:ext cx="2028570" cy="1310641"/>
            </a:xfrm>
            <a:prstGeom prst="rect">
              <a:avLst/>
            </a:prstGeom>
            <a:solidFill>
              <a:srgbClr val="FFF1E1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allSatisfy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anySatisfy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noneSatisfy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notEmpty</a:t>
              </a:r>
            </a:p>
            <a:p>
              <a:pPr>
                <a:defRPr sz="1600"/>
              </a:pPr>
              <a:r>
                <a:t>isEmpty</a:t>
              </a:r>
            </a:p>
          </p:txBody>
        </p:sp>
        <p:sp>
          <p:nvSpPr>
            <p:cNvPr id="276" name="Straight Connector 31"/>
            <p:cNvSpPr/>
            <p:nvPr/>
          </p:nvSpPr>
          <p:spPr>
            <a:xfrm>
              <a:off x="3" y="650790"/>
              <a:ext cx="2028570" cy="1"/>
            </a:xfrm>
            <a:prstGeom prst="line">
              <a:avLst/>
            </a:prstGeom>
            <a:solidFill>
              <a:srgbClr val="FFF1E1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83" name="Group 32"/>
          <p:cNvGrpSpPr/>
          <p:nvPr/>
        </p:nvGrpSpPr>
        <p:grpSpPr>
          <a:xfrm>
            <a:off x="2378424" y="4586861"/>
            <a:ext cx="2214036" cy="1967830"/>
            <a:chOff x="0" y="0"/>
            <a:chExt cx="2214035" cy="1967828"/>
          </a:xfrm>
        </p:grpSpPr>
        <p:grpSp>
          <p:nvGrpSpPr>
            <p:cNvPr id="280" name="Rectangle 33"/>
            <p:cNvGrpSpPr/>
            <p:nvPr/>
          </p:nvGrpSpPr>
          <p:grpSpPr>
            <a:xfrm>
              <a:off x="2" y="0"/>
              <a:ext cx="2214034" cy="650791"/>
              <a:chOff x="0" y="0"/>
              <a:chExt cx="2214033" cy="650790"/>
            </a:xfrm>
          </p:grpSpPr>
          <p:sp>
            <p:nvSpPr>
              <p:cNvPr id="278" name="Rectangle"/>
              <p:cNvSpPr/>
              <p:nvPr/>
            </p:nvSpPr>
            <p:spPr>
              <a:xfrm>
                <a:off x="-1" y="-1"/>
                <a:ext cx="2214035" cy="650792"/>
              </a:xfrm>
              <a:prstGeom prst="rect">
                <a:avLst/>
              </a:prstGeom>
              <a:solidFill>
                <a:srgbClr val="FFF2CC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79" name="find"/>
              <p:cNvSpPr txBox="1"/>
              <p:nvPr/>
            </p:nvSpPr>
            <p:spPr>
              <a:xfrm>
                <a:off x="-1" y="38375"/>
                <a:ext cx="2214035" cy="574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t>find</a:t>
                </a:r>
              </a:p>
            </p:txBody>
          </p:sp>
        </p:grpSp>
        <p:sp>
          <p:nvSpPr>
            <p:cNvPr id="281" name="Rectangle 34"/>
            <p:cNvSpPr/>
            <p:nvPr/>
          </p:nvSpPr>
          <p:spPr>
            <a:xfrm>
              <a:off x="0" y="657188"/>
              <a:ext cx="2214034" cy="1310641"/>
            </a:xfrm>
            <a:prstGeom prst="rect">
              <a:avLst/>
            </a:prstGeom>
            <a:solidFill>
              <a:srgbClr val="FFF2CC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r>
                <a:t>IfNone</a:t>
              </a:r>
            </a:p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r>
                <a:t>Optional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max</a:t>
              </a:r>
              <a:r>
                <a:rPr b="1">
                  <a:solidFill>
                    <a:srgbClr val="0066FF"/>
                  </a:solidFill>
                </a:rPr>
                <a:t>[By]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min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</p:txBody>
        </p:sp>
        <p:sp>
          <p:nvSpPr>
            <p:cNvPr id="282" name="Straight Connector 35"/>
            <p:cNvSpPr/>
            <p:nvPr/>
          </p:nvSpPr>
          <p:spPr>
            <a:xfrm>
              <a:off x="0" y="650790"/>
              <a:ext cx="2214034" cy="1"/>
            </a:xfrm>
            <a:prstGeom prst="line">
              <a:avLst/>
            </a:prstGeom>
            <a:solidFill>
              <a:srgbClr val="FFF2CC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89" name="Group 24"/>
          <p:cNvGrpSpPr/>
          <p:nvPr/>
        </p:nvGrpSpPr>
        <p:grpSpPr>
          <a:xfrm>
            <a:off x="3848574" y="2493104"/>
            <a:ext cx="3089566" cy="2478791"/>
            <a:chOff x="0" y="0"/>
            <a:chExt cx="3089565" cy="2478789"/>
          </a:xfrm>
        </p:grpSpPr>
        <p:grpSp>
          <p:nvGrpSpPr>
            <p:cNvPr id="286" name="Rectangle 25"/>
            <p:cNvGrpSpPr/>
            <p:nvPr/>
          </p:nvGrpSpPr>
          <p:grpSpPr>
            <a:xfrm>
              <a:off x="3" y="0"/>
              <a:ext cx="3089563" cy="650791"/>
              <a:chOff x="0" y="0"/>
              <a:chExt cx="3089561" cy="650790"/>
            </a:xfrm>
          </p:grpSpPr>
          <p:sp>
            <p:nvSpPr>
              <p:cNvPr id="284" name="Rectangle"/>
              <p:cNvSpPr/>
              <p:nvPr/>
            </p:nvSpPr>
            <p:spPr>
              <a:xfrm>
                <a:off x="0" y="-1"/>
                <a:ext cx="3089562" cy="650792"/>
              </a:xfrm>
              <a:prstGeom prst="rect">
                <a:avLst/>
              </a:prstGeom>
              <a:solidFill>
                <a:srgbClr val="E2F0D9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85" name="group"/>
              <p:cNvSpPr txBox="1"/>
              <p:nvPr/>
            </p:nvSpPr>
            <p:spPr>
              <a:xfrm>
                <a:off x="0" y="38375"/>
                <a:ext cx="3089562" cy="574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t>group</a:t>
                </a:r>
              </a:p>
            </p:txBody>
          </p:sp>
        </p:grpSp>
        <p:sp>
          <p:nvSpPr>
            <p:cNvPr id="287" name="Rectangle 26"/>
            <p:cNvSpPr/>
            <p:nvPr/>
          </p:nvSpPr>
          <p:spPr>
            <a:xfrm>
              <a:off x="0" y="685549"/>
              <a:ext cx="3089562" cy="1793241"/>
            </a:xfrm>
            <a:prstGeom prst="rect">
              <a:avLst/>
            </a:prstGeom>
            <a:solidFill>
              <a:srgbClr val="E2F0D9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groupBy</a:t>
              </a:r>
            </a:p>
            <a:p>
              <a:pPr>
                <a:defRPr sz="1600"/>
              </a:pPr>
              <a:r>
                <a:t>groupByEach</a:t>
              </a:r>
            </a:p>
            <a:p>
              <a:pPr>
                <a:defRPr sz="1600"/>
              </a:pPr>
              <a:r>
                <a:t>groupByUniqueKey</a:t>
              </a:r>
            </a:p>
            <a:p>
              <a:pPr>
                <a:defRPr sz="1600"/>
              </a:pPr>
              <a:r>
                <a:t>sumBy</a:t>
              </a:r>
              <a:r>
                <a:rPr b="1">
                  <a:solidFill>
                    <a:srgbClr val="0066FF"/>
                  </a:solidFill>
                </a:rPr>
                <a:t>[Double,Float,Int,Long]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sumOf</a:t>
              </a:r>
              <a:r>
                <a:rPr b="1">
                  <a:solidFill>
                    <a:srgbClr val="0066FF"/>
                  </a:solidFill>
                </a:rPr>
                <a:t>[Double,Float,Int,Long]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aggregateBy</a:t>
              </a:r>
            </a:p>
            <a:p>
              <a:pPr>
                <a:defRPr sz="1600"/>
              </a:pPr>
              <a:r>
                <a:t>aggregateInPlaceBy</a:t>
              </a:r>
            </a:p>
          </p:txBody>
        </p:sp>
        <p:sp>
          <p:nvSpPr>
            <p:cNvPr id="288" name="Straight Connector 27"/>
            <p:cNvSpPr/>
            <p:nvPr/>
          </p:nvSpPr>
          <p:spPr>
            <a:xfrm>
              <a:off x="0" y="650790"/>
              <a:ext cx="3089562" cy="1"/>
            </a:xfrm>
            <a:prstGeom prst="line">
              <a:avLst/>
            </a:prstGeom>
            <a:solidFill>
              <a:srgbClr val="E2F0D9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Methods – Lots More…</a:t>
            </a:r>
          </a:p>
        </p:txBody>
      </p:sp>
      <p:sp>
        <p:nvSpPr>
          <p:cNvPr id="292" name="Slide Number Placeholder 2"/>
          <p:cNvSpPr txBox="1">
            <a:spLocks noGrp="1"/>
          </p:cNvSpPr>
          <p:nvPr>
            <p:ph type="sldNum" sz="quarter" idx="2"/>
          </p:nvPr>
        </p:nvSpPr>
        <p:spPr>
          <a:xfrm>
            <a:off x="11164902" y="6404292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9</a:t>
            </a:fld>
            <a:endParaRPr/>
          </a:p>
        </p:txBody>
      </p:sp>
      <p:pic>
        <p:nvPicPr>
          <p:cNvPr id="293" name="Picture 4" descr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083336"/>
            <a:ext cx="9144000" cy="57150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Let’s Do It!</a:t>
            </a:r>
          </a:p>
        </p:txBody>
      </p:sp>
      <p:sp>
        <p:nvSpPr>
          <p:cNvPr id="296" name="Slide Number Placeholder 2"/>
          <p:cNvSpPr txBox="1">
            <a:spLocks noGrp="1"/>
          </p:cNvSpPr>
          <p:nvPr>
            <p:ph type="sldNum" sz="quarter" idx="2"/>
          </p:nvPr>
        </p:nvSpPr>
        <p:spPr>
          <a:xfrm>
            <a:off x="11164902" y="6404292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10</a:t>
            </a:fld>
            <a:endParaRPr/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0AB49-38AB-57FF-50F3-2616A8B26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Memory: Generation Set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B65E37-BB5E-0551-7961-F486D3A89903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11</a:t>
            </a:fld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1570142-83C8-8955-DE0C-42FAD9297F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3637" y="1554480"/>
            <a:ext cx="7324725" cy="459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911554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6733F-81CD-789E-E21F-6427BC8FE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71E16ED-F707-24A2-D230-49A8350B38E2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12</a:t>
            </a:fld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D0E529D-352F-4F29-3A52-991E9F763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Memory: Year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Generation Map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77096C1-5837-DBF1-1FD1-00BBD813A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28875" y="1554480"/>
            <a:ext cx="7334250" cy="4581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192652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Memory Usage (Overhead in KB, Count)</a:t>
            </a:r>
          </a:p>
        </p:txBody>
      </p:sp>
      <p:sp>
        <p:nvSpPr>
          <p:cNvPr id="299" name="Slide Number Placeholder 2"/>
          <p:cNvSpPr txBox="1">
            <a:spLocks noGrp="1"/>
          </p:cNvSpPr>
          <p:nvPr>
            <p:ph type="sldNum" sz="quarter" idx="2"/>
          </p:nvPr>
        </p:nvSpPr>
        <p:spPr>
          <a:xfrm>
            <a:off x="11164902" y="6404292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13</a:t>
            </a:fld>
            <a:endParaRPr/>
          </a:p>
        </p:txBody>
      </p:sp>
      <p:pic>
        <p:nvPicPr>
          <p:cNvPr id="300" name="Picture 23" descr="Pictur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796" y="1113822"/>
            <a:ext cx="4584591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1" name="Picture 25" descr="Picture 2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796" y="3965842"/>
            <a:ext cx="4584590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2" name="Picture 3" descr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312" y="3965842"/>
            <a:ext cx="4584591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3" name="Picture 4" descr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312" y="1113820"/>
            <a:ext cx="4584590" cy="275563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D392D-3C0F-3CB5-415F-84EBA8E0A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0791-7C6D-65B9-E5F6-B92BE2FBC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Eclipse Collections – What’s in It for Me?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626B5B-A89B-3A48-1D17-037287358787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6E087A0-8E33-4AD2-B40F-AC5841A95ADE}" type="slidenum">
              <a:rPr lang="en-US" smtClean="0"/>
              <a:pPr/>
              <a:t>14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87FB0F8-F674-4047-BD1B-B60D0B986D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3437353"/>
              </p:ext>
            </p:extLst>
          </p:nvPr>
        </p:nvGraphicFramePr>
        <p:xfrm>
          <a:off x="1844040" y="1232054"/>
          <a:ext cx="8503920" cy="5151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943600">
                  <a:extLst>
                    <a:ext uri="{9D8B030D-6E8A-4147-A177-3AD203B41FA5}">
                      <a16:colId xmlns:a16="http://schemas.microsoft.com/office/drawing/2014/main" val="762180805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493246487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84423927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62857968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1482180793"/>
                    </a:ext>
                  </a:extLst>
                </a:gridCol>
              </a:tblGrid>
              <a:tr h="1188720">
                <a:tc>
                  <a:txBody>
                    <a:bodyPr/>
                    <a:lstStyle/>
                    <a:p>
                      <a:pPr algn="l"/>
                      <a:r>
                        <a:rPr lang="en-US" sz="1600" b="1" i="0" dirty="0">
                          <a:latin typeface="Univers" panose="020B0503020202020204" pitchFamily="34" charset="0"/>
                        </a:rPr>
                        <a:t>Features</a:t>
                      </a:r>
                      <a:endParaRPr lang="en-US" sz="1600" dirty="0">
                        <a:latin typeface="Univers" panose="020B0503020202020204" pitchFamily="34" charset="0"/>
                      </a:endParaRPr>
                    </a:p>
                  </a:txBody>
                  <a:tcPr marB="13716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latin typeface="Univers" panose="020B0503020202020204" pitchFamily="34" charset="0"/>
                        </a:rPr>
                        <a:t>Productivity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latin typeface="Univers" panose="020B0503020202020204" pitchFamily="34" charset="0"/>
                        </a:rPr>
                        <a:t>Performance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solidFill>
                            <a:srgbClr val="FF0000"/>
                          </a:solidFill>
                          <a:latin typeface="Univers" panose="020B0503020202020204" pitchFamily="34" charset="0"/>
                        </a:rPr>
                        <a:t>Protection</a:t>
                      </a:r>
                      <a:br>
                        <a:rPr lang="en-US" sz="1200" b="1" i="0" dirty="0">
                          <a:solidFill>
                            <a:srgbClr val="FF0000"/>
                          </a:solidFill>
                          <a:latin typeface="Univers" panose="020B0503020202020204" pitchFamily="34" charset="0"/>
                        </a:rPr>
                      </a:br>
                      <a:r>
                        <a:rPr lang="en-US" sz="1200" b="1" i="0" dirty="0">
                          <a:solidFill>
                            <a:srgbClr val="FF0000"/>
                          </a:solidFill>
                          <a:latin typeface="Univers" panose="020B0503020202020204" pitchFamily="34" charset="0"/>
                        </a:rPr>
                        <a:t>Safety</a:t>
                      </a:r>
                      <a:r>
                        <a:rPr lang="en-US" sz="1200" b="1" i="0" dirty="0">
                          <a:latin typeface="Univers" panose="020B0503020202020204" pitchFamily="34" charset="0"/>
                        </a:rPr>
                        <a:t>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latin typeface="Univers" panose="020B0503020202020204" pitchFamily="34" charset="0"/>
                        </a:rPr>
                        <a:t>Type Safety 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254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Univers" panose="020B0503020202020204" pitchFamily="34" charset="0"/>
                        </a:rPr>
                        <a:t>Rich functional API with good symmetry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58026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Memory Efficiency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4684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Optimized Eager API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8593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Primitive Collections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285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Immutable Collections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29115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Lazy and Parallel Lazy API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16227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Multimap, Bag, </a:t>
                      </a:r>
                      <a:r>
                        <a:rPr lang="en-US" sz="1800" dirty="0" err="1"/>
                        <a:t>BiMap</a:t>
                      </a:r>
                      <a:r>
                        <a:rPr lang="en-US" sz="1800" dirty="0"/>
                        <a:t>, Pool, Interval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1860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Hashing Strategy Data Structures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9455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Multi-reader Data Structures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4483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Mutable and Immutable Collection Factories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41841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9979959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BA412-CE6A-77D7-4649-3AB93838B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DataFrame-EC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755EC-F5A3-A627-4AE2-5F65B9246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2"/>
            <a:ext cx="10515600" cy="518835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…built on the solid foundation of Eclipse Collections types</a:t>
            </a:r>
          </a:p>
          <a:p>
            <a:pPr marL="0" indent="0" algn="ctr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487245-B1B3-6984-BCE1-C19BB158C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6E087A0-8E33-4AD2-B40F-AC5841A95ADE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1D391CA-EB22-11A3-49E3-605B690910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12296" y="1831247"/>
            <a:ext cx="4581525" cy="335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990140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BA412-CE6A-77D7-4649-3AB93838B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DataFrame-EC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755EC-F5A3-A627-4AE2-5F65B9246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2"/>
            <a:ext cx="10515600" cy="518835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…the foundation, and walls, and joints, and studs, and…</a:t>
            </a:r>
          </a:p>
          <a:p>
            <a:pPr marL="0" indent="0" algn="ctr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487245-B1B3-6984-BCE1-C19BB158C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6E087A0-8E33-4AD2-B40F-AC5841A95ADE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93" name="Graphic 92">
            <a:extLst>
              <a:ext uri="{FF2B5EF4-FFF2-40B4-BE49-F238E27FC236}">
                <a16:creationId xmlns:a16="http://schemas.microsoft.com/office/drawing/2014/main" id="{1DF8A637-887F-4002-15CA-0756C0A3E4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62" y="1807371"/>
            <a:ext cx="11115675" cy="431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959741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Univers"/>
            <a:ea typeface="Univers"/>
            <a:cs typeface="Univers"/>
            <a:sym typeface="Univer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Univers"/>
            <a:ea typeface="Univers"/>
            <a:cs typeface="Univers"/>
            <a:sym typeface="Univer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Univers"/>
            <a:ea typeface="Univers"/>
            <a:cs typeface="Univers"/>
            <a:sym typeface="Univer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Univers"/>
            <a:ea typeface="Univers"/>
            <a:cs typeface="Univers"/>
            <a:sym typeface="Univer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777</TotalTime>
  <Words>640</Words>
  <Application>Microsoft Office PowerPoint</Application>
  <PresentationFormat>Widescreen</PresentationFormat>
  <Paragraphs>215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Arial</vt:lpstr>
      <vt:lpstr>Calibri</vt:lpstr>
      <vt:lpstr>Consolas</vt:lpstr>
      <vt:lpstr>Univers</vt:lpstr>
      <vt:lpstr>Univers Condensed</vt:lpstr>
      <vt:lpstr>Wingdings</vt:lpstr>
      <vt:lpstr>Office Theme</vt:lpstr>
      <vt:lpstr>Refactoring to  Eclipse Collections</vt:lpstr>
      <vt:lpstr>Introduction</vt:lpstr>
      <vt:lpstr>Book: Eclipse Collections Categorically</vt:lpstr>
      <vt:lpstr>Simulating Method Categories in Java</vt:lpstr>
      <vt:lpstr>Why Refactor to EC?</vt:lpstr>
      <vt:lpstr>Any Types You Need</vt:lpstr>
      <vt:lpstr>Instantiate Them Using Factories</vt:lpstr>
      <vt:lpstr>Methods by Category - Highlights</vt:lpstr>
      <vt:lpstr>Methods – Lots More…</vt:lpstr>
      <vt:lpstr>Let’s Do It!</vt:lpstr>
      <vt:lpstr>Memory: Generation Set</vt:lpstr>
      <vt:lpstr>Memory: Year  Generation Map</vt:lpstr>
      <vt:lpstr>Memory Usage (Overhead in KB, Count)</vt:lpstr>
      <vt:lpstr>Eclipse Collections – What’s in It for Me?</vt:lpstr>
      <vt:lpstr>Example: DataFrame-EC</vt:lpstr>
      <vt:lpstr>Example: DataFrame-EC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Refactoring to  Eclipse Collections</dc:title>
  <dc:creator>Vladimir Zakharov</dc:creator>
  <cp:lastModifiedBy>Vladimir Zakharov</cp:lastModifiedBy>
  <cp:revision>14</cp:revision>
  <dcterms:modified xsi:type="dcterms:W3CDTF">2025-09-19T03:12:14Z</dcterms:modified>
</cp:coreProperties>
</file>