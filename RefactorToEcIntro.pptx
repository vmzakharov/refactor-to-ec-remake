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334" r:id="rId2"/>
    <p:sldId id="265" r:id="rId3"/>
    <p:sldId id="269" r:id="rId4"/>
    <p:sldId id="258" r:id="rId5"/>
    <p:sldId id="259" r:id="rId6"/>
    <p:sldId id="260" r:id="rId7"/>
    <p:sldId id="261" r:id="rId8"/>
    <p:sldId id="262" r:id="rId9"/>
    <p:sldId id="267" r:id="rId10"/>
    <p:sldId id="263" r:id="rId11"/>
    <p:sldId id="335" r:id="rId12"/>
    <p:sldId id="270" r:id="rId13"/>
    <p:sldId id="271" r:id="rId14"/>
    <p:sldId id="264" r:id="rId15"/>
    <p:sldId id="333" r:id="rId16"/>
    <p:sldId id="308" r:id="rId17"/>
    <p:sldId id="309"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83" autoAdjust="0"/>
    <p:restoredTop sz="94660"/>
  </p:normalViewPr>
  <p:slideViewPr>
    <p:cSldViewPr snapToGrid="0">
      <p:cViewPr varScale="1">
        <p:scale>
          <a:sx n="104" d="100"/>
          <a:sy n="104" d="100"/>
        </p:scale>
        <p:origin x="158" y="3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CCF7272-9B1D-4C9A-BAA4-A2C3BF62B1D2}" type="datetimeFigureOut">
              <a:rPr lang="en-US" smtClean="0"/>
              <a:t>9/21/2025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09100B-F611-4B83-9AF4-01D82287C5E3}" type="slidenum">
              <a:rPr lang="en-US" smtClean="0"/>
              <a:t>‹#›</a:t>
            </a:fld>
            <a:endParaRPr lang="en-US"/>
          </a:p>
        </p:txBody>
      </p:sp>
    </p:spTree>
    <p:extLst>
      <p:ext uri="{BB962C8B-B14F-4D97-AF65-F5344CB8AC3E}">
        <p14:creationId xmlns:p14="http://schemas.microsoft.com/office/powerpoint/2010/main" val="16008282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615953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31A925-E073-1352-4E7A-21B73E753FFE}"/>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a:extLst>
              <a:ext uri="{FF2B5EF4-FFF2-40B4-BE49-F238E27FC236}">
                <a16:creationId xmlns:a16="http://schemas.microsoft.com/office/drawing/2014/main" id="{3C34F156-E62D-66EE-FCDC-6D3926EAF22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E49CD391-3C43-DFD0-9F66-2DBA31F7ECD7}"/>
              </a:ext>
            </a:extLst>
          </p:cNvPr>
          <p:cNvSpPr>
            <a:spLocks noGrp="1"/>
          </p:cNvSpPr>
          <p:nvPr>
            <p:ph type="dt" sz="half" idx="10"/>
          </p:nvPr>
        </p:nvSpPr>
        <p:spPr/>
        <p:txBody>
          <a:bodyPr/>
          <a:lstStyle/>
          <a:p>
            <a:fld id="{028A9B98-DEE4-43FF-82FF-5C0D4D82EB43}" type="datetimeFigureOut">
              <a:rPr lang="en-US" smtClean="0"/>
              <a:t>9/21/2025</a:t>
            </a:fld>
            <a:endParaRPr lang="en-US"/>
          </a:p>
        </p:txBody>
      </p:sp>
      <p:sp>
        <p:nvSpPr>
          <p:cNvPr id="5" name="Footer Placeholder 4">
            <a:extLst>
              <a:ext uri="{FF2B5EF4-FFF2-40B4-BE49-F238E27FC236}">
                <a16:creationId xmlns:a16="http://schemas.microsoft.com/office/drawing/2014/main" id="{1661ECB1-D1B7-A4B3-ABEB-255191D5C64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6AD3C4-4128-4E01-8A40-E85EC52AF888}"/>
              </a:ext>
            </a:extLst>
          </p:cNvPr>
          <p:cNvSpPr>
            <a:spLocks noGrp="1"/>
          </p:cNvSpPr>
          <p:nvPr>
            <p:ph type="sldNum" sz="quarter" idx="12"/>
          </p:nvPr>
        </p:nvSpPr>
        <p:spPr/>
        <p:txBody>
          <a:bodyPr/>
          <a:lstStyle/>
          <a:p>
            <a:fld id="{6874CE7D-5D74-4EC3-A871-8F42005EC53C}" type="slidenum">
              <a:rPr lang="en-US" smtClean="0"/>
              <a:t>‹#›</a:t>
            </a:fld>
            <a:endParaRPr lang="en-US"/>
          </a:p>
        </p:txBody>
      </p:sp>
    </p:spTree>
    <p:extLst>
      <p:ext uri="{BB962C8B-B14F-4D97-AF65-F5344CB8AC3E}">
        <p14:creationId xmlns:p14="http://schemas.microsoft.com/office/powerpoint/2010/main" val="3693472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F094D-1336-F9EB-9410-5AC7FF8A57F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F1C5061-A23C-68D7-6DC7-69469FA742F1}"/>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FBB7132-991D-1E65-604B-E9C1451619B5}"/>
              </a:ext>
            </a:extLst>
          </p:cNvPr>
          <p:cNvSpPr>
            <a:spLocks noGrp="1"/>
          </p:cNvSpPr>
          <p:nvPr>
            <p:ph type="dt" sz="half" idx="10"/>
          </p:nvPr>
        </p:nvSpPr>
        <p:spPr/>
        <p:txBody>
          <a:bodyPr/>
          <a:lstStyle/>
          <a:p>
            <a:fld id="{028A9B98-DEE4-43FF-82FF-5C0D4D82EB43}" type="datetimeFigureOut">
              <a:rPr lang="en-US" smtClean="0"/>
              <a:t>9/21/2025</a:t>
            </a:fld>
            <a:endParaRPr lang="en-US"/>
          </a:p>
        </p:txBody>
      </p:sp>
      <p:sp>
        <p:nvSpPr>
          <p:cNvPr id="5" name="Footer Placeholder 4">
            <a:extLst>
              <a:ext uri="{FF2B5EF4-FFF2-40B4-BE49-F238E27FC236}">
                <a16:creationId xmlns:a16="http://schemas.microsoft.com/office/drawing/2014/main" id="{9EDFBAC5-40B8-83F4-84EA-01EF882CACE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3C85073-C5F3-8286-188D-F9F9EA293C27}"/>
              </a:ext>
            </a:extLst>
          </p:cNvPr>
          <p:cNvSpPr>
            <a:spLocks noGrp="1"/>
          </p:cNvSpPr>
          <p:nvPr>
            <p:ph type="sldNum" sz="quarter" idx="12"/>
          </p:nvPr>
        </p:nvSpPr>
        <p:spPr/>
        <p:txBody>
          <a:bodyPr/>
          <a:lstStyle/>
          <a:p>
            <a:fld id="{6874CE7D-5D74-4EC3-A871-8F42005EC53C}" type="slidenum">
              <a:rPr lang="en-US" smtClean="0"/>
              <a:t>‹#›</a:t>
            </a:fld>
            <a:endParaRPr lang="en-US"/>
          </a:p>
        </p:txBody>
      </p:sp>
      <p:sp useBgFill="1">
        <p:nvSpPr>
          <p:cNvPr id="7" name="Straight Connector 7">
            <a:extLst>
              <a:ext uri="{FF2B5EF4-FFF2-40B4-BE49-F238E27FC236}">
                <a16:creationId xmlns:a16="http://schemas.microsoft.com/office/drawing/2014/main" id="{CF321A31-2616-DCBF-8531-B17C24BD02A1}"/>
              </a:ext>
            </a:extLst>
          </p:cNvPr>
          <p:cNvSpPr/>
          <p:nvPr userDrawn="1"/>
        </p:nvSpPr>
        <p:spPr>
          <a:xfrm>
            <a:off x="838200" y="1064842"/>
            <a:ext cx="10515601" cy="1"/>
          </a:xfrm>
          <a:prstGeom prst="line">
            <a:avLst/>
          </a:prstGeom>
          <a:ln w="19050">
            <a:solidFill>
              <a:srgbClr val="2E75B6"/>
            </a:solidFill>
            <a:miter/>
          </a:ln>
        </p:spPr>
        <p:txBody>
          <a:bodyPr lIns="45719" rIns="45719"/>
          <a:lstStyle/>
          <a:p>
            <a:endParaRPr/>
          </a:p>
        </p:txBody>
      </p:sp>
    </p:spTree>
    <p:extLst>
      <p:ext uri="{BB962C8B-B14F-4D97-AF65-F5344CB8AC3E}">
        <p14:creationId xmlns:p14="http://schemas.microsoft.com/office/powerpoint/2010/main" val="31629898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E9CE8-3EFF-2D4C-15F5-7E99BE8A588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BDC618E-CD17-C6D2-FC47-2B5123A6551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B5384A6-5333-EE21-43C1-16A36F7DA78A}"/>
              </a:ext>
            </a:extLst>
          </p:cNvPr>
          <p:cNvSpPr>
            <a:spLocks noGrp="1"/>
          </p:cNvSpPr>
          <p:nvPr>
            <p:ph type="dt" sz="half" idx="10"/>
          </p:nvPr>
        </p:nvSpPr>
        <p:spPr/>
        <p:txBody>
          <a:bodyPr/>
          <a:lstStyle/>
          <a:p>
            <a:fld id="{028A9B98-DEE4-43FF-82FF-5C0D4D82EB43}" type="datetimeFigureOut">
              <a:rPr lang="en-US" smtClean="0"/>
              <a:t>9/21/2025</a:t>
            </a:fld>
            <a:endParaRPr lang="en-US"/>
          </a:p>
        </p:txBody>
      </p:sp>
      <p:sp>
        <p:nvSpPr>
          <p:cNvPr id="5" name="Footer Placeholder 4">
            <a:extLst>
              <a:ext uri="{FF2B5EF4-FFF2-40B4-BE49-F238E27FC236}">
                <a16:creationId xmlns:a16="http://schemas.microsoft.com/office/drawing/2014/main" id="{5D756D9F-BBA6-CB91-0C55-D4BA0543E09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F211C7-67BB-93D9-1FDC-C0B11263768C}"/>
              </a:ext>
            </a:extLst>
          </p:cNvPr>
          <p:cNvSpPr>
            <a:spLocks noGrp="1"/>
          </p:cNvSpPr>
          <p:nvPr>
            <p:ph type="sldNum" sz="quarter" idx="12"/>
          </p:nvPr>
        </p:nvSpPr>
        <p:spPr/>
        <p:txBody>
          <a:bodyPr/>
          <a:lstStyle/>
          <a:p>
            <a:fld id="{6874CE7D-5D74-4EC3-A871-8F42005EC53C}" type="slidenum">
              <a:rPr lang="en-US" smtClean="0"/>
              <a:t>‹#›</a:t>
            </a:fld>
            <a:endParaRPr lang="en-US"/>
          </a:p>
        </p:txBody>
      </p:sp>
    </p:spTree>
    <p:extLst>
      <p:ext uri="{BB962C8B-B14F-4D97-AF65-F5344CB8AC3E}">
        <p14:creationId xmlns:p14="http://schemas.microsoft.com/office/powerpoint/2010/main" val="13415446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B83BC3-AF71-DEAD-9659-297C3DC2122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DC6C076-CE50-F5A7-F9C9-1461DC19B0F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4A4152A-B5FD-36A5-5634-D6799284CD1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DA02D4C-0990-B05A-D857-534368D18525}"/>
              </a:ext>
            </a:extLst>
          </p:cNvPr>
          <p:cNvSpPr>
            <a:spLocks noGrp="1"/>
          </p:cNvSpPr>
          <p:nvPr>
            <p:ph type="dt" sz="half" idx="10"/>
          </p:nvPr>
        </p:nvSpPr>
        <p:spPr/>
        <p:txBody>
          <a:bodyPr/>
          <a:lstStyle/>
          <a:p>
            <a:fld id="{028A9B98-DEE4-43FF-82FF-5C0D4D82EB43}" type="datetimeFigureOut">
              <a:rPr lang="en-US" smtClean="0"/>
              <a:t>9/21/2025</a:t>
            </a:fld>
            <a:endParaRPr lang="en-US"/>
          </a:p>
        </p:txBody>
      </p:sp>
      <p:sp>
        <p:nvSpPr>
          <p:cNvPr id="6" name="Footer Placeholder 5">
            <a:extLst>
              <a:ext uri="{FF2B5EF4-FFF2-40B4-BE49-F238E27FC236}">
                <a16:creationId xmlns:a16="http://schemas.microsoft.com/office/drawing/2014/main" id="{216D6045-0A4E-BA7F-2D52-3F5D18E2B6E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FB4C539-102A-A0E0-5484-64D0C1B00F20}"/>
              </a:ext>
            </a:extLst>
          </p:cNvPr>
          <p:cNvSpPr>
            <a:spLocks noGrp="1"/>
          </p:cNvSpPr>
          <p:nvPr>
            <p:ph type="sldNum" sz="quarter" idx="12"/>
          </p:nvPr>
        </p:nvSpPr>
        <p:spPr/>
        <p:txBody>
          <a:bodyPr/>
          <a:lstStyle/>
          <a:p>
            <a:fld id="{6874CE7D-5D74-4EC3-A871-8F42005EC53C}" type="slidenum">
              <a:rPr lang="en-US" smtClean="0"/>
              <a:t>‹#›</a:t>
            </a:fld>
            <a:endParaRPr lang="en-US"/>
          </a:p>
        </p:txBody>
      </p:sp>
    </p:spTree>
    <p:extLst>
      <p:ext uri="{BB962C8B-B14F-4D97-AF65-F5344CB8AC3E}">
        <p14:creationId xmlns:p14="http://schemas.microsoft.com/office/powerpoint/2010/main" val="14907476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060EF3-EA5C-CB77-F151-EAF17DF6C14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B5D74E4-25D8-5225-5249-87DC908674A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A5BBA45-7B63-7F1C-A067-28574A14AAF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E4DAB50-5088-0827-0FB5-B342767B68F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B929AF9-7D4A-8D40-993E-A9418A8C94D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9BE4F92-DE73-BC10-9492-C2F67DA4947E}"/>
              </a:ext>
            </a:extLst>
          </p:cNvPr>
          <p:cNvSpPr>
            <a:spLocks noGrp="1"/>
          </p:cNvSpPr>
          <p:nvPr>
            <p:ph type="dt" sz="half" idx="10"/>
          </p:nvPr>
        </p:nvSpPr>
        <p:spPr/>
        <p:txBody>
          <a:bodyPr/>
          <a:lstStyle/>
          <a:p>
            <a:fld id="{028A9B98-DEE4-43FF-82FF-5C0D4D82EB43}" type="datetimeFigureOut">
              <a:rPr lang="en-US" smtClean="0"/>
              <a:t>9/21/2025</a:t>
            </a:fld>
            <a:endParaRPr lang="en-US"/>
          </a:p>
        </p:txBody>
      </p:sp>
      <p:sp>
        <p:nvSpPr>
          <p:cNvPr id="8" name="Footer Placeholder 7">
            <a:extLst>
              <a:ext uri="{FF2B5EF4-FFF2-40B4-BE49-F238E27FC236}">
                <a16:creationId xmlns:a16="http://schemas.microsoft.com/office/drawing/2014/main" id="{08445B52-B932-8510-352A-0816B3CE1FD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6E3782E-CDC0-417C-C8A2-07BF34EB74C1}"/>
              </a:ext>
            </a:extLst>
          </p:cNvPr>
          <p:cNvSpPr>
            <a:spLocks noGrp="1"/>
          </p:cNvSpPr>
          <p:nvPr>
            <p:ph type="sldNum" sz="quarter" idx="12"/>
          </p:nvPr>
        </p:nvSpPr>
        <p:spPr/>
        <p:txBody>
          <a:bodyPr/>
          <a:lstStyle/>
          <a:p>
            <a:fld id="{6874CE7D-5D74-4EC3-A871-8F42005EC53C}" type="slidenum">
              <a:rPr lang="en-US" smtClean="0"/>
              <a:t>‹#›</a:t>
            </a:fld>
            <a:endParaRPr lang="en-US"/>
          </a:p>
        </p:txBody>
      </p:sp>
    </p:spTree>
    <p:extLst>
      <p:ext uri="{BB962C8B-B14F-4D97-AF65-F5344CB8AC3E}">
        <p14:creationId xmlns:p14="http://schemas.microsoft.com/office/powerpoint/2010/main" val="34883017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A420B4-F8FB-3523-76E3-DDD8550DC04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4501F1B-3F09-C742-AB27-EAFA53006E57}"/>
              </a:ext>
            </a:extLst>
          </p:cNvPr>
          <p:cNvSpPr>
            <a:spLocks noGrp="1"/>
          </p:cNvSpPr>
          <p:nvPr>
            <p:ph type="dt" sz="half" idx="10"/>
          </p:nvPr>
        </p:nvSpPr>
        <p:spPr/>
        <p:txBody>
          <a:bodyPr/>
          <a:lstStyle/>
          <a:p>
            <a:fld id="{028A9B98-DEE4-43FF-82FF-5C0D4D82EB43}" type="datetimeFigureOut">
              <a:rPr lang="en-US" smtClean="0"/>
              <a:t>9/21/2025</a:t>
            </a:fld>
            <a:endParaRPr lang="en-US"/>
          </a:p>
        </p:txBody>
      </p:sp>
      <p:sp>
        <p:nvSpPr>
          <p:cNvPr id="4" name="Footer Placeholder 3">
            <a:extLst>
              <a:ext uri="{FF2B5EF4-FFF2-40B4-BE49-F238E27FC236}">
                <a16:creationId xmlns:a16="http://schemas.microsoft.com/office/drawing/2014/main" id="{0F59AB55-FA9C-CFB9-D544-3754A81F534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DE8082B-44FA-D2A9-D3BD-9284FD8F9D5F}"/>
              </a:ext>
            </a:extLst>
          </p:cNvPr>
          <p:cNvSpPr>
            <a:spLocks noGrp="1"/>
          </p:cNvSpPr>
          <p:nvPr>
            <p:ph type="sldNum" sz="quarter" idx="12"/>
          </p:nvPr>
        </p:nvSpPr>
        <p:spPr/>
        <p:txBody>
          <a:bodyPr/>
          <a:lstStyle/>
          <a:p>
            <a:fld id="{6874CE7D-5D74-4EC3-A871-8F42005EC53C}" type="slidenum">
              <a:rPr lang="en-US" smtClean="0"/>
              <a:t>‹#›</a:t>
            </a:fld>
            <a:endParaRPr lang="en-US"/>
          </a:p>
        </p:txBody>
      </p:sp>
      <p:sp useBgFill="1">
        <p:nvSpPr>
          <p:cNvPr id="6" name="Straight Connector 7">
            <a:extLst>
              <a:ext uri="{FF2B5EF4-FFF2-40B4-BE49-F238E27FC236}">
                <a16:creationId xmlns:a16="http://schemas.microsoft.com/office/drawing/2014/main" id="{BEC36D4D-203D-4D95-7FF0-2C38FE001EB5}"/>
              </a:ext>
            </a:extLst>
          </p:cNvPr>
          <p:cNvSpPr/>
          <p:nvPr userDrawn="1"/>
        </p:nvSpPr>
        <p:spPr>
          <a:xfrm>
            <a:off x="838200" y="1064842"/>
            <a:ext cx="10515601" cy="1"/>
          </a:xfrm>
          <a:prstGeom prst="line">
            <a:avLst/>
          </a:prstGeom>
          <a:ln w="19050">
            <a:solidFill>
              <a:srgbClr val="2E75B6"/>
            </a:solidFill>
            <a:miter/>
          </a:ln>
        </p:spPr>
        <p:txBody>
          <a:bodyPr lIns="45719" rIns="45719"/>
          <a:lstStyle/>
          <a:p>
            <a:endParaRPr/>
          </a:p>
        </p:txBody>
      </p:sp>
    </p:spTree>
    <p:extLst>
      <p:ext uri="{BB962C8B-B14F-4D97-AF65-F5344CB8AC3E}">
        <p14:creationId xmlns:p14="http://schemas.microsoft.com/office/powerpoint/2010/main" val="2368168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4612927-BCF6-D71D-DBC8-6D5EF5C96DBE}"/>
              </a:ext>
            </a:extLst>
          </p:cNvPr>
          <p:cNvSpPr>
            <a:spLocks noGrp="1"/>
          </p:cNvSpPr>
          <p:nvPr>
            <p:ph type="dt" sz="half" idx="10"/>
          </p:nvPr>
        </p:nvSpPr>
        <p:spPr/>
        <p:txBody>
          <a:bodyPr/>
          <a:lstStyle/>
          <a:p>
            <a:fld id="{028A9B98-DEE4-43FF-82FF-5C0D4D82EB43}" type="datetimeFigureOut">
              <a:rPr lang="en-US" smtClean="0"/>
              <a:t>9/21/2025</a:t>
            </a:fld>
            <a:endParaRPr lang="en-US"/>
          </a:p>
        </p:txBody>
      </p:sp>
      <p:sp>
        <p:nvSpPr>
          <p:cNvPr id="3" name="Footer Placeholder 2">
            <a:extLst>
              <a:ext uri="{FF2B5EF4-FFF2-40B4-BE49-F238E27FC236}">
                <a16:creationId xmlns:a16="http://schemas.microsoft.com/office/drawing/2014/main" id="{C81879E2-0EA0-77F9-CBB8-D827091CEC1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B57983D-2467-9A9A-D2E1-DFC7489C0988}"/>
              </a:ext>
            </a:extLst>
          </p:cNvPr>
          <p:cNvSpPr>
            <a:spLocks noGrp="1"/>
          </p:cNvSpPr>
          <p:nvPr>
            <p:ph type="sldNum" sz="quarter" idx="12"/>
          </p:nvPr>
        </p:nvSpPr>
        <p:spPr/>
        <p:txBody>
          <a:bodyPr/>
          <a:lstStyle/>
          <a:p>
            <a:fld id="{6874CE7D-5D74-4EC3-A871-8F42005EC53C}" type="slidenum">
              <a:rPr lang="en-US" smtClean="0"/>
              <a:t>‹#›</a:t>
            </a:fld>
            <a:endParaRPr lang="en-US"/>
          </a:p>
        </p:txBody>
      </p:sp>
    </p:spTree>
    <p:extLst>
      <p:ext uri="{BB962C8B-B14F-4D97-AF65-F5344CB8AC3E}">
        <p14:creationId xmlns:p14="http://schemas.microsoft.com/office/powerpoint/2010/main" val="11870412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A3FB50-F548-3A92-B738-B657E58EA5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91F0F81-AE7B-8FAF-072E-A4D8C30A260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0F0FE31-CD5C-FA74-787B-6FDE7C0A48E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B0E22BD-F087-F4F5-2828-2EB0CB249494}"/>
              </a:ext>
            </a:extLst>
          </p:cNvPr>
          <p:cNvSpPr>
            <a:spLocks noGrp="1"/>
          </p:cNvSpPr>
          <p:nvPr>
            <p:ph type="dt" sz="half" idx="10"/>
          </p:nvPr>
        </p:nvSpPr>
        <p:spPr/>
        <p:txBody>
          <a:bodyPr/>
          <a:lstStyle/>
          <a:p>
            <a:fld id="{028A9B98-DEE4-43FF-82FF-5C0D4D82EB43}" type="datetimeFigureOut">
              <a:rPr lang="en-US" smtClean="0"/>
              <a:t>9/21/2025</a:t>
            </a:fld>
            <a:endParaRPr lang="en-US"/>
          </a:p>
        </p:txBody>
      </p:sp>
      <p:sp>
        <p:nvSpPr>
          <p:cNvPr id="6" name="Footer Placeholder 5">
            <a:extLst>
              <a:ext uri="{FF2B5EF4-FFF2-40B4-BE49-F238E27FC236}">
                <a16:creationId xmlns:a16="http://schemas.microsoft.com/office/drawing/2014/main" id="{CBA12E01-670B-7FB9-2477-16B43AECA7E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DCC55FC-7357-EF61-2A1C-2C846A99EE29}"/>
              </a:ext>
            </a:extLst>
          </p:cNvPr>
          <p:cNvSpPr>
            <a:spLocks noGrp="1"/>
          </p:cNvSpPr>
          <p:nvPr>
            <p:ph type="sldNum" sz="quarter" idx="12"/>
          </p:nvPr>
        </p:nvSpPr>
        <p:spPr/>
        <p:txBody>
          <a:bodyPr/>
          <a:lstStyle/>
          <a:p>
            <a:fld id="{6874CE7D-5D74-4EC3-A871-8F42005EC53C}" type="slidenum">
              <a:rPr lang="en-US" smtClean="0"/>
              <a:t>‹#›</a:t>
            </a:fld>
            <a:endParaRPr lang="en-US"/>
          </a:p>
        </p:txBody>
      </p:sp>
    </p:spTree>
    <p:extLst>
      <p:ext uri="{BB962C8B-B14F-4D97-AF65-F5344CB8AC3E}">
        <p14:creationId xmlns:p14="http://schemas.microsoft.com/office/powerpoint/2010/main" val="3368201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BAA0B5-09E4-C0A1-5FC1-319D885B6F4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38AE16C-98C4-DC0F-D35B-37F173FF96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236D893-93D7-1592-F20E-B2469E2DF8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0B97C78-F8AE-7E51-F1A6-6E31AF73A0E2}"/>
              </a:ext>
            </a:extLst>
          </p:cNvPr>
          <p:cNvSpPr>
            <a:spLocks noGrp="1"/>
          </p:cNvSpPr>
          <p:nvPr>
            <p:ph type="dt" sz="half" idx="10"/>
          </p:nvPr>
        </p:nvSpPr>
        <p:spPr/>
        <p:txBody>
          <a:bodyPr/>
          <a:lstStyle/>
          <a:p>
            <a:fld id="{028A9B98-DEE4-43FF-82FF-5C0D4D82EB43}" type="datetimeFigureOut">
              <a:rPr lang="en-US" smtClean="0"/>
              <a:t>9/21/2025</a:t>
            </a:fld>
            <a:endParaRPr lang="en-US"/>
          </a:p>
        </p:txBody>
      </p:sp>
      <p:sp>
        <p:nvSpPr>
          <p:cNvPr id="6" name="Footer Placeholder 5">
            <a:extLst>
              <a:ext uri="{FF2B5EF4-FFF2-40B4-BE49-F238E27FC236}">
                <a16:creationId xmlns:a16="http://schemas.microsoft.com/office/drawing/2014/main" id="{38667550-5A06-201C-FCBA-E19CCD014C9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2E84005-F19A-47DB-EE9A-84827E96876A}"/>
              </a:ext>
            </a:extLst>
          </p:cNvPr>
          <p:cNvSpPr>
            <a:spLocks noGrp="1"/>
          </p:cNvSpPr>
          <p:nvPr>
            <p:ph type="sldNum" sz="quarter" idx="12"/>
          </p:nvPr>
        </p:nvSpPr>
        <p:spPr/>
        <p:txBody>
          <a:bodyPr/>
          <a:lstStyle/>
          <a:p>
            <a:fld id="{6874CE7D-5D74-4EC3-A871-8F42005EC53C}" type="slidenum">
              <a:rPr lang="en-US" smtClean="0"/>
              <a:t>‹#›</a:t>
            </a:fld>
            <a:endParaRPr lang="en-US"/>
          </a:p>
        </p:txBody>
      </p:sp>
    </p:spTree>
    <p:extLst>
      <p:ext uri="{BB962C8B-B14F-4D97-AF65-F5344CB8AC3E}">
        <p14:creationId xmlns:p14="http://schemas.microsoft.com/office/powerpoint/2010/main" val="24252012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498A92-C8E5-20FC-58B5-14406984ADA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848A3B5-9F3C-560F-2CE3-C43A1890956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D992985-F393-6DBE-EEBA-044F18494EC4}"/>
              </a:ext>
            </a:extLst>
          </p:cNvPr>
          <p:cNvSpPr>
            <a:spLocks noGrp="1"/>
          </p:cNvSpPr>
          <p:nvPr>
            <p:ph type="dt" sz="half" idx="10"/>
          </p:nvPr>
        </p:nvSpPr>
        <p:spPr/>
        <p:txBody>
          <a:bodyPr/>
          <a:lstStyle/>
          <a:p>
            <a:fld id="{028A9B98-DEE4-43FF-82FF-5C0D4D82EB43}" type="datetimeFigureOut">
              <a:rPr lang="en-US" smtClean="0"/>
              <a:t>9/21/2025</a:t>
            </a:fld>
            <a:endParaRPr lang="en-US"/>
          </a:p>
        </p:txBody>
      </p:sp>
      <p:sp>
        <p:nvSpPr>
          <p:cNvPr id="5" name="Footer Placeholder 4">
            <a:extLst>
              <a:ext uri="{FF2B5EF4-FFF2-40B4-BE49-F238E27FC236}">
                <a16:creationId xmlns:a16="http://schemas.microsoft.com/office/drawing/2014/main" id="{E72AF541-A58C-5F96-F1AB-58718D3D2E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B01AD23-804C-FDD2-C7E3-C70C4D1CD753}"/>
              </a:ext>
            </a:extLst>
          </p:cNvPr>
          <p:cNvSpPr>
            <a:spLocks noGrp="1"/>
          </p:cNvSpPr>
          <p:nvPr>
            <p:ph type="sldNum" sz="quarter" idx="12"/>
          </p:nvPr>
        </p:nvSpPr>
        <p:spPr/>
        <p:txBody>
          <a:bodyPr/>
          <a:lstStyle/>
          <a:p>
            <a:fld id="{6874CE7D-5D74-4EC3-A871-8F42005EC53C}" type="slidenum">
              <a:rPr lang="en-US" smtClean="0"/>
              <a:t>‹#›</a:t>
            </a:fld>
            <a:endParaRPr lang="en-US"/>
          </a:p>
        </p:txBody>
      </p:sp>
    </p:spTree>
    <p:extLst>
      <p:ext uri="{BB962C8B-B14F-4D97-AF65-F5344CB8AC3E}">
        <p14:creationId xmlns:p14="http://schemas.microsoft.com/office/powerpoint/2010/main" val="1358762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A012BE8-6BA6-3FFB-F49A-60496B7BBE4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7591720-C204-4B3E-0BFA-655895412C2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C308C33-BBE4-41C8-DBA0-E396B160A402}"/>
              </a:ext>
            </a:extLst>
          </p:cNvPr>
          <p:cNvSpPr>
            <a:spLocks noGrp="1"/>
          </p:cNvSpPr>
          <p:nvPr>
            <p:ph type="dt" sz="half" idx="10"/>
          </p:nvPr>
        </p:nvSpPr>
        <p:spPr/>
        <p:txBody>
          <a:bodyPr/>
          <a:lstStyle/>
          <a:p>
            <a:fld id="{028A9B98-DEE4-43FF-82FF-5C0D4D82EB43}" type="datetimeFigureOut">
              <a:rPr lang="en-US" smtClean="0"/>
              <a:t>9/21/2025</a:t>
            </a:fld>
            <a:endParaRPr lang="en-US"/>
          </a:p>
        </p:txBody>
      </p:sp>
      <p:sp>
        <p:nvSpPr>
          <p:cNvPr id="5" name="Footer Placeholder 4">
            <a:extLst>
              <a:ext uri="{FF2B5EF4-FFF2-40B4-BE49-F238E27FC236}">
                <a16:creationId xmlns:a16="http://schemas.microsoft.com/office/drawing/2014/main" id="{96E9C718-6874-5B7D-0FBE-C532B9CF723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07FCB4-C288-4078-3512-4A0D01FC7B1E}"/>
              </a:ext>
            </a:extLst>
          </p:cNvPr>
          <p:cNvSpPr>
            <a:spLocks noGrp="1"/>
          </p:cNvSpPr>
          <p:nvPr>
            <p:ph type="sldNum" sz="quarter" idx="12"/>
          </p:nvPr>
        </p:nvSpPr>
        <p:spPr/>
        <p:txBody>
          <a:bodyPr/>
          <a:lstStyle/>
          <a:p>
            <a:fld id="{6874CE7D-5D74-4EC3-A871-8F42005EC53C}" type="slidenum">
              <a:rPr lang="en-US" smtClean="0"/>
              <a:t>‹#›</a:t>
            </a:fld>
            <a:endParaRPr lang="en-US"/>
          </a:p>
        </p:txBody>
      </p:sp>
    </p:spTree>
    <p:extLst>
      <p:ext uri="{BB962C8B-B14F-4D97-AF65-F5344CB8AC3E}">
        <p14:creationId xmlns:p14="http://schemas.microsoft.com/office/powerpoint/2010/main" val="32557072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5D86B40-7313-A41C-3591-57A0EC368241}"/>
              </a:ext>
            </a:extLst>
          </p:cNvPr>
          <p:cNvSpPr>
            <a:spLocks noGrp="1"/>
          </p:cNvSpPr>
          <p:nvPr>
            <p:ph type="title"/>
          </p:nvPr>
        </p:nvSpPr>
        <p:spPr>
          <a:xfrm>
            <a:off x="838200" y="228600"/>
            <a:ext cx="10515600" cy="822960"/>
          </a:xfrm>
          <a:prstGeom prst="rect">
            <a:avLst/>
          </a:prstGeom>
          <a:solidFill>
            <a:schemeClr val="bg1"/>
          </a:solidFill>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869ED253-66BC-7411-BF01-C98FF7F5C0A8}"/>
              </a:ext>
            </a:extLst>
          </p:cNvPr>
          <p:cNvSpPr>
            <a:spLocks noGrp="1"/>
          </p:cNvSpPr>
          <p:nvPr>
            <p:ph type="body" idx="1"/>
          </p:nvPr>
        </p:nvSpPr>
        <p:spPr>
          <a:xfrm>
            <a:off x="838200" y="1232747"/>
            <a:ext cx="10515600" cy="4944216"/>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F58A6324-66EE-A965-20FF-AD9A47E1424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28A9B98-DEE4-43FF-82FF-5C0D4D82EB43}" type="datetimeFigureOut">
              <a:rPr lang="en-US" smtClean="0"/>
              <a:t>9/21/2025</a:t>
            </a:fld>
            <a:endParaRPr lang="en-US"/>
          </a:p>
        </p:txBody>
      </p:sp>
      <p:sp>
        <p:nvSpPr>
          <p:cNvPr id="5" name="Footer Placeholder 4">
            <a:extLst>
              <a:ext uri="{FF2B5EF4-FFF2-40B4-BE49-F238E27FC236}">
                <a16:creationId xmlns:a16="http://schemas.microsoft.com/office/drawing/2014/main" id="{1DBF221D-9C12-DA76-2B9F-692A6FF4904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8ABF2ED-5C79-4FD8-B35E-8194554805B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874CE7D-5D74-4EC3-A871-8F42005EC53C}" type="slidenum">
              <a:rPr lang="en-US" smtClean="0"/>
              <a:t>‹#›</a:t>
            </a:fld>
            <a:endParaRPr lang="en-US"/>
          </a:p>
        </p:txBody>
      </p:sp>
    </p:spTree>
    <p:extLst>
      <p:ext uri="{BB962C8B-B14F-4D97-AF65-F5344CB8AC3E}">
        <p14:creationId xmlns:p14="http://schemas.microsoft.com/office/powerpoint/2010/main" val="33592817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oldmansachs/gs-collections" TargetMode="External"/><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hyperlink" Target="https://github.com/eclipse/eclipse-collections/blob/master/CONTRIBUTING.md" TargetMode="External"/><Relationship Id="rId5" Type="http://schemas.openxmlformats.org/officeDocument/2006/relationships/hyperlink" Target="https://github.com/eclipse/eclipse-collections-kata" TargetMode="External"/><Relationship Id="rId4" Type="http://schemas.openxmlformats.org/officeDocument/2006/relationships/hyperlink" Target="https://www.eclipse.org/collections/index.html"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www.barnesandnoble.com/w/eclipse-collections-categorically-donald-raab/1147510676?ean=9798992700732" TargetMode="External"/><Relationship Id="rId7" Type="http://schemas.openxmlformats.org/officeDocument/2006/relationships/image" Target="../media/image7.png"/><Relationship Id="rId2" Type="http://schemas.openxmlformats.org/officeDocument/2006/relationships/hyperlink" Target="https://www.amazon.com/Eclipse-Collections-Categorically-Level-programming/dp/B0F6713S3W/" TargetMode="Externa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hyperlink" Target="https://www.baeldung.com/java-memory-layout" TargetMode="External"/><Relationship Id="rId2" Type="http://schemas.openxmlformats.org/officeDocument/2006/relationships/hyperlink" Target="https://openjdk.org/projects/code-tools/jol/" TargetMode="External"/><Relationship Id="rId1" Type="http://schemas.openxmlformats.org/officeDocument/2006/relationships/slideLayout" Target="../slideLayouts/slideLayout2.xml"/><Relationship Id="rId4" Type="http://schemas.openxmlformats.org/officeDocument/2006/relationships/hyperlink" Target="https://stackoverflow.com/questions/76130264/does-java-object-layout-work-with-java-records"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6.xml"/><Relationship Id="rId5" Type="http://schemas.openxmlformats.org/officeDocument/2006/relationships/image" Target="../media/image20.png"/><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8F5AA-0871-8876-19DB-00AFD273AC3B}"/>
            </a:ext>
          </a:extLst>
        </p:cNvPr>
        <p:cNvGrpSpPr/>
        <p:nvPr/>
      </p:nvGrpSpPr>
      <p:grpSpPr>
        <a:xfrm>
          <a:off x="0" y="0"/>
          <a:ext cx="0" cy="0"/>
          <a:chOff x="0" y="0"/>
          <a:chExt cx="0" cy="0"/>
        </a:xfrm>
      </p:grpSpPr>
      <p:sp>
        <p:nvSpPr>
          <p:cNvPr id="113" name="Title 1">
            <a:extLst>
              <a:ext uri="{FF2B5EF4-FFF2-40B4-BE49-F238E27FC236}">
                <a16:creationId xmlns:a16="http://schemas.microsoft.com/office/drawing/2014/main" id="{48A42719-47BA-FEA3-3944-F8ACA128C59C}"/>
              </a:ext>
            </a:extLst>
          </p:cNvPr>
          <p:cNvSpPr txBox="1">
            <a:spLocks noGrp="1"/>
          </p:cNvSpPr>
          <p:nvPr>
            <p:ph type="ctrTitle"/>
          </p:nvPr>
        </p:nvSpPr>
        <p:spPr>
          <a:xfrm>
            <a:off x="1310766" y="879473"/>
            <a:ext cx="10091738" cy="2387601"/>
          </a:xfrm>
          <a:prstGeom prst="rect">
            <a:avLst/>
          </a:prstGeom>
        </p:spPr>
        <p:txBody>
          <a:bodyPr>
            <a:normAutofit/>
          </a:bodyPr>
          <a:lstStyle/>
          <a:p>
            <a:pPr algn="l"/>
            <a:r>
              <a:rPr lang="en-US" sz="4800" dirty="0">
                <a:latin typeface="JetBrains Mono Medium" panose="02000009000000000000" pitchFamily="49" charset="0"/>
                <a:ea typeface="JetBrains Mono Medium" panose="02000009000000000000" pitchFamily="49" charset="0"/>
                <a:cs typeface="JetBrains Mono Medium" panose="02000009000000000000" pitchFamily="49" charset="0"/>
              </a:rPr>
              <a:t>R</a:t>
            </a:r>
            <a:r>
              <a:rPr sz="4800" dirty="0">
                <a:latin typeface="JetBrains Mono Medium" panose="02000009000000000000" pitchFamily="49" charset="0"/>
                <a:ea typeface="JetBrains Mono Medium" panose="02000009000000000000" pitchFamily="49" charset="0"/>
                <a:cs typeface="JetBrains Mono Medium" panose="02000009000000000000" pitchFamily="49" charset="0"/>
              </a:rPr>
              <a:t>efactoring</a:t>
            </a:r>
            <a:r>
              <a:rPr lang="en-US" sz="4800" dirty="0">
                <a:latin typeface="JetBrains Mono Medium" panose="02000009000000000000" pitchFamily="49" charset="0"/>
                <a:ea typeface="JetBrains Mono Medium" panose="02000009000000000000" pitchFamily="49" charset="0"/>
                <a:cs typeface="JetBrains Mono Medium" panose="02000009000000000000" pitchFamily="49" charset="0"/>
              </a:rPr>
              <a:t>. </a:t>
            </a:r>
            <a:r>
              <a:rPr sz="4800" dirty="0">
                <a:latin typeface="JetBrains Mono Medium" panose="02000009000000000000" pitchFamily="49" charset="0"/>
                <a:ea typeface="JetBrains Mono Medium" panose="02000009000000000000" pitchFamily="49" charset="0"/>
                <a:cs typeface="JetBrains Mono Medium" panose="02000009000000000000" pitchFamily="49" charset="0"/>
              </a:rPr>
              <a:t>to </a:t>
            </a:r>
            <a:br>
              <a:rPr sz="4800" dirty="0">
                <a:latin typeface="JetBrains Mono Medium" panose="02000009000000000000" pitchFamily="49" charset="0"/>
                <a:ea typeface="JetBrains Mono Medium" panose="02000009000000000000" pitchFamily="49" charset="0"/>
                <a:cs typeface="JetBrains Mono Medium" panose="02000009000000000000" pitchFamily="49" charset="0"/>
              </a:rPr>
            </a:br>
            <a:endParaRPr sz="4800" dirty="0">
              <a:latin typeface="JetBrains Mono Medium" panose="02000009000000000000" pitchFamily="49" charset="0"/>
              <a:ea typeface="JetBrains Mono Medium" panose="02000009000000000000" pitchFamily="49" charset="0"/>
              <a:cs typeface="JetBrains Mono Medium" panose="02000009000000000000" pitchFamily="49" charset="0"/>
            </a:endParaRPr>
          </a:p>
        </p:txBody>
      </p:sp>
      <p:sp>
        <p:nvSpPr>
          <p:cNvPr id="114" name="Subtitle 2">
            <a:extLst>
              <a:ext uri="{FF2B5EF4-FFF2-40B4-BE49-F238E27FC236}">
                <a16:creationId xmlns:a16="http://schemas.microsoft.com/office/drawing/2014/main" id="{CAC379AF-70D8-E715-0558-F253007ED9D7}"/>
              </a:ext>
            </a:extLst>
          </p:cNvPr>
          <p:cNvSpPr txBox="1">
            <a:spLocks noGrp="1"/>
          </p:cNvSpPr>
          <p:nvPr>
            <p:ph type="subTitle" sz="quarter" idx="1"/>
          </p:nvPr>
        </p:nvSpPr>
        <p:spPr>
          <a:xfrm>
            <a:off x="1524000" y="3659190"/>
            <a:ext cx="9144000" cy="1155701"/>
          </a:xfrm>
          <a:prstGeom prst="rect">
            <a:avLst/>
          </a:prstGeom>
        </p:spPr>
        <p:txBody>
          <a:bodyPr/>
          <a:lstStyle/>
          <a:p>
            <a:pPr>
              <a:defRPr sz="3200">
                <a:solidFill>
                  <a:srgbClr val="808080"/>
                </a:solidFill>
              </a:defRPr>
            </a:pPr>
            <a:r>
              <a:rPr dirty="0">
                <a:solidFill>
                  <a:schemeClr val="tx1">
                    <a:lumMod val="75000"/>
                    <a:lumOff val="25000"/>
                  </a:schemeClr>
                </a:solidFill>
                <a:latin typeface="Aptos" panose="020B0004020202020204" pitchFamily="34" charset="0"/>
              </a:rPr>
              <a:t>Making Your Java Streams</a:t>
            </a:r>
            <a:br>
              <a:rPr dirty="0">
                <a:solidFill>
                  <a:schemeClr val="tx1">
                    <a:lumMod val="75000"/>
                    <a:lumOff val="25000"/>
                  </a:schemeClr>
                </a:solidFill>
                <a:latin typeface="Aptos" panose="020B0004020202020204" pitchFamily="34" charset="0"/>
              </a:rPr>
            </a:br>
            <a:r>
              <a:rPr dirty="0">
                <a:solidFill>
                  <a:schemeClr val="tx1">
                    <a:lumMod val="75000"/>
                    <a:lumOff val="25000"/>
                  </a:schemeClr>
                </a:solidFill>
                <a:latin typeface="Aptos" panose="020B0004020202020204" pitchFamily="34" charset="0"/>
              </a:rPr>
              <a:t>Leaner, Meaner, and Cleaner</a:t>
            </a:r>
          </a:p>
        </p:txBody>
      </p:sp>
      <p:sp>
        <p:nvSpPr>
          <p:cNvPr id="7" name="TextBox 6">
            <a:extLst>
              <a:ext uri="{FF2B5EF4-FFF2-40B4-BE49-F238E27FC236}">
                <a16:creationId xmlns:a16="http://schemas.microsoft.com/office/drawing/2014/main" id="{59B28D06-FDEE-DBF2-1974-7291C483823E}"/>
              </a:ext>
            </a:extLst>
          </p:cNvPr>
          <p:cNvSpPr txBox="1"/>
          <p:nvPr/>
        </p:nvSpPr>
        <p:spPr>
          <a:xfrm>
            <a:off x="0" y="612648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
        <p:nvSpPr>
          <p:cNvPr id="9" name="TextBox 8">
            <a:extLst>
              <a:ext uri="{FF2B5EF4-FFF2-40B4-BE49-F238E27FC236}">
                <a16:creationId xmlns:a16="http://schemas.microsoft.com/office/drawing/2014/main" id="{8928B405-AAF4-89D5-BBEB-99CBB32DF92B}"/>
              </a:ext>
            </a:extLst>
          </p:cNvPr>
          <p:cNvSpPr txBox="1"/>
          <p:nvPr/>
        </p:nvSpPr>
        <p:spPr>
          <a:xfrm>
            <a:off x="521493" y="612648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
        <p:nvSpPr>
          <p:cNvPr id="10" name="Subtitle 2">
            <a:extLst>
              <a:ext uri="{FF2B5EF4-FFF2-40B4-BE49-F238E27FC236}">
                <a16:creationId xmlns:a16="http://schemas.microsoft.com/office/drawing/2014/main" id="{294E2E0C-60BE-525B-66B3-A158A54C6C43}"/>
              </a:ext>
            </a:extLst>
          </p:cNvPr>
          <p:cNvSpPr txBox="1">
            <a:spLocks/>
          </p:cNvSpPr>
          <p:nvPr/>
        </p:nvSpPr>
        <p:spPr>
          <a:xfrm>
            <a:off x="1524000" y="5745718"/>
            <a:ext cx="9144000" cy="761524"/>
          </a:xfrm>
          <a:prstGeom prst="rect">
            <a:avLst/>
          </a:prstGeom>
          <a:ln w="12700">
            <a:miter lim="400000"/>
          </a:ln>
          <a:extLst>
            <a:ext uri="{C572A759-6A51-4108-AA02-DFA0A04FC94B}">
              <ma14:wrappingTextBoxFlag xmlns:ma14="http://schemas.microsoft.com/office/mac/drawingml/2011/main" xmlns="" val="1"/>
            </a:ext>
          </a:extLst>
        </p:spPr>
        <p:txBody>
          <a:bodyPr lIns="45719" rIns="45719">
            <a:normAutofit lnSpcReduction="10000"/>
          </a:bodyPr>
          <a:lstStyle>
            <a:lvl1pPr marL="0" marR="0" indent="0" algn="ctr" defTabSz="914400" rtl="0" latinLnBrk="0">
              <a:lnSpc>
                <a:spcPct val="90000"/>
              </a:lnSpc>
              <a:spcBef>
                <a:spcPts val="1000"/>
              </a:spcBef>
              <a:spcAft>
                <a:spcPts val="0"/>
              </a:spcAft>
              <a:buClrTx/>
              <a:buSzTx/>
              <a:buFontTx/>
              <a:buNone/>
              <a:tabLst/>
              <a:defRPr sz="2400" b="0" i="0" u="none" strike="noStrike" cap="none" spc="0" baseline="0">
                <a:ln>
                  <a:noFill/>
                </a:ln>
                <a:solidFill>
                  <a:srgbClr val="000000"/>
                </a:solidFill>
                <a:uFillTx/>
                <a:latin typeface="Univers"/>
                <a:ea typeface="Univers"/>
                <a:cs typeface="Univers"/>
                <a:sym typeface="Univers"/>
              </a:defRPr>
            </a:lvl1pPr>
            <a:lvl2pPr marL="0" marR="0" indent="457200" algn="ctr" defTabSz="914400" rtl="0" latinLnBrk="0">
              <a:lnSpc>
                <a:spcPct val="90000"/>
              </a:lnSpc>
              <a:spcBef>
                <a:spcPts val="1000"/>
              </a:spcBef>
              <a:spcAft>
                <a:spcPts val="0"/>
              </a:spcAft>
              <a:buClrTx/>
              <a:buSzTx/>
              <a:buFontTx/>
              <a:buNone/>
              <a:tabLst/>
              <a:defRPr sz="2400" b="0" i="0" u="none" strike="noStrike" cap="none" spc="0" baseline="0">
                <a:ln>
                  <a:noFill/>
                </a:ln>
                <a:solidFill>
                  <a:srgbClr val="000000"/>
                </a:solidFill>
                <a:uFillTx/>
                <a:latin typeface="Univers"/>
                <a:ea typeface="Univers"/>
                <a:cs typeface="Univers"/>
                <a:sym typeface="Univers"/>
              </a:defRPr>
            </a:lvl2pPr>
            <a:lvl3pPr marL="0" marR="0" indent="914400" algn="ctr" defTabSz="914400" rtl="0" latinLnBrk="0">
              <a:lnSpc>
                <a:spcPct val="90000"/>
              </a:lnSpc>
              <a:spcBef>
                <a:spcPts val="1000"/>
              </a:spcBef>
              <a:spcAft>
                <a:spcPts val="0"/>
              </a:spcAft>
              <a:buClrTx/>
              <a:buSzTx/>
              <a:buFontTx/>
              <a:buNone/>
              <a:tabLst/>
              <a:defRPr sz="2400" b="0" i="0" u="none" strike="noStrike" cap="none" spc="0" baseline="0">
                <a:ln>
                  <a:noFill/>
                </a:ln>
                <a:solidFill>
                  <a:srgbClr val="000000"/>
                </a:solidFill>
                <a:uFillTx/>
                <a:latin typeface="Univers"/>
                <a:ea typeface="Univers"/>
                <a:cs typeface="Univers"/>
                <a:sym typeface="Univers"/>
              </a:defRPr>
            </a:lvl3pPr>
            <a:lvl4pPr marL="0" marR="0" indent="1371600" algn="ctr" defTabSz="914400" rtl="0" latinLnBrk="0">
              <a:lnSpc>
                <a:spcPct val="90000"/>
              </a:lnSpc>
              <a:spcBef>
                <a:spcPts val="1000"/>
              </a:spcBef>
              <a:spcAft>
                <a:spcPts val="0"/>
              </a:spcAft>
              <a:buClrTx/>
              <a:buSzTx/>
              <a:buFontTx/>
              <a:buNone/>
              <a:tabLst/>
              <a:defRPr sz="2400" b="0" i="0" u="none" strike="noStrike" cap="none" spc="0" baseline="0">
                <a:ln>
                  <a:noFill/>
                </a:ln>
                <a:solidFill>
                  <a:srgbClr val="000000"/>
                </a:solidFill>
                <a:uFillTx/>
                <a:latin typeface="Univers"/>
                <a:ea typeface="Univers"/>
                <a:cs typeface="Univers"/>
                <a:sym typeface="Univers"/>
              </a:defRPr>
            </a:lvl4pPr>
            <a:lvl5pPr marL="0" marR="0" indent="1828800" algn="ctr" defTabSz="914400" rtl="0" latinLnBrk="0">
              <a:lnSpc>
                <a:spcPct val="90000"/>
              </a:lnSpc>
              <a:spcBef>
                <a:spcPts val="1000"/>
              </a:spcBef>
              <a:spcAft>
                <a:spcPts val="0"/>
              </a:spcAft>
              <a:buClrTx/>
              <a:buSzTx/>
              <a:buFontTx/>
              <a:buNone/>
              <a:tabLst/>
              <a:defRPr sz="2400" b="0" i="0" u="none" strike="noStrike" cap="none" spc="0" baseline="0">
                <a:ln>
                  <a:noFill/>
                </a:ln>
                <a:solidFill>
                  <a:srgbClr val="000000"/>
                </a:solidFill>
                <a:uFillTx/>
                <a:latin typeface="Univers"/>
                <a:ea typeface="Univers"/>
                <a:cs typeface="Univers"/>
                <a:sym typeface="Univers"/>
              </a:defRPr>
            </a:lvl5pPr>
            <a:lvl6pPr marL="26416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ln>
                  <a:noFill/>
                </a:ln>
                <a:solidFill>
                  <a:srgbClr val="000000"/>
                </a:solidFill>
                <a:uFillTx/>
                <a:latin typeface="Univers"/>
                <a:ea typeface="Univers"/>
                <a:cs typeface="Univers"/>
                <a:sym typeface="Univers"/>
              </a:defRPr>
            </a:lvl6pPr>
            <a:lvl7pPr marL="30988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ln>
                  <a:noFill/>
                </a:ln>
                <a:solidFill>
                  <a:srgbClr val="000000"/>
                </a:solidFill>
                <a:uFillTx/>
                <a:latin typeface="Univers"/>
                <a:ea typeface="Univers"/>
                <a:cs typeface="Univers"/>
                <a:sym typeface="Univers"/>
              </a:defRPr>
            </a:lvl7pPr>
            <a:lvl8pPr marL="35560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ln>
                  <a:noFill/>
                </a:ln>
                <a:solidFill>
                  <a:srgbClr val="000000"/>
                </a:solidFill>
                <a:uFillTx/>
                <a:latin typeface="Univers"/>
                <a:ea typeface="Univers"/>
                <a:cs typeface="Univers"/>
                <a:sym typeface="Univers"/>
              </a:defRPr>
            </a:lvl8pPr>
            <a:lvl9pPr marL="4013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ln>
                  <a:noFill/>
                </a:ln>
                <a:solidFill>
                  <a:srgbClr val="000000"/>
                </a:solidFill>
                <a:uFillTx/>
                <a:latin typeface="Univers"/>
                <a:ea typeface="Univers"/>
                <a:cs typeface="Univers"/>
                <a:sym typeface="Univers"/>
              </a:defRPr>
            </a:lvl9pPr>
          </a:lstStyle>
          <a:p>
            <a:pPr hangingPunct="1">
              <a:defRPr sz="3200">
                <a:solidFill>
                  <a:srgbClr val="808080"/>
                </a:solidFill>
              </a:defRPr>
            </a:pPr>
            <a:r>
              <a:rPr lang="en-US" sz="2000" dirty="0">
                <a:solidFill>
                  <a:srgbClr val="808080"/>
                </a:solidFill>
                <a:latin typeface="Aptos" panose="020B0004020202020204" pitchFamily="34" charset="0"/>
              </a:rPr>
              <a:t>Donal Raab, Vladimir Zakharov</a:t>
            </a:r>
          </a:p>
          <a:p>
            <a:pPr hangingPunct="1">
              <a:defRPr sz="3200">
                <a:solidFill>
                  <a:srgbClr val="808080"/>
                </a:solidFill>
              </a:defRPr>
            </a:pPr>
            <a:r>
              <a:rPr lang="en-US" sz="2000" dirty="0">
                <a:solidFill>
                  <a:srgbClr val="808080"/>
                </a:solidFill>
                <a:latin typeface="Aptos" panose="020B0004020202020204" pitchFamily="34" charset="0"/>
              </a:rPr>
              <a:t>dev2next • Colorado Springs, CO • September 29 - October 2, 2025</a:t>
            </a:r>
          </a:p>
        </p:txBody>
      </p:sp>
      <p:pic>
        <p:nvPicPr>
          <p:cNvPr id="2" name="Graphic 1">
            <a:extLst>
              <a:ext uri="{FF2B5EF4-FFF2-40B4-BE49-F238E27FC236}">
                <a16:creationId xmlns:a16="http://schemas.microsoft.com/office/drawing/2014/main" id="{37F2FECC-480C-2F02-FCD7-9A91EC5BFB8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818255" y="1522310"/>
            <a:ext cx="4951962" cy="1361004"/>
          </a:xfrm>
          <a:prstGeom prst="rect">
            <a:avLst/>
          </a:prstGeom>
        </p:spPr>
      </p:pic>
    </p:spTree>
    <p:extLst>
      <p:ext uri="{BB962C8B-B14F-4D97-AF65-F5344CB8AC3E}">
        <p14:creationId xmlns:p14="http://schemas.microsoft.com/office/powerpoint/2010/main" val="36194685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6" name="Picture 8" descr="Picture 8"/>
          <p:cNvPicPr>
            <a:picLocks noChangeAspect="1"/>
          </p:cNvPicPr>
          <p:nvPr/>
        </p:nvPicPr>
        <p:blipFill>
          <a:blip r:embed="rId2"/>
          <a:stretch>
            <a:fillRect/>
          </a:stretch>
        </p:blipFill>
        <p:spPr>
          <a:xfrm>
            <a:off x="9334568" y="2405269"/>
            <a:ext cx="1257273" cy="958507"/>
          </a:xfrm>
          <a:prstGeom prst="rect">
            <a:avLst/>
          </a:prstGeom>
          <a:ln w="12700">
            <a:miter lim="400000"/>
          </a:ln>
        </p:spPr>
      </p:pic>
      <p:sp>
        <p:nvSpPr>
          <p:cNvPr id="117" name="Title 1"/>
          <p:cNvSpPr txBox="1">
            <a:spLocks noGrp="1"/>
          </p:cNvSpPr>
          <p:nvPr>
            <p:ph type="title"/>
          </p:nvPr>
        </p:nvSpPr>
        <p:spPr>
          <a:xfrm>
            <a:off x="838200" y="228600"/>
            <a:ext cx="10515600" cy="822960"/>
          </a:xfrm>
        </p:spPr>
        <p:txBody>
          <a:bodyPr/>
          <a:lstStyle/>
          <a:p>
            <a:r>
              <a:rPr lang="en-US" dirty="0"/>
              <a:t>Introduction</a:t>
            </a:r>
          </a:p>
        </p:txBody>
      </p:sp>
      <p:sp>
        <p:nvSpPr>
          <p:cNvPr id="118" name="Content Placeholder 2"/>
          <p:cNvSpPr txBox="1">
            <a:spLocks noGrp="1"/>
          </p:cNvSpPr>
          <p:nvPr>
            <p:ph idx="1"/>
          </p:nvPr>
        </p:nvSpPr>
        <p:spPr>
          <a:xfrm>
            <a:off x="838200" y="1232747"/>
            <a:ext cx="10515600" cy="4944216"/>
          </a:xfrm>
        </p:spPr>
        <p:txBody>
          <a:bodyPr>
            <a:normAutofit fontScale="92500" lnSpcReduction="10000"/>
          </a:bodyPr>
          <a:lstStyle/>
          <a:p>
            <a:pPr>
              <a:lnSpc>
                <a:spcPct val="110000"/>
              </a:lnSpc>
            </a:pPr>
            <a:r>
              <a:rPr lang="en-US" dirty="0"/>
              <a:t>What is Eclipse Collections?</a:t>
            </a:r>
          </a:p>
          <a:p>
            <a:pPr lvl="1">
              <a:lnSpc>
                <a:spcPct val="110000"/>
              </a:lnSpc>
            </a:pPr>
            <a:r>
              <a:rPr lang="en-US" dirty="0"/>
              <a:t>Feature rich, memory efficient Java Collections framework</a:t>
            </a:r>
          </a:p>
          <a:p>
            <a:pPr>
              <a:lnSpc>
                <a:spcPct val="110000"/>
              </a:lnSpc>
            </a:pPr>
            <a:r>
              <a:rPr lang="en-US" dirty="0"/>
              <a:t>History</a:t>
            </a:r>
          </a:p>
          <a:p>
            <a:pPr lvl="1">
              <a:lnSpc>
                <a:spcPct val="110000"/>
              </a:lnSpc>
            </a:pPr>
            <a:r>
              <a:rPr lang="en-US" dirty="0"/>
              <a:t>Eclipse Collections started off as an internal collections</a:t>
            </a:r>
            <a:br>
              <a:rPr lang="en-US" dirty="0"/>
            </a:br>
            <a:r>
              <a:rPr lang="en-US" dirty="0"/>
              <a:t>framework named Caramel at Goldman Sachs in 2004</a:t>
            </a:r>
          </a:p>
          <a:p>
            <a:pPr lvl="1">
              <a:lnSpc>
                <a:spcPct val="110000"/>
              </a:lnSpc>
            </a:pPr>
            <a:r>
              <a:rPr lang="en-US" dirty="0"/>
              <a:t>In 2012, it was open sourced to GitHub as a project called </a:t>
            </a:r>
            <a:r>
              <a:rPr lang="en-US" dirty="0">
                <a:hlinkClick r:id="rId3"/>
              </a:rPr>
              <a:t>GS Collections</a:t>
            </a:r>
          </a:p>
          <a:p>
            <a:pPr lvl="1">
              <a:lnSpc>
                <a:spcPct val="110000"/>
              </a:lnSpc>
            </a:pPr>
            <a:r>
              <a:rPr lang="en-US" dirty="0"/>
              <a:t>GS Collections was migrated to the Eclipse Foundation, re-branded as </a:t>
            </a:r>
            <a:r>
              <a:rPr lang="en-US" dirty="0">
                <a:hlinkClick r:id="rId4"/>
              </a:rPr>
              <a:t>Eclipse Collections</a:t>
            </a:r>
            <a:r>
              <a:rPr lang="en-US" dirty="0"/>
              <a:t> in 2015</a:t>
            </a:r>
          </a:p>
          <a:p>
            <a:pPr lvl="1">
              <a:lnSpc>
                <a:spcPct val="110000"/>
              </a:lnSpc>
            </a:pPr>
            <a:r>
              <a:rPr lang="en-US" dirty="0"/>
              <a:t>Eclipse Collections 12.0 (Java 11+) &amp; 13.0 (Java 17+) released in June 2025</a:t>
            </a:r>
          </a:p>
          <a:p>
            <a:pPr>
              <a:lnSpc>
                <a:spcPct val="110000"/>
              </a:lnSpc>
            </a:pPr>
            <a:r>
              <a:rPr lang="en-US" dirty="0"/>
              <a:t>Learn Eclipse Collections with </a:t>
            </a:r>
            <a:r>
              <a:rPr lang="en-US" dirty="0">
                <a:hlinkClick r:id="rId5"/>
              </a:rPr>
              <a:t>Kata</a:t>
            </a:r>
          </a:p>
          <a:p>
            <a:pPr>
              <a:lnSpc>
                <a:spcPct val="110000"/>
              </a:lnSpc>
            </a:pPr>
            <a:r>
              <a:rPr lang="en-US" dirty="0"/>
              <a:t>Eclipse Collections is </a:t>
            </a:r>
            <a:r>
              <a:rPr lang="en-US" dirty="0">
                <a:hlinkClick r:id="rId6"/>
              </a:rPr>
              <a:t>open for contributions</a:t>
            </a:r>
            <a:r>
              <a:rPr lang="en-US" dirty="0"/>
              <a:t>!</a:t>
            </a:r>
          </a:p>
        </p:txBody>
      </p:sp>
      <p:sp>
        <p:nvSpPr>
          <p:cNvPr id="119" name="Slide Number Placeholder 3"/>
          <p:cNvSpPr txBox="1">
            <a:spLocks noGrp="1"/>
          </p:cNvSpPr>
          <p:nvPr>
            <p:ph type="sldNum" sz="quarter" idx="12"/>
          </p:nvPr>
        </p:nvSpPr>
        <p:spPr>
          <a:xfrm>
            <a:off x="8610600" y="6356350"/>
            <a:ext cx="2743200" cy="365125"/>
          </a:xfrm>
          <a:ln w="12700">
            <a:miter lim="400000"/>
          </a:ln>
          <a:extLst>
            <a:ext uri="{C572A759-6A51-4108-AA02-DFA0A04FC94B}">
              <ma14:wrappingTextBoxFlag xmlns:ma14="http://schemas.microsoft.com/office/mac/drawingml/2011/main" xmlns="" val="1"/>
            </a:ext>
          </a:extLst>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Univers"/>
                <a:ea typeface="Univers"/>
                <a:cs typeface="Univers"/>
                <a:sym typeface="Univers"/>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9pPr>
          </a:lstStyle>
          <a:p>
            <a:fld id="{86CB4B4D-7CA3-9044-876B-883B54F8677D}" type="slidenum">
              <a:rPr lang="en-US" smtClean="0"/>
              <a:pPr/>
              <a:t>2</a:t>
            </a:fld>
            <a:endParaRPr lang="en-US"/>
          </a:p>
        </p:txBody>
      </p:sp>
      <p:sp>
        <p:nvSpPr>
          <p:cNvPr id="2" name="TextBox 1">
            <a:extLst>
              <a:ext uri="{FF2B5EF4-FFF2-40B4-BE49-F238E27FC236}">
                <a16:creationId xmlns:a16="http://schemas.microsoft.com/office/drawing/2014/main" id="{140951FD-72B5-1819-93DD-3D1D3503E3C2}"/>
              </a:ext>
            </a:extLst>
          </p:cNvPr>
          <p:cNvSpPr txBox="1"/>
          <p:nvPr/>
        </p:nvSpPr>
        <p:spPr>
          <a:xfrm>
            <a:off x="0" y="612648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5329DB-F132-1CDD-B0AC-FDD56811B5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556C1E-2DF4-224F-A78F-EE95CF50C488}"/>
              </a:ext>
            </a:extLst>
          </p:cNvPr>
          <p:cNvSpPr>
            <a:spLocks noGrp="1"/>
          </p:cNvSpPr>
          <p:nvPr>
            <p:ph type="title"/>
          </p:nvPr>
        </p:nvSpPr>
        <p:spPr/>
        <p:txBody>
          <a:bodyPr/>
          <a:lstStyle/>
          <a:p>
            <a:r>
              <a:rPr lang="en-US" dirty="0"/>
              <a:t>Book: Eclipse Collections Categorically</a:t>
            </a:r>
          </a:p>
        </p:txBody>
      </p:sp>
      <p:sp>
        <p:nvSpPr>
          <p:cNvPr id="3" name="Text Placeholder 2">
            <a:extLst>
              <a:ext uri="{FF2B5EF4-FFF2-40B4-BE49-F238E27FC236}">
                <a16:creationId xmlns:a16="http://schemas.microsoft.com/office/drawing/2014/main" id="{8CCE1F3B-31EF-B567-26A6-3CF0B9A8D374}"/>
              </a:ext>
            </a:extLst>
          </p:cNvPr>
          <p:cNvSpPr>
            <a:spLocks noGrp="1"/>
          </p:cNvSpPr>
          <p:nvPr>
            <p:ph type="body" idx="1"/>
          </p:nvPr>
        </p:nvSpPr>
        <p:spPr/>
        <p:txBody>
          <a:bodyPr/>
          <a:lstStyle/>
          <a:p>
            <a:r>
              <a:rPr lang="en-US" dirty="0"/>
              <a:t>Paperback, Hardcover(x2), and eBook Versions Available</a:t>
            </a:r>
          </a:p>
          <a:p>
            <a:r>
              <a:rPr lang="en-US" dirty="0">
                <a:hlinkClick r:id="rId2"/>
              </a:rPr>
              <a:t>Amazon</a:t>
            </a:r>
            <a:r>
              <a:rPr lang="en-US" dirty="0"/>
              <a:t> / </a:t>
            </a:r>
            <a:r>
              <a:rPr lang="en-US" dirty="0">
                <a:hlinkClick r:id="rId3"/>
              </a:rPr>
              <a:t>Barnes &amp; Noble</a:t>
            </a:r>
            <a:endParaRPr lang="en-US" dirty="0"/>
          </a:p>
        </p:txBody>
      </p:sp>
      <p:pic>
        <p:nvPicPr>
          <p:cNvPr id="9" name="Picture 8">
            <a:extLst>
              <a:ext uri="{FF2B5EF4-FFF2-40B4-BE49-F238E27FC236}">
                <a16:creationId xmlns:a16="http://schemas.microsoft.com/office/drawing/2014/main" id="{CB1845BA-7DEE-DA32-D5ED-B225F441C9BC}"/>
              </a:ext>
            </a:extLst>
          </p:cNvPr>
          <p:cNvPicPr>
            <a:picLocks noChangeAspect="1"/>
          </p:cNvPicPr>
          <p:nvPr/>
        </p:nvPicPr>
        <p:blipFill>
          <a:blip r:embed="rId4"/>
          <a:stretch>
            <a:fillRect/>
          </a:stretch>
        </p:blipFill>
        <p:spPr>
          <a:xfrm>
            <a:off x="8718083" y="2471735"/>
            <a:ext cx="2990884" cy="3848565"/>
          </a:xfrm>
          <a:prstGeom prst="rect">
            <a:avLst/>
          </a:prstGeom>
          <a:ln>
            <a:noFill/>
          </a:ln>
          <a:effectLst>
            <a:outerShdw blurRad="190500" algn="tl" rotWithShape="0">
              <a:srgbClr val="000000">
                <a:alpha val="70000"/>
              </a:srgbClr>
            </a:outerShdw>
          </a:effectLst>
          <a:scene3d>
            <a:camera prst="orthographicFront">
              <a:rot lat="0" lon="0" rev="0"/>
            </a:camera>
            <a:lightRig rig="threePt" dir="t"/>
          </a:scene3d>
        </p:spPr>
      </p:pic>
      <p:pic>
        <p:nvPicPr>
          <p:cNvPr id="11" name="Picture 10">
            <a:extLst>
              <a:ext uri="{FF2B5EF4-FFF2-40B4-BE49-F238E27FC236}">
                <a16:creationId xmlns:a16="http://schemas.microsoft.com/office/drawing/2014/main" id="{FFB2F71A-38D3-5E9B-ABA0-5ECDE410CB39}"/>
              </a:ext>
            </a:extLst>
          </p:cNvPr>
          <p:cNvPicPr>
            <a:picLocks noChangeAspect="1"/>
          </p:cNvPicPr>
          <p:nvPr/>
        </p:nvPicPr>
        <p:blipFill>
          <a:blip r:embed="rId5"/>
          <a:stretch>
            <a:fillRect/>
          </a:stretch>
        </p:blipFill>
        <p:spPr>
          <a:xfrm>
            <a:off x="704688" y="3103681"/>
            <a:ext cx="2224384" cy="2753166"/>
          </a:xfrm>
          <a:prstGeom prst="rect">
            <a:avLst/>
          </a:prstGeom>
          <a:ln>
            <a:noFill/>
          </a:ln>
          <a:effectLst>
            <a:outerShdw blurRad="190500" algn="tl" rotWithShape="0">
              <a:srgbClr val="000000">
                <a:alpha val="70000"/>
              </a:srgbClr>
            </a:outerShdw>
          </a:effectLst>
          <a:scene3d>
            <a:camera prst="perspectiveAbove">
              <a:rot lat="0" lon="0" rev="0"/>
            </a:camera>
            <a:lightRig rig="threePt" dir="t"/>
          </a:scene3d>
        </p:spPr>
      </p:pic>
      <p:pic>
        <p:nvPicPr>
          <p:cNvPr id="13" name="Picture 12">
            <a:extLst>
              <a:ext uri="{FF2B5EF4-FFF2-40B4-BE49-F238E27FC236}">
                <a16:creationId xmlns:a16="http://schemas.microsoft.com/office/drawing/2014/main" id="{66A072D1-8C1B-C6A1-8390-02C3F89D971A}"/>
              </a:ext>
            </a:extLst>
          </p:cNvPr>
          <p:cNvPicPr>
            <a:picLocks noChangeAspect="1"/>
          </p:cNvPicPr>
          <p:nvPr/>
        </p:nvPicPr>
        <p:blipFill>
          <a:blip r:embed="rId6"/>
          <a:stretch>
            <a:fillRect/>
          </a:stretch>
        </p:blipFill>
        <p:spPr>
          <a:xfrm>
            <a:off x="3204512" y="3001707"/>
            <a:ext cx="2321742" cy="2865221"/>
          </a:xfrm>
          <a:prstGeom prst="rect">
            <a:avLst/>
          </a:prstGeom>
          <a:ln>
            <a:noFill/>
          </a:ln>
          <a:effectLst>
            <a:outerShdw blurRad="190500" algn="tl" rotWithShape="0">
              <a:srgbClr val="000000">
                <a:alpha val="70000"/>
              </a:srgbClr>
            </a:outerShdw>
          </a:effectLst>
          <a:scene3d>
            <a:camera prst="perspectiveAbove">
              <a:rot lat="0" lon="0" rev="0"/>
            </a:camera>
            <a:lightRig rig="threePt" dir="t"/>
          </a:scene3d>
        </p:spPr>
      </p:pic>
      <p:pic>
        <p:nvPicPr>
          <p:cNvPr id="15" name="Picture 14">
            <a:extLst>
              <a:ext uri="{FF2B5EF4-FFF2-40B4-BE49-F238E27FC236}">
                <a16:creationId xmlns:a16="http://schemas.microsoft.com/office/drawing/2014/main" id="{7A2FAC23-E225-045D-3924-56C311FB59C9}"/>
              </a:ext>
            </a:extLst>
          </p:cNvPr>
          <p:cNvPicPr>
            <a:picLocks noChangeAspect="1"/>
          </p:cNvPicPr>
          <p:nvPr/>
        </p:nvPicPr>
        <p:blipFill>
          <a:blip r:embed="rId7"/>
          <a:stretch>
            <a:fillRect/>
          </a:stretch>
        </p:blipFill>
        <p:spPr>
          <a:xfrm>
            <a:off x="5801694" y="2746444"/>
            <a:ext cx="2640950" cy="3375748"/>
          </a:xfrm>
          <a:prstGeom prst="rect">
            <a:avLst/>
          </a:prstGeom>
          <a:ln>
            <a:noFill/>
          </a:ln>
          <a:effectLst>
            <a:outerShdw blurRad="190500" algn="tl" rotWithShape="0">
              <a:srgbClr val="000000">
                <a:alpha val="70000"/>
              </a:srgbClr>
            </a:outerShdw>
          </a:effectLst>
          <a:scene3d>
            <a:camera prst="perspectiveAbove">
              <a:rot lat="0" lon="0" rev="0"/>
            </a:camera>
            <a:lightRig rig="threePt" dir="t"/>
          </a:scene3d>
        </p:spPr>
      </p:pic>
      <p:sp>
        <p:nvSpPr>
          <p:cNvPr id="16" name="Slide Number Placeholder 15">
            <a:extLst>
              <a:ext uri="{FF2B5EF4-FFF2-40B4-BE49-F238E27FC236}">
                <a16:creationId xmlns:a16="http://schemas.microsoft.com/office/drawing/2014/main" id="{6FF7FC18-535D-D34A-D488-0BC47BB35900}"/>
              </a:ext>
            </a:extLst>
          </p:cNvPr>
          <p:cNvSpPr>
            <a:spLocks noGrp="1"/>
          </p:cNvSpPr>
          <p:nvPr>
            <p:ph type="sldNum" sz="quarter" idx="2"/>
          </p:nvPr>
        </p:nvSpPr>
        <p:spPr>
          <a:xfrm>
            <a:off x="11080144" y="6404292"/>
            <a:ext cx="273657" cy="269241"/>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Univers"/>
                <a:ea typeface="Univers"/>
                <a:cs typeface="Univers"/>
                <a:sym typeface="Univers"/>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9pPr>
          </a:lstStyle>
          <a:p>
            <a:fld id="{86CB4B4D-7CA3-9044-876B-883B54F8677D}" type="slidenum">
              <a:rPr lang="en-US" smtClean="0"/>
              <a:pPr/>
              <a:t>3</a:t>
            </a:fld>
            <a:endParaRPr lang="en-US"/>
          </a:p>
        </p:txBody>
      </p:sp>
      <p:sp>
        <p:nvSpPr>
          <p:cNvPr id="4" name="TextBox 3">
            <a:extLst>
              <a:ext uri="{FF2B5EF4-FFF2-40B4-BE49-F238E27FC236}">
                <a16:creationId xmlns:a16="http://schemas.microsoft.com/office/drawing/2014/main" id="{2B5ABF5A-A6E5-2E07-3BE8-1A167E334055}"/>
              </a:ext>
            </a:extLst>
          </p:cNvPr>
          <p:cNvSpPr txBox="1"/>
          <p:nvPr/>
        </p:nvSpPr>
        <p:spPr>
          <a:xfrm>
            <a:off x="0" y="612648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Tree>
    <p:extLst>
      <p:ext uri="{BB962C8B-B14F-4D97-AF65-F5344CB8AC3E}">
        <p14:creationId xmlns:p14="http://schemas.microsoft.com/office/powerpoint/2010/main" val="23768506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 name="Straight Connector 52"/>
          <p:cNvSpPr/>
          <p:nvPr/>
        </p:nvSpPr>
        <p:spPr>
          <a:xfrm>
            <a:off x="5165294" y="5076153"/>
            <a:ext cx="771532" cy="1162728"/>
          </a:xfrm>
          <a:prstGeom prst="line">
            <a:avLst/>
          </a:prstGeom>
          <a:ln w="28575">
            <a:solidFill>
              <a:srgbClr val="2E75B6"/>
            </a:solidFill>
            <a:miter/>
          </a:ln>
        </p:spPr>
        <p:txBody>
          <a:bodyPr lIns="45719" rIns="45719"/>
          <a:lstStyle/>
          <a:p>
            <a:endParaRPr/>
          </a:p>
        </p:txBody>
      </p:sp>
      <p:sp>
        <p:nvSpPr>
          <p:cNvPr id="122" name="Straight Connector 53"/>
          <p:cNvSpPr/>
          <p:nvPr/>
        </p:nvSpPr>
        <p:spPr>
          <a:xfrm flipH="1">
            <a:off x="2355272" y="4986001"/>
            <a:ext cx="2812962" cy="699382"/>
          </a:xfrm>
          <a:prstGeom prst="line">
            <a:avLst/>
          </a:prstGeom>
          <a:ln w="28575">
            <a:solidFill>
              <a:srgbClr val="2E75B6"/>
            </a:solidFill>
            <a:miter/>
          </a:ln>
        </p:spPr>
        <p:txBody>
          <a:bodyPr lIns="45719" rIns="45719"/>
          <a:lstStyle/>
          <a:p>
            <a:endParaRPr/>
          </a:p>
        </p:txBody>
      </p:sp>
      <p:sp>
        <p:nvSpPr>
          <p:cNvPr id="123" name="Straight Connector 72"/>
          <p:cNvSpPr/>
          <p:nvPr/>
        </p:nvSpPr>
        <p:spPr>
          <a:xfrm flipH="1" flipV="1">
            <a:off x="8109398" y="3796048"/>
            <a:ext cx="1714053" cy="431555"/>
          </a:xfrm>
          <a:prstGeom prst="line">
            <a:avLst/>
          </a:prstGeom>
          <a:ln w="28575">
            <a:solidFill>
              <a:srgbClr val="2E75B6"/>
            </a:solidFill>
            <a:miter/>
          </a:ln>
        </p:spPr>
        <p:txBody>
          <a:bodyPr lIns="45719" rIns="45719"/>
          <a:lstStyle/>
          <a:p>
            <a:endParaRPr/>
          </a:p>
        </p:txBody>
      </p:sp>
      <p:sp>
        <p:nvSpPr>
          <p:cNvPr id="124" name="Straight Connector 69"/>
          <p:cNvSpPr/>
          <p:nvPr/>
        </p:nvSpPr>
        <p:spPr>
          <a:xfrm flipH="1">
            <a:off x="8094342" y="2921023"/>
            <a:ext cx="1361717" cy="836029"/>
          </a:xfrm>
          <a:prstGeom prst="line">
            <a:avLst/>
          </a:prstGeom>
          <a:ln w="28575">
            <a:solidFill>
              <a:srgbClr val="2E75B6"/>
            </a:solidFill>
            <a:miter/>
          </a:ln>
        </p:spPr>
        <p:txBody>
          <a:bodyPr lIns="45719" rIns="45719"/>
          <a:lstStyle/>
          <a:p>
            <a:endParaRPr/>
          </a:p>
        </p:txBody>
      </p:sp>
      <p:sp>
        <p:nvSpPr>
          <p:cNvPr id="125" name="Oval 55"/>
          <p:cNvSpPr/>
          <p:nvPr/>
        </p:nvSpPr>
        <p:spPr>
          <a:xfrm>
            <a:off x="5467937" y="2576220"/>
            <a:ext cx="146397" cy="146397"/>
          </a:xfrm>
          <a:prstGeom prst="ellipse">
            <a:avLst/>
          </a:prstGeom>
          <a:solidFill>
            <a:srgbClr val="FFFFFF"/>
          </a:solidFill>
          <a:ln w="12700">
            <a:miter lim="400000"/>
          </a:ln>
        </p:spPr>
        <p:txBody>
          <a:bodyPr lIns="45719" rIns="45719" anchor="ctr"/>
          <a:lstStyle/>
          <a:p>
            <a:pPr algn="ctr">
              <a:defRPr>
                <a:solidFill>
                  <a:srgbClr val="FFFFFF"/>
                </a:solidFill>
              </a:defRPr>
            </a:pPr>
            <a:endParaRPr/>
          </a:p>
        </p:txBody>
      </p:sp>
      <p:sp>
        <p:nvSpPr>
          <p:cNvPr id="186" name="Straight Connector 38"/>
          <p:cNvSpPr/>
          <p:nvPr/>
        </p:nvSpPr>
        <p:spPr>
          <a:xfrm>
            <a:off x="5583508" y="1700347"/>
            <a:ext cx="631229" cy="889371"/>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lnTo>
                  <a:pt x="0" y="21600"/>
                </a:lnTo>
              </a:path>
            </a:pathLst>
          </a:custGeom>
          <a:ln w="28575">
            <a:solidFill>
              <a:srgbClr val="2E75B6"/>
            </a:solidFill>
            <a:miter/>
          </a:ln>
        </p:spPr>
        <p:txBody>
          <a:bodyPr/>
          <a:lstStyle/>
          <a:p>
            <a:endParaRPr/>
          </a:p>
        </p:txBody>
      </p:sp>
      <p:sp>
        <p:nvSpPr>
          <p:cNvPr id="187" name="Straight Connector 37"/>
          <p:cNvSpPr/>
          <p:nvPr/>
        </p:nvSpPr>
        <p:spPr>
          <a:xfrm>
            <a:off x="3505610" y="1650249"/>
            <a:ext cx="1969800" cy="966907"/>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21600" y="21600"/>
                </a:lnTo>
              </a:path>
            </a:pathLst>
          </a:custGeom>
          <a:ln w="28575">
            <a:solidFill>
              <a:srgbClr val="2E75B6"/>
            </a:solidFill>
            <a:miter/>
          </a:ln>
        </p:spPr>
        <p:txBody>
          <a:bodyPr/>
          <a:lstStyle/>
          <a:p>
            <a:endParaRPr/>
          </a:p>
        </p:txBody>
      </p:sp>
      <p:sp>
        <p:nvSpPr>
          <p:cNvPr id="128" name="Straight Connector 56"/>
          <p:cNvSpPr/>
          <p:nvPr/>
        </p:nvSpPr>
        <p:spPr>
          <a:xfrm flipV="1">
            <a:off x="5434884" y="2722616"/>
            <a:ext cx="106252" cy="1057334"/>
          </a:xfrm>
          <a:prstGeom prst="line">
            <a:avLst/>
          </a:prstGeom>
          <a:ln w="76200">
            <a:solidFill>
              <a:srgbClr val="2E75B6"/>
            </a:solidFill>
            <a:miter/>
          </a:ln>
        </p:spPr>
        <p:txBody>
          <a:bodyPr lIns="45719" rIns="45719"/>
          <a:lstStyle/>
          <a:p>
            <a:endParaRPr/>
          </a:p>
        </p:txBody>
      </p:sp>
      <p:sp>
        <p:nvSpPr>
          <p:cNvPr id="129" name="Straight Connector 28"/>
          <p:cNvSpPr/>
          <p:nvPr/>
        </p:nvSpPr>
        <p:spPr>
          <a:xfrm flipH="1" flipV="1">
            <a:off x="5495387" y="3961331"/>
            <a:ext cx="3505302" cy="1242707"/>
          </a:xfrm>
          <a:prstGeom prst="line">
            <a:avLst/>
          </a:prstGeom>
          <a:ln w="76200">
            <a:solidFill>
              <a:srgbClr val="2E75B6"/>
            </a:solidFill>
            <a:miter/>
          </a:ln>
        </p:spPr>
        <p:txBody>
          <a:bodyPr lIns="45719" rIns="45719"/>
          <a:lstStyle/>
          <a:p>
            <a:endParaRPr/>
          </a:p>
        </p:txBody>
      </p:sp>
      <p:sp>
        <p:nvSpPr>
          <p:cNvPr id="130" name="Straight Connector 23"/>
          <p:cNvSpPr/>
          <p:nvPr/>
        </p:nvSpPr>
        <p:spPr>
          <a:xfrm flipV="1">
            <a:off x="5168232" y="3992451"/>
            <a:ext cx="266653" cy="934128"/>
          </a:xfrm>
          <a:prstGeom prst="line">
            <a:avLst/>
          </a:prstGeom>
          <a:ln w="76200">
            <a:solidFill>
              <a:srgbClr val="2E75B6"/>
            </a:solidFill>
            <a:miter/>
          </a:ln>
        </p:spPr>
        <p:txBody>
          <a:bodyPr lIns="45719" rIns="45719"/>
          <a:lstStyle/>
          <a:p>
            <a:endParaRPr/>
          </a:p>
        </p:txBody>
      </p:sp>
      <p:sp>
        <p:nvSpPr>
          <p:cNvPr id="131" name="Straight Connector 26"/>
          <p:cNvSpPr/>
          <p:nvPr/>
        </p:nvSpPr>
        <p:spPr>
          <a:xfrm>
            <a:off x="1574443" y="2826859"/>
            <a:ext cx="1015577" cy="1007583"/>
          </a:xfrm>
          <a:prstGeom prst="line">
            <a:avLst/>
          </a:prstGeom>
          <a:ln w="28575">
            <a:solidFill>
              <a:srgbClr val="2E75B6"/>
            </a:solidFill>
            <a:miter/>
          </a:ln>
        </p:spPr>
        <p:txBody>
          <a:bodyPr lIns="45719" rIns="45719"/>
          <a:lstStyle/>
          <a:p>
            <a:endParaRPr/>
          </a:p>
        </p:txBody>
      </p:sp>
      <p:sp>
        <p:nvSpPr>
          <p:cNvPr id="132" name="Straight Connector 34"/>
          <p:cNvSpPr/>
          <p:nvPr/>
        </p:nvSpPr>
        <p:spPr>
          <a:xfrm flipV="1">
            <a:off x="1227485" y="3937959"/>
            <a:ext cx="1362535" cy="870600"/>
          </a:xfrm>
          <a:prstGeom prst="line">
            <a:avLst/>
          </a:prstGeom>
          <a:ln w="28575">
            <a:solidFill>
              <a:srgbClr val="2E75B6"/>
            </a:solidFill>
            <a:miter/>
          </a:ln>
        </p:spPr>
        <p:txBody>
          <a:bodyPr lIns="45719" rIns="45719"/>
          <a:lstStyle/>
          <a:p>
            <a:endParaRPr/>
          </a:p>
        </p:txBody>
      </p:sp>
      <p:sp>
        <p:nvSpPr>
          <p:cNvPr id="133" name="Straight Connector 43"/>
          <p:cNvSpPr/>
          <p:nvPr/>
        </p:nvSpPr>
        <p:spPr>
          <a:xfrm flipH="1">
            <a:off x="2279795" y="3937958"/>
            <a:ext cx="413743" cy="1694934"/>
          </a:xfrm>
          <a:prstGeom prst="line">
            <a:avLst/>
          </a:prstGeom>
          <a:ln w="28575">
            <a:solidFill>
              <a:srgbClr val="2E75B6"/>
            </a:solidFill>
            <a:miter/>
          </a:ln>
        </p:spPr>
        <p:txBody>
          <a:bodyPr lIns="45719" rIns="45719"/>
          <a:lstStyle/>
          <a:p>
            <a:endParaRPr/>
          </a:p>
        </p:txBody>
      </p:sp>
      <p:sp>
        <p:nvSpPr>
          <p:cNvPr id="134" name="Straight Connector 14"/>
          <p:cNvSpPr/>
          <p:nvPr/>
        </p:nvSpPr>
        <p:spPr>
          <a:xfrm flipH="1">
            <a:off x="2714976" y="3886200"/>
            <a:ext cx="2634345" cy="0"/>
          </a:xfrm>
          <a:prstGeom prst="line">
            <a:avLst/>
          </a:prstGeom>
          <a:ln w="76200">
            <a:solidFill>
              <a:srgbClr val="2E75B6"/>
            </a:solidFill>
            <a:miter/>
          </a:ln>
        </p:spPr>
        <p:txBody>
          <a:bodyPr lIns="45719" rIns="45719"/>
          <a:lstStyle/>
          <a:p>
            <a:endParaRPr/>
          </a:p>
        </p:txBody>
      </p:sp>
      <p:sp>
        <p:nvSpPr>
          <p:cNvPr id="135" name="Title 1"/>
          <p:cNvSpPr txBox="1">
            <a:spLocks noGrp="1"/>
          </p:cNvSpPr>
          <p:nvPr>
            <p:ph type="title"/>
          </p:nvPr>
        </p:nvSpPr>
        <p:spPr>
          <a:xfrm>
            <a:off x="838200" y="225378"/>
            <a:ext cx="10515600" cy="822960"/>
          </a:xfrm>
          <a:prstGeom prst="rect">
            <a:avLst/>
          </a:prstGeom>
        </p:spPr>
        <p:txBody>
          <a:bodyPr/>
          <a:lstStyle/>
          <a:p>
            <a:r>
              <a:rPr dirty="0"/>
              <a:t>Why Refactor to EC?</a:t>
            </a:r>
          </a:p>
        </p:txBody>
      </p:sp>
      <p:sp>
        <p:nvSpPr>
          <p:cNvPr id="136" name="Slide Number Placeholder 2"/>
          <p:cNvSpPr txBox="1">
            <a:spLocks noGrp="1"/>
          </p:cNvSpPr>
          <p:nvPr>
            <p:ph type="sldNum" sz="quarter" idx="2"/>
          </p:nvPr>
        </p:nvSpPr>
        <p:spPr>
          <a:xfrm>
            <a:off x="11080144" y="6404292"/>
            <a:ext cx="273657" cy="269241"/>
          </a:xfrm>
          <a:prstGeom prst="rect">
            <a:avLst/>
          </a:prstGeom>
          <a:ln w="12700">
            <a:miter lim="400000"/>
          </a:ln>
          <a:extLst>
            <a:ext uri="{C572A759-6A51-4108-AA02-DFA0A04FC94B}">
              <ma14:wrappingTextBoxFlag xmlns:ma14="http://schemas.microsoft.com/office/mac/drawingml/2011/main" xmlns="" val="1"/>
            </a:ext>
          </a:extLst>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Univers"/>
                <a:ea typeface="Univers"/>
                <a:cs typeface="Univers"/>
                <a:sym typeface="Univers"/>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9pPr>
          </a:lstStyle>
          <a:p>
            <a:fld id="{86CB4B4D-7CA3-9044-876B-883B54F8677D}" type="slidenum">
              <a:rPr lang="en-US" smtClean="0"/>
              <a:pPr/>
              <a:t>4</a:t>
            </a:fld>
            <a:endParaRPr/>
          </a:p>
        </p:txBody>
      </p:sp>
      <p:grpSp>
        <p:nvGrpSpPr>
          <p:cNvPr id="139" name="Rectangle: Rounded Corners 8"/>
          <p:cNvGrpSpPr/>
          <p:nvPr/>
        </p:nvGrpSpPr>
        <p:grpSpPr>
          <a:xfrm>
            <a:off x="507106" y="2559212"/>
            <a:ext cx="2134674" cy="357853"/>
            <a:chOff x="0" y="0"/>
            <a:chExt cx="2134672" cy="357851"/>
          </a:xfrm>
        </p:grpSpPr>
        <p:sp>
          <p:nvSpPr>
            <p:cNvPr id="137" name="Rounded Rectangle"/>
            <p:cNvSpPr/>
            <p:nvPr/>
          </p:nvSpPr>
          <p:spPr>
            <a:xfrm>
              <a:off x="0" y="0"/>
              <a:ext cx="2134673" cy="357852"/>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sp>
          <p:nvSpPr>
            <p:cNvPr id="138" name="No “Bun” methods"/>
            <p:cNvSpPr txBox="1"/>
            <p:nvPr/>
          </p:nvSpPr>
          <p:spPr>
            <a:xfrm>
              <a:off x="17468" y="12555"/>
              <a:ext cx="2099737" cy="332741"/>
            </a:xfrm>
            <a:prstGeom prst="rect">
              <a:avLst/>
            </a:prstGeom>
            <a:noFill/>
            <a:ln w="12700" cap="flat">
              <a:noFill/>
              <a:miter lim="400000"/>
            </a:ln>
            <a:effectLst/>
            <a:extLst>
              <a:ext uri="{C572A759-6A51-4108-AA02-DFA0A04FC94B}">
                <ma14:wrappingTextBoxFlag xmlns:ma14="http://schemas.microsoft.com/office/mac/drawingml/2011/main" xmlns="" val="1"/>
              </a:ext>
            </a:extLst>
          </p:spPr>
          <p:txBody>
            <a:bodyPr wrap="square" lIns="45719" tIns="45719" rIns="45719" bIns="45719" numCol="1" anchor="ctr">
              <a:spAutoFit/>
            </a:bodyPr>
            <a:lstStyle>
              <a:lvl1pPr algn="ctr">
                <a:defRPr sz="1600">
                  <a:solidFill>
                    <a:srgbClr val="1F4E79"/>
                  </a:solidFill>
                </a:defRPr>
              </a:lvl1pPr>
            </a:lstStyle>
            <a:p>
              <a:r>
                <a:t>No “Bun” methods</a:t>
              </a:r>
            </a:p>
          </p:txBody>
        </p:sp>
      </p:grpSp>
      <p:grpSp>
        <p:nvGrpSpPr>
          <p:cNvPr id="142" name="Rectangle: Rounded Corners 11"/>
          <p:cNvGrpSpPr/>
          <p:nvPr/>
        </p:nvGrpSpPr>
        <p:grpSpPr>
          <a:xfrm>
            <a:off x="1574441" y="3688079"/>
            <a:ext cx="1947930" cy="396241"/>
            <a:chOff x="0" y="0"/>
            <a:chExt cx="1947928" cy="396240"/>
          </a:xfrm>
        </p:grpSpPr>
        <p:sp>
          <p:nvSpPr>
            <p:cNvPr id="140" name="Rounded Rectangle"/>
            <p:cNvSpPr/>
            <p:nvPr/>
          </p:nvSpPr>
          <p:spPr>
            <a:xfrm>
              <a:off x="0" y="1716"/>
              <a:ext cx="1947929" cy="392808"/>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sp>
          <p:nvSpPr>
            <p:cNvPr id="141" name="Concise Code"/>
            <p:cNvSpPr txBox="1"/>
            <p:nvPr/>
          </p:nvSpPr>
          <p:spPr>
            <a:xfrm>
              <a:off x="19175" y="0"/>
              <a:ext cx="1909579" cy="396240"/>
            </a:xfrm>
            <a:prstGeom prst="rect">
              <a:avLst/>
            </a:prstGeom>
            <a:noFill/>
            <a:ln w="12700" cap="flat">
              <a:noFill/>
              <a:miter lim="400000"/>
            </a:ln>
            <a:effectLst/>
            <a:extLst>
              <a:ext uri="{C572A759-6A51-4108-AA02-DFA0A04FC94B}">
                <ma14:wrappingTextBoxFlag xmlns:ma14="http://schemas.microsoft.com/office/mac/drawingml/2011/main" xmlns="" val="1"/>
              </a:ext>
            </a:extLst>
          </p:spPr>
          <p:txBody>
            <a:bodyPr wrap="square" lIns="45719" tIns="45719" rIns="45719" bIns="45719" numCol="1" anchor="ctr">
              <a:spAutoFit/>
            </a:bodyPr>
            <a:lstStyle>
              <a:lvl1pPr algn="ctr">
                <a:defRPr sz="2000">
                  <a:solidFill>
                    <a:srgbClr val="1F4E79"/>
                  </a:solidFill>
                </a:defRPr>
              </a:lvl1pPr>
            </a:lstStyle>
            <a:p>
              <a:r>
                <a:rPr dirty="0"/>
                <a:t>Concise Code</a:t>
              </a:r>
            </a:p>
          </p:txBody>
        </p:sp>
      </p:grpSp>
      <p:grpSp>
        <p:nvGrpSpPr>
          <p:cNvPr id="145" name="Rectangle: Rounded Corners 41"/>
          <p:cNvGrpSpPr/>
          <p:nvPr/>
        </p:nvGrpSpPr>
        <p:grpSpPr>
          <a:xfrm>
            <a:off x="1035702" y="5376922"/>
            <a:ext cx="2613658" cy="637412"/>
            <a:chOff x="0" y="0"/>
            <a:chExt cx="2613657" cy="637410"/>
          </a:xfrm>
        </p:grpSpPr>
        <p:sp>
          <p:nvSpPr>
            <p:cNvPr id="143" name="Rounded Rectangle"/>
            <p:cNvSpPr/>
            <p:nvPr/>
          </p:nvSpPr>
          <p:spPr>
            <a:xfrm>
              <a:off x="0" y="0"/>
              <a:ext cx="2613658" cy="637411"/>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sp>
          <p:nvSpPr>
            <p:cNvPr id="144" name="Comprehensive Support for Primitive Types"/>
            <p:cNvSpPr txBox="1"/>
            <p:nvPr/>
          </p:nvSpPr>
          <p:spPr>
            <a:xfrm>
              <a:off x="31115" y="31685"/>
              <a:ext cx="2551427" cy="574041"/>
            </a:xfrm>
            <a:prstGeom prst="rect">
              <a:avLst/>
            </a:prstGeom>
            <a:noFill/>
            <a:ln w="12700" cap="flat">
              <a:noFill/>
              <a:miter lim="400000"/>
            </a:ln>
            <a:effectLst/>
            <a:extLst>
              <a:ext uri="{C572A759-6A51-4108-AA02-DFA0A04FC94B}">
                <ma14:wrappingTextBoxFlag xmlns:ma14="http://schemas.microsoft.com/office/mac/drawingml/2011/main" xmlns="" val="1"/>
              </a:ext>
            </a:extLst>
          </p:spPr>
          <p:txBody>
            <a:bodyPr wrap="square" lIns="45719" tIns="45719" rIns="45719" bIns="45719" numCol="1" anchor="ctr">
              <a:spAutoFit/>
            </a:bodyPr>
            <a:lstStyle>
              <a:lvl1pPr algn="ctr">
                <a:defRPr sz="1600">
                  <a:solidFill>
                    <a:srgbClr val="1F4E79"/>
                  </a:solidFill>
                </a:defRPr>
              </a:lvl1pPr>
            </a:lstStyle>
            <a:p>
              <a:r>
                <a:t>Comprehensive Support for Primitive Types</a:t>
              </a:r>
            </a:p>
          </p:txBody>
        </p:sp>
      </p:grpSp>
      <p:grpSp>
        <p:nvGrpSpPr>
          <p:cNvPr id="148" name="Rectangle: Rounded Corners 32"/>
          <p:cNvGrpSpPr/>
          <p:nvPr/>
        </p:nvGrpSpPr>
        <p:grpSpPr>
          <a:xfrm>
            <a:off x="351420" y="4725151"/>
            <a:ext cx="1722080" cy="357853"/>
            <a:chOff x="0" y="0"/>
            <a:chExt cx="1722078" cy="357851"/>
          </a:xfrm>
        </p:grpSpPr>
        <p:sp>
          <p:nvSpPr>
            <p:cNvPr id="146" name="Rounded Rectangle"/>
            <p:cNvSpPr/>
            <p:nvPr/>
          </p:nvSpPr>
          <p:spPr>
            <a:xfrm>
              <a:off x="0" y="0"/>
              <a:ext cx="1722079" cy="357852"/>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sp>
          <p:nvSpPr>
            <p:cNvPr id="147" name="Rich[er] APIs"/>
            <p:cNvSpPr txBox="1"/>
            <p:nvPr/>
          </p:nvSpPr>
          <p:spPr>
            <a:xfrm>
              <a:off x="17468" y="12555"/>
              <a:ext cx="1687142" cy="332741"/>
            </a:xfrm>
            <a:prstGeom prst="rect">
              <a:avLst/>
            </a:prstGeom>
            <a:noFill/>
            <a:ln w="12700" cap="flat">
              <a:noFill/>
              <a:miter lim="400000"/>
            </a:ln>
            <a:effectLst/>
            <a:extLst>
              <a:ext uri="{C572A759-6A51-4108-AA02-DFA0A04FC94B}">
                <ma14:wrappingTextBoxFlag xmlns:ma14="http://schemas.microsoft.com/office/mac/drawingml/2011/main" xmlns="" val="1"/>
              </a:ext>
            </a:extLst>
          </p:spPr>
          <p:txBody>
            <a:bodyPr wrap="square" lIns="45719" tIns="45719" rIns="45719" bIns="45719" numCol="1" anchor="ctr">
              <a:spAutoFit/>
            </a:bodyPr>
            <a:lstStyle>
              <a:lvl1pPr algn="ctr">
                <a:defRPr sz="1600">
                  <a:solidFill>
                    <a:srgbClr val="1F4E79"/>
                  </a:solidFill>
                </a:defRPr>
              </a:lvl1pPr>
            </a:lstStyle>
            <a:p>
              <a:r>
                <a:t>Rich[er] APIs</a:t>
              </a:r>
            </a:p>
          </p:txBody>
        </p:sp>
      </p:grpSp>
      <p:grpSp>
        <p:nvGrpSpPr>
          <p:cNvPr id="151" name="Rectangle: Rounded Corners 54"/>
          <p:cNvGrpSpPr/>
          <p:nvPr/>
        </p:nvGrpSpPr>
        <p:grpSpPr>
          <a:xfrm>
            <a:off x="3772654" y="2451297"/>
            <a:ext cx="3470857" cy="396242"/>
            <a:chOff x="0" y="0"/>
            <a:chExt cx="3470855" cy="396240"/>
          </a:xfrm>
        </p:grpSpPr>
        <p:sp>
          <p:nvSpPr>
            <p:cNvPr id="149" name="Rounded Rectangle"/>
            <p:cNvSpPr/>
            <p:nvPr/>
          </p:nvSpPr>
          <p:spPr>
            <a:xfrm>
              <a:off x="0" y="1716"/>
              <a:ext cx="3470856" cy="392807"/>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sp>
          <p:nvSpPr>
            <p:cNvPr id="150" name="Testability/Debuggability"/>
            <p:cNvSpPr txBox="1"/>
            <p:nvPr/>
          </p:nvSpPr>
          <p:spPr>
            <a:xfrm>
              <a:off x="19175" y="0"/>
              <a:ext cx="3432506" cy="396240"/>
            </a:xfrm>
            <a:prstGeom prst="rect">
              <a:avLst/>
            </a:prstGeom>
            <a:noFill/>
            <a:ln w="12700" cap="flat">
              <a:noFill/>
              <a:miter lim="400000"/>
            </a:ln>
            <a:effectLst/>
            <a:extLst>
              <a:ext uri="{C572A759-6A51-4108-AA02-DFA0A04FC94B}">
                <ma14:wrappingTextBoxFlag xmlns:ma14="http://schemas.microsoft.com/office/mac/drawingml/2011/main" xmlns="" val="1"/>
              </a:ext>
            </a:extLst>
          </p:spPr>
          <p:txBody>
            <a:bodyPr wrap="square" lIns="45719" tIns="45719" rIns="45719" bIns="45719" numCol="1" anchor="ctr">
              <a:spAutoFit/>
            </a:bodyPr>
            <a:lstStyle>
              <a:lvl1pPr algn="ctr">
                <a:defRPr sz="2000">
                  <a:solidFill>
                    <a:srgbClr val="1F4E79"/>
                  </a:solidFill>
                </a:defRPr>
              </a:lvl1pPr>
            </a:lstStyle>
            <a:p>
              <a:r>
                <a:t>Testability/Debuggability</a:t>
              </a:r>
            </a:p>
          </p:txBody>
        </p:sp>
      </p:grpSp>
      <p:grpSp>
        <p:nvGrpSpPr>
          <p:cNvPr id="154" name="Rectangle: Rounded Corners 3"/>
          <p:cNvGrpSpPr/>
          <p:nvPr/>
        </p:nvGrpSpPr>
        <p:grpSpPr>
          <a:xfrm>
            <a:off x="4651850" y="3656329"/>
            <a:ext cx="1566071" cy="459741"/>
            <a:chOff x="0" y="0"/>
            <a:chExt cx="1566070" cy="459740"/>
          </a:xfrm>
        </p:grpSpPr>
        <p:sp>
          <p:nvSpPr>
            <p:cNvPr id="152" name="Rounded Rectangle"/>
            <p:cNvSpPr/>
            <p:nvPr/>
          </p:nvSpPr>
          <p:spPr>
            <a:xfrm>
              <a:off x="0" y="33466"/>
              <a:ext cx="1566071" cy="392808"/>
            </a:xfrm>
            <a:prstGeom prst="roundRect">
              <a:avLst>
                <a:gd name="adj" fmla="val 16667"/>
              </a:avLst>
            </a:prstGeom>
            <a:solidFill>
              <a:srgbClr val="FFFFFF"/>
            </a:solidFill>
            <a:ln w="57150" cap="flat">
              <a:solidFill>
                <a:srgbClr val="FFFFFF">
                  <a:alpha val="50195"/>
                </a:srgbClr>
              </a:solidFill>
              <a:prstDash val="solid"/>
              <a:miter lim="800000"/>
            </a:ln>
            <a:effectLst/>
          </p:spPr>
          <p:txBody>
            <a:bodyPr wrap="square" lIns="45719" tIns="45719" rIns="45719" bIns="45719" numCol="1" anchor="ctr">
              <a:noAutofit/>
            </a:bodyPr>
            <a:lstStyle/>
            <a:p>
              <a:pPr algn="ctr">
                <a:defRPr>
                  <a:solidFill>
                    <a:srgbClr val="FFFFFF"/>
                  </a:solidFill>
                </a:defRPr>
              </a:pPr>
              <a:endParaRPr/>
            </a:p>
          </p:txBody>
        </p:sp>
        <p:sp>
          <p:nvSpPr>
            <p:cNvPr id="153" name="Benefits"/>
            <p:cNvSpPr txBox="1"/>
            <p:nvPr/>
          </p:nvSpPr>
          <p:spPr>
            <a:xfrm>
              <a:off x="19174" y="0"/>
              <a:ext cx="1527722" cy="459740"/>
            </a:xfrm>
            <a:prstGeom prst="rect">
              <a:avLst/>
            </a:prstGeom>
            <a:noFill/>
            <a:ln w="12700" cap="flat">
              <a:noFill/>
              <a:miter lim="400000"/>
            </a:ln>
            <a:effectLst/>
            <a:extLst>
              <a:ext uri="{C572A759-6A51-4108-AA02-DFA0A04FC94B}">
                <ma14:wrappingTextBoxFlag xmlns:ma14="http://schemas.microsoft.com/office/mac/drawingml/2011/main" xmlns="" val="1"/>
              </a:ext>
            </a:extLst>
          </p:spPr>
          <p:txBody>
            <a:bodyPr wrap="square" lIns="45719" tIns="45719" rIns="45719" bIns="45719" numCol="1" anchor="ctr">
              <a:spAutoFit/>
            </a:bodyPr>
            <a:lstStyle>
              <a:lvl1pPr algn="ctr">
                <a:defRPr sz="2400">
                  <a:solidFill>
                    <a:srgbClr val="1F4E79"/>
                  </a:solidFill>
                </a:defRPr>
              </a:lvl1pPr>
            </a:lstStyle>
            <a:p>
              <a:r>
                <a:t>Benefits</a:t>
              </a:r>
            </a:p>
          </p:txBody>
        </p:sp>
      </p:grpSp>
      <p:grpSp>
        <p:nvGrpSpPr>
          <p:cNvPr id="157" name="Rectangle: Rounded Corners 64"/>
          <p:cNvGrpSpPr/>
          <p:nvPr/>
        </p:nvGrpSpPr>
        <p:grpSpPr>
          <a:xfrm>
            <a:off x="4021804" y="4834709"/>
            <a:ext cx="2292857" cy="396241"/>
            <a:chOff x="0" y="0"/>
            <a:chExt cx="2292855" cy="396240"/>
          </a:xfrm>
        </p:grpSpPr>
        <p:sp>
          <p:nvSpPr>
            <p:cNvPr id="155" name="Rounded Rectangle"/>
            <p:cNvSpPr/>
            <p:nvPr/>
          </p:nvSpPr>
          <p:spPr>
            <a:xfrm>
              <a:off x="0" y="1716"/>
              <a:ext cx="2292856" cy="392808"/>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sp>
          <p:nvSpPr>
            <p:cNvPr id="156" name="Memory Savings"/>
            <p:cNvSpPr txBox="1"/>
            <p:nvPr/>
          </p:nvSpPr>
          <p:spPr>
            <a:xfrm>
              <a:off x="19175" y="0"/>
              <a:ext cx="2254506" cy="396240"/>
            </a:xfrm>
            <a:prstGeom prst="rect">
              <a:avLst/>
            </a:prstGeom>
            <a:noFill/>
            <a:ln w="12700" cap="flat">
              <a:noFill/>
              <a:miter lim="400000"/>
            </a:ln>
            <a:effectLst/>
            <a:extLst>
              <a:ext uri="{C572A759-6A51-4108-AA02-DFA0A04FC94B}">
                <ma14:wrappingTextBoxFlag xmlns:ma14="http://schemas.microsoft.com/office/mac/drawingml/2011/main" xmlns="" val="1"/>
              </a:ext>
            </a:extLst>
          </p:spPr>
          <p:txBody>
            <a:bodyPr wrap="square" lIns="45719" tIns="45719" rIns="45719" bIns="45719" numCol="1" anchor="ctr">
              <a:spAutoFit/>
            </a:bodyPr>
            <a:lstStyle>
              <a:lvl1pPr algn="ctr">
                <a:defRPr sz="2000">
                  <a:solidFill>
                    <a:srgbClr val="1F4E79"/>
                  </a:solidFill>
                </a:defRPr>
              </a:lvl1pPr>
            </a:lstStyle>
            <a:p>
              <a:r>
                <a:t>Memory Savings</a:t>
              </a:r>
            </a:p>
          </p:txBody>
        </p:sp>
      </p:grpSp>
      <p:grpSp>
        <p:nvGrpSpPr>
          <p:cNvPr id="160" name="Rectangle: Rounded Corners 65"/>
          <p:cNvGrpSpPr/>
          <p:nvPr/>
        </p:nvGrpSpPr>
        <p:grpSpPr>
          <a:xfrm>
            <a:off x="7376938" y="5094821"/>
            <a:ext cx="4016777" cy="396241"/>
            <a:chOff x="0" y="0"/>
            <a:chExt cx="4016776" cy="396240"/>
          </a:xfrm>
        </p:grpSpPr>
        <p:sp>
          <p:nvSpPr>
            <p:cNvPr id="158" name="Rounded Rectangle"/>
            <p:cNvSpPr/>
            <p:nvPr/>
          </p:nvSpPr>
          <p:spPr>
            <a:xfrm>
              <a:off x="0" y="1716"/>
              <a:ext cx="4016777" cy="392808"/>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sp>
          <p:nvSpPr>
            <p:cNvPr id="159" name="Better Performance [citation needed ]"/>
            <p:cNvSpPr txBox="1"/>
            <p:nvPr/>
          </p:nvSpPr>
          <p:spPr>
            <a:xfrm>
              <a:off x="19174" y="0"/>
              <a:ext cx="3978428" cy="396240"/>
            </a:xfrm>
            <a:prstGeom prst="rect">
              <a:avLst/>
            </a:prstGeom>
            <a:noFill/>
            <a:ln w="12700" cap="flat">
              <a:noFill/>
              <a:miter lim="400000"/>
            </a:ln>
            <a:effectLst/>
            <a:extLst>
              <a:ext uri="{C572A759-6A51-4108-AA02-DFA0A04FC94B}">
                <ma14:wrappingTextBoxFlag xmlns:ma14="http://schemas.microsoft.com/office/mac/drawingml/2011/main" xmlns="" val="1"/>
              </a:ext>
            </a:extLst>
          </p:spPr>
          <p:txBody>
            <a:bodyPr wrap="square" lIns="45719" tIns="45719" rIns="45719" bIns="45719" numCol="1" anchor="ctr">
              <a:spAutoFit/>
            </a:bodyPr>
            <a:lstStyle/>
            <a:p>
              <a:pPr algn="ctr">
                <a:defRPr sz="2000">
                  <a:solidFill>
                    <a:srgbClr val="1F4E79"/>
                  </a:solidFill>
                </a:defRPr>
              </a:pPr>
              <a:r>
                <a:t>Better Performance </a:t>
              </a:r>
              <a:r>
                <a:rPr baseline="30000"/>
                <a:t>[</a:t>
              </a:r>
              <a:r>
                <a:rPr i="1" baseline="30000"/>
                <a:t>citation needed </a:t>
              </a:r>
              <a:r>
                <a:rPr baseline="30000"/>
                <a:t>]</a:t>
              </a:r>
            </a:p>
          </p:txBody>
        </p:sp>
      </p:grpSp>
      <p:grpSp>
        <p:nvGrpSpPr>
          <p:cNvPr id="163" name="Rectangle: Rounded Corners 40"/>
          <p:cNvGrpSpPr/>
          <p:nvPr/>
        </p:nvGrpSpPr>
        <p:grpSpPr>
          <a:xfrm>
            <a:off x="4705124" y="6059954"/>
            <a:ext cx="2613658" cy="357853"/>
            <a:chOff x="0" y="0"/>
            <a:chExt cx="2613656" cy="357851"/>
          </a:xfrm>
        </p:grpSpPr>
        <p:sp>
          <p:nvSpPr>
            <p:cNvPr id="161" name="Rounded Rectangle"/>
            <p:cNvSpPr/>
            <p:nvPr/>
          </p:nvSpPr>
          <p:spPr>
            <a:xfrm>
              <a:off x="0" y="0"/>
              <a:ext cx="2613657" cy="357852"/>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sp>
          <p:nvSpPr>
            <p:cNvPr id="162" name="Efficient Maps and Sets"/>
            <p:cNvSpPr txBox="1"/>
            <p:nvPr/>
          </p:nvSpPr>
          <p:spPr>
            <a:xfrm>
              <a:off x="17469" y="12555"/>
              <a:ext cx="2578719" cy="332741"/>
            </a:xfrm>
            <a:prstGeom prst="rect">
              <a:avLst/>
            </a:prstGeom>
            <a:noFill/>
            <a:ln w="12700" cap="flat">
              <a:noFill/>
              <a:miter lim="400000"/>
            </a:ln>
            <a:effectLst/>
            <a:extLst>
              <a:ext uri="{C572A759-6A51-4108-AA02-DFA0A04FC94B}">
                <ma14:wrappingTextBoxFlag xmlns:ma14="http://schemas.microsoft.com/office/mac/drawingml/2011/main" xmlns="" val="1"/>
              </a:ext>
            </a:extLst>
          </p:spPr>
          <p:txBody>
            <a:bodyPr wrap="square" lIns="45719" tIns="45719" rIns="45719" bIns="45719" numCol="1" anchor="ctr">
              <a:spAutoFit/>
            </a:bodyPr>
            <a:lstStyle>
              <a:lvl1pPr algn="ctr">
                <a:defRPr sz="1600">
                  <a:solidFill>
                    <a:srgbClr val="1F4E79"/>
                  </a:solidFill>
                </a:defRPr>
              </a:lvl1pPr>
            </a:lstStyle>
            <a:p>
              <a:r>
                <a:t>Efficient Maps and Sets</a:t>
              </a:r>
            </a:p>
          </p:txBody>
        </p:sp>
      </p:grpSp>
      <p:sp>
        <p:nvSpPr>
          <p:cNvPr id="188" name="Straight Connector 45"/>
          <p:cNvSpPr/>
          <p:nvPr/>
        </p:nvSpPr>
        <p:spPr>
          <a:xfrm>
            <a:off x="6246493" y="3820158"/>
            <a:ext cx="1061916" cy="37433"/>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21600" y="0"/>
                </a:lnTo>
              </a:path>
            </a:pathLst>
          </a:custGeom>
          <a:ln w="76200">
            <a:solidFill>
              <a:srgbClr val="2E75B6"/>
            </a:solidFill>
            <a:miter/>
          </a:ln>
        </p:spPr>
        <p:txBody>
          <a:bodyPr/>
          <a:lstStyle/>
          <a:p>
            <a:endParaRPr/>
          </a:p>
        </p:txBody>
      </p:sp>
      <p:grpSp>
        <p:nvGrpSpPr>
          <p:cNvPr id="169" name="Group 82"/>
          <p:cNvGrpSpPr/>
          <p:nvPr/>
        </p:nvGrpSpPr>
        <p:grpSpPr>
          <a:xfrm>
            <a:off x="7308408" y="3597927"/>
            <a:ext cx="1368018" cy="396241"/>
            <a:chOff x="0" y="0"/>
            <a:chExt cx="1368016" cy="396240"/>
          </a:xfrm>
        </p:grpSpPr>
        <p:sp>
          <p:nvSpPr>
            <p:cNvPr id="165" name="Oval 48"/>
            <p:cNvSpPr/>
            <p:nvPr/>
          </p:nvSpPr>
          <p:spPr>
            <a:xfrm>
              <a:off x="698178" y="142968"/>
              <a:ext cx="102813" cy="110303"/>
            </a:xfrm>
            <a:prstGeom prst="ellipse">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grpSp>
          <p:nvGrpSpPr>
            <p:cNvPr id="168" name="Rectangle: Rounded Corners 47"/>
            <p:cNvGrpSpPr/>
            <p:nvPr/>
          </p:nvGrpSpPr>
          <p:grpSpPr>
            <a:xfrm>
              <a:off x="0" y="-1"/>
              <a:ext cx="1368017" cy="396242"/>
              <a:chOff x="0" y="0"/>
              <a:chExt cx="1368016" cy="396240"/>
            </a:xfrm>
          </p:grpSpPr>
          <p:sp>
            <p:nvSpPr>
              <p:cNvPr id="166" name="Rounded Rectangle"/>
              <p:cNvSpPr/>
              <p:nvPr/>
            </p:nvSpPr>
            <p:spPr>
              <a:xfrm>
                <a:off x="0" y="2082"/>
                <a:ext cx="1368017" cy="392076"/>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sp>
            <p:nvSpPr>
              <p:cNvPr id="167" name="It’s Easy!"/>
              <p:cNvSpPr txBox="1"/>
              <p:nvPr/>
            </p:nvSpPr>
            <p:spPr>
              <a:xfrm>
                <a:off x="19139" y="0"/>
                <a:ext cx="1329739" cy="396240"/>
              </a:xfrm>
              <a:prstGeom prst="rect">
                <a:avLst/>
              </a:prstGeom>
              <a:noFill/>
              <a:ln w="12700" cap="flat">
                <a:noFill/>
                <a:miter lim="400000"/>
              </a:ln>
              <a:effectLst/>
              <a:extLst>
                <a:ext uri="{C572A759-6A51-4108-AA02-DFA0A04FC94B}">
                  <ma14:wrappingTextBoxFlag xmlns:ma14="http://schemas.microsoft.com/office/mac/drawingml/2011/main" xmlns="" val="1"/>
                </a:ext>
              </a:extLst>
            </p:spPr>
            <p:txBody>
              <a:bodyPr wrap="square" lIns="45719" tIns="45719" rIns="45719" bIns="45719" numCol="1" anchor="ctr">
                <a:spAutoFit/>
              </a:bodyPr>
              <a:lstStyle>
                <a:lvl1pPr algn="ctr">
                  <a:defRPr sz="2000">
                    <a:solidFill>
                      <a:srgbClr val="1F4E79"/>
                    </a:solidFill>
                  </a:defRPr>
                </a:lvl1pPr>
              </a:lstStyle>
              <a:p>
                <a:r>
                  <a:t>It’s Easy!</a:t>
                </a:r>
              </a:p>
            </p:txBody>
          </p:sp>
        </p:grpSp>
      </p:grpSp>
      <p:grpSp>
        <p:nvGrpSpPr>
          <p:cNvPr id="172" name="Rectangle: Rounded Corners 49"/>
          <p:cNvGrpSpPr/>
          <p:nvPr/>
        </p:nvGrpSpPr>
        <p:grpSpPr>
          <a:xfrm>
            <a:off x="7629753" y="2631531"/>
            <a:ext cx="3659778" cy="332741"/>
            <a:chOff x="0" y="0"/>
            <a:chExt cx="3659776" cy="332740"/>
          </a:xfrm>
        </p:grpSpPr>
        <p:sp>
          <p:nvSpPr>
            <p:cNvPr id="170" name="Rounded Rectangle"/>
            <p:cNvSpPr/>
            <p:nvPr/>
          </p:nvSpPr>
          <p:spPr>
            <a:xfrm>
              <a:off x="0" y="17886"/>
              <a:ext cx="3659777" cy="296968"/>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sp>
          <p:nvSpPr>
            <p:cNvPr id="171" name="Drop-in replacement for JDK types"/>
            <p:cNvSpPr txBox="1"/>
            <p:nvPr/>
          </p:nvSpPr>
          <p:spPr>
            <a:xfrm>
              <a:off x="14496" y="0"/>
              <a:ext cx="3630785" cy="332740"/>
            </a:xfrm>
            <a:prstGeom prst="rect">
              <a:avLst/>
            </a:prstGeom>
            <a:noFill/>
            <a:ln w="12700" cap="flat">
              <a:noFill/>
              <a:miter lim="400000"/>
            </a:ln>
            <a:effectLst/>
            <a:extLst>
              <a:ext uri="{C572A759-6A51-4108-AA02-DFA0A04FC94B}">
                <ma14:wrappingTextBoxFlag xmlns:ma14="http://schemas.microsoft.com/office/mac/drawingml/2011/main" xmlns="" val="1"/>
              </a:ext>
            </a:extLst>
          </p:spPr>
          <p:txBody>
            <a:bodyPr wrap="square" lIns="45719" tIns="45719" rIns="45719" bIns="45719" numCol="1" anchor="ctr">
              <a:spAutoFit/>
            </a:bodyPr>
            <a:lstStyle>
              <a:lvl1pPr algn="ctr">
                <a:defRPr sz="1600">
                  <a:solidFill>
                    <a:srgbClr val="1F4E79"/>
                  </a:solidFill>
                </a:defRPr>
              </a:lvl1pPr>
            </a:lstStyle>
            <a:p>
              <a:r>
                <a:t>Drop-in replacement for JDK types</a:t>
              </a:r>
            </a:p>
          </p:txBody>
        </p:sp>
      </p:grpSp>
      <p:grpSp>
        <p:nvGrpSpPr>
          <p:cNvPr id="175" name="Rectangle: Rounded Corners 50"/>
          <p:cNvGrpSpPr/>
          <p:nvPr/>
        </p:nvGrpSpPr>
        <p:grpSpPr>
          <a:xfrm>
            <a:off x="9146754" y="4241279"/>
            <a:ext cx="2443690" cy="332741"/>
            <a:chOff x="0" y="0"/>
            <a:chExt cx="2443689" cy="332740"/>
          </a:xfrm>
        </p:grpSpPr>
        <p:sp>
          <p:nvSpPr>
            <p:cNvPr id="173" name="Rounded Rectangle"/>
            <p:cNvSpPr/>
            <p:nvPr/>
          </p:nvSpPr>
          <p:spPr>
            <a:xfrm>
              <a:off x="0" y="11046"/>
              <a:ext cx="2443690" cy="310648"/>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sp>
          <p:nvSpPr>
            <p:cNvPr id="174" name="Intuitive humane APIs"/>
            <p:cNvSpPr txBox="1"/>
            <p:nvPr/>
          </p:nvSpPr>
          <p:spPr>
            <a:xfrm>
              <a:off x="15164" y="0"/>
              <a:ext cx="2413361" cy="332740"/>
            </a:xfrm>
            <a:prstGeom prst="rect">
              <a:avLst/>
            </a:prstGeom>
            <a:noFill/>
            <a:ln w="12700" cap="flat">
              <a:noFill/>
              <a:miter lim="400000"/>
            </a:ln>
            <a:effectLst/>
            <a:extLst>
              <a:ext uri="{C572A759-6A51-4108-AA02-DFA0A04FC94B}">
                <ma14:wrappingTextBoxFlag xmlns:ma14="http://schemas.microsoft.com/office/mac/drawingml/2011/main" xmlns="" val="1"/>
              </a:ext>
            </a:extLst>
          </p:spPr>
          <p:txBody>
            <a:bodyPr wrap="square" lIns="45719" tIns="45719" rIns="45719" bIns="45719" numCol="1" anchor="ctr">
              <a:spAutoFit/>
            </a:bodyPr>
            <a:lstStyle>
              <a:lvl1pPr algn="ctr">
                <a:defRPr sz="1600">
                  <a:solidFill>
                    <a:srgbClr val="1F4E79"/>
                  </a:solidFill>
                </a:defRPr>
              </a:lvl1pPr>
            </a:lstStyle>
            <a:p>
              <a:r>
                <a:t>Intuitive humane APIs</a:t>
              </a:r>
            </a:p>
          </p:txBody>
        </p:sp>
      </p:grpSp>
      <p:grpSp>
        <p:nvGrpSpPr>
          <p:cNvPr id="180" name="Group 63"/>
          <p:cNvGrpSpPr/>
          <p:nvPr/>
        </p:nvGrpSpPr>
        <p:grpSpPr>
          <a:xfrm>
            <a:off x="2073499" y="1292268"/>
            <a:ext cx="2134674" cy="357853"/>
            <a:chOff x="0" y="0"/>
            <a:chExt cx="2134672" cy="357851"/>
          </a:xfrm>
        </p:grpSpPr>
        <p:sp>
          <p:nvSpPr>
            <p:cNvPr id="176" name="Oval 60"/>
            <p:cNvSpPr/>
            <p:nvPr/>
          </p:nvSpPr>
          <p:spPr>
            <a:xfrm>
              <a:off x="994137" y="98956"/>
              <a:ext cx="146397" cy="146397"/>
            </a:xfrm>
            <a:prstGeom prst="ellipse">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grpSp>
          <p:nvGrpSpPr>
            <p:cNvPr id="179" name="Rectangle: Rounded Corners 35"/>
            <p:cNvGrpSpPr/>
            <p:nvPr/>
          </p:nvGrpSpPr>
          <p:grpSpPr>
            <a:xfrm>
              <a:off x="0" y="0"/>
              <a:ext cx="2134673" cy="357852"/>
              <a:chOff x="0" y="0"/>
              <a:chExt cx="2134672" cy="357851"/>
            </a:xfrm>
          </p:grpSpPr>
          <p:sp>
            <p:nvSpPr>
              <p:cNvPr id="177" name="Rounded Rectangle"/>
              <p:cNvSpPr/>
              <p:nvPr/>
            </p:nvSpPr>
            <p:spPr>
              <a:xfrm>
                <a:off x="0" y="0"/>
                <a:ext cx="2134673" cy="357852"/>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sp>
            <p:nvSpPr>
              <p:cNvPr id="178" name="Lazy or Eager"/>
              <p:cNvSpPr txBox="1"/>
              <p:nvPr/>
            </p:nvSpPr>
            <p:spPr>
              <a:xfrm>
                <a:off x="17468" y="12555"/>
                <a:ext cx="2099737" cy="332741"/>
              </a:xfrm>
              <a:prstGeom prst="rect">
                <a:avLst/>
              </a:prstGeom>
              <a:noFill/>
              <a:ln w="12700" cap="flat">
                <a:noFill/>
                <a:miter lim="400000"/>
              </a:ln>
              <a:effectLst/>
              <a:extLst>
                <a:ext uri="{C572A759-6A51-4108-AA02-DFA0A04FC94B}">
                  <ma14:wrappingTextBoxFlag xmlns:ma14="http://schemas.microsoft.com/office/mac/drawingml/2011/main" xmlns="" val="1"/>
                </a:ext>
              </a:extLst>
            </p:spPr>
            <p:txBody>
              <a:bodyPr wrap="square" lIns="45719" tIns="45719" rIns="45719" bIns="45719" numCol="1" anchor="ctr">
                <a:spAutoFit/>
              </a:bodyPr>
              <a:lstStyle>
                <a:lvl1pPr algn="ctr">
                  <a:defRPr sz="1600">
                    <a:solidFill>
                      <a:srgbClr val="1F4E79"/>
                    </a:solidFill>
                  </a:defRPr>
                </a:lvl1pPr>
              </a:lstStyle>
              <a:p>
                <a:r>
                  <a:t>Lazy or Eager</a:t>
                </a:r>
              </a:p>
            </p:txBody>
          </p:sp>
        </p:grpSp>
      </p:grpSp>
      <p:grpSp>
        <p:nvGrpSpPr>
          <p:cNvPr id="185" name="Group 68"/>
          <p:cNvGrpSpPr/>
          <p:nvPr/>
        </p:nvGrpSpPr>
        <p:grpSpPr>
          <a:xfrm>
            <a:off x="5642636" y="1342366"/>
            <a:ext cx="1398370" cy="357853"/>
            <a:chOff x="0" y="0"/>
            <a:chExt cx="1398368" cy="357851"/>
          </a:xfrm>
        </p:grpSpPr>
        <p:sp>
          <p:nvSpPr>
            <p:cNvPr id="181" name="Oval 61"/>
            <p:cNvSpPr/>
            <p:nvPr/>
          </p:nvSpPr>
          <p:spPr>
            <a:xfrm>
              <a:off x="624074" y="103460"/>
              <a:ext cx="95901" cy="146397"/>
            </a:xfrm>
            <a:prstGeom prst="ellipse">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grpSp>
          <p:nvGrpSpPr>
            <p:cNvPr id="184" name="Rectangle: Rounded Corners 36"/>
            <p:cNvGrpSpPr/>
            <p:nvPr/>
          </p:nvGrpSpPr>
          <p:grpSpPr>
            <a:xfrm>
              <a:off x="0" y="0"/>
              <a:ext cx="1398369" cy="357852"/>
              <a:chOff x="0" y="0"/>
              <a:chExt cx="1398368" cy="357851"/>
            </a:xfrm>
          </p:grpSpPr>
          <p:sp>
            <p:nvSpPr>
              <p:cNvPr id="182" name="Rounded Rectangle"/>
              <p:cNvSpPr/>
              <p:nvPr/>
            </p:nvSpPr>
            <p:spPr>
              <a:xfrm>
                <a:off x="0" y="0"/>
                <a:ext cx="1398369" cy="357852"/>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sz="1600">
                    <a:solidFill>
                      <a:srgbClr val="1F4E79"/>
                    </a:solidFill>
                  </a:defRPr>
                </a:pPr>
                <a:endParaRPr/>
              </a:p>
            </p:txBody>
          </p:sp>
          <p:sp>
            <p:nvSpPr>
              <p:cNvPr id="183" name="TestUtils"/>
              <p:cNvSpPr txBox="1"/>
              <p:nvPr/>
            </p:nvSpPr>
            <p:spPr>
              <a:xfrm>
                <a:off x="17468" y="12555"/>
                <a:ext cx="1363432" cy="332741"/>
              </a:xfrm>
              <a:prstGeom prst="rect">
                <a:avLst/>
              </a:prstGeom>
              <a:noFill/>
              <a:ln w="12700" cap="flat">
                <a:noFill/>
                <a:miter lim="400000"/>
              </a:ln>
              <a:effectLst/>
              <a:extLst>
                <a:ext uri="{C572A759-6A51-4108-AA02-DFA0A04FC94B}">
                  <ma14:wrappingTextBoxFlag xmlns:ma14="http://schemas.microsoft.com/office/mac/drawingml/2011/main" xmlns="" val="1"/>
                </a:ext>
              </a:extLst>
            </p:spPr>
            <p:txBody>
              <a:bodyPr wrap="square" lIns="45719" tIns="45719" rIns="45719" bIns="45719" numCol="1" anchor="ctr">
                <a:spAutoFit/>
              </a:bodyPr>
              <a:lstStyle>
                <a:lvl1pPr algn="ctr">
                  <a:defRPr sz="1600">
                    <a:solidFill>
                      <a:srgbClr val="1F4E79"/>
                    </a:solidFill>
                  </a:defRPr>
                </a:lvl1pPr>
              </a:lstStyle>
              <a:p>
                <a:r>
                  <a:t>TestUtils</a:t>
                </a:r>
              </a:p>
            </p:txBody>
          </p:sp>
        </p:grpSp>
      </p:grpSp>
      <p:pic>
        <p:nvPicPr>
          <p:cNvPr id="68" name="Picture 67">
            <a:extLst>
              <a:ext uri="{FF2B5EF4-FFF2-40B4-BE49-F238E27FC236}">
                <a16:creationId xmlns:a16="http://schemas.microsoft.com/office/drawing/2014/main" id="{6D2EE6F9-F522-44CD-81F7-9941C9C519DE}"/>
              </a:ext>
            </a:extLst>
          </p:cNvPr>
          <p:cNvPicPr>
            <a:picLocks noChangeAspect="1"/>
          </p:cNvPicPr>
          <p:nvPr/>
        </p:nvPicPr>
        <p:blipFill>
          <a:blip r:embed="rId2"/>
          <a:stretch>
            <a:fillRect/>
          </a:stretch>
        </p:blipFill>
        <p:spPr>
          <a:xfrm>
            <a:off x="487931" y="1519026"/>
            <a:ext cx="1372089" cy="1058895"/>
          </a:xfrm>
          <a:prstGeom prst="rect">
            <a:avLst/>
          </a:prstGeom>
        </p:spPr>
      </p:pic>
      <p:sp>
        <p:nvSpPr>
          <p:cNvPr id="2" name="TextBox 1">
            <a:extLst>
              <a:ext uri="{FF2B5EF4-FFF2-40B4-BE49-F238E27FC236}">
                <a16:creationId xmlns:a16="http://schemas.microsoft.com/office/drawing/2014/main" id="{0432450E-B314-8D09-28D5-7D3BFF37FA73}"/>
              </a:ext>
            </a:extLst>
          </p:cNvPr>
          <p:cNvSpPr txBox="1"/>
          <p:nvPr/>
        </p:nvSpPr>
        <p:spPr>
          <a:xfrm>
            <a:off x="3128" y="612542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 name="Straight Arrow Connector 60"/>
          <p:cNvSpPr/>
          <p:nvPr/>
        </p:nvSpPr>
        <p:spPr>
          <a:xfrm rot="16200000" flipH="1">
            <a:off x="7616049" y="4137233"/>
            <a:ext cx="2092075" cy="486035"/>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5400" y="0"/>
                  <a:pt x="10800" y="5400"/>
                  <a:pt x="10800" y="10800"/>
                </a:cubicBezTo>
                <a:cubicBezTo>
                  <a:pt x="10800" y="16200"/>
                  <a:pt x="16200" y="21600"/>
                  <a:pt x="21600" y="21600"/>
                </a:cubicBezTo>
              </a:path>
            </a:pathLst>
          </a:custGeom>
          <a:ln w="38100">
            <a:solidFill>
              <a:srgbClr val="2E75B6"/>
            </a:solidFill>
            <a:prstDash val="sysDash"/>
            <a:miter/>
            <a:tailEnd type="triangle"/>
          </a:ln>
        </p:spPr>
        <p:txBody>
          <a:bodyPr lIns="45719" rIns="45719" anchor="ctr"/>
          <a:lstStyle/>
          <a:p>
            <a:endParaRPr/>
          </a:p>
        </p:txBody>
      </p:sp>
      <p:sp>
        <p:nvSpPr>
          <p:cNvPr id="191" name="Title 1"/>
          <p:cNvSpPr txBox="1">
            <a:spLocks noGrp="1"/>
          </p:cNvSpPr>
          <p:nvPr>
            <p:ph type="title"/>
          </p:nvPr>
        </p:nvSpPr>
        <p:spPr>
          <a:xfrm>
            <a:off x="838200" y="225379"/>
            <a:ext cx="10515600" cy="792053"/>
          </a:xfrm>
          <a:prstGeom prst="rect">
            <a:avLst/>
          </a:prstGeom>
        </p:spPr>
        <p:txBody>
          <a:bodyPr/>
          <a:lstStyle/>
          <a:p>
            <a:r>
              <a:rPr dirty="0"/>
              <a:t>Any Types You Need</a:t>
            </a:r>
          </a:p>
        </p:txBody>
      </p:sp>
      <p:grpSp>
        <p:nvGrpSpPr>
          <p:cNvPr id="196" name="Group 11"/>
          <p:cNvGrpSpPr/>
          <p:nvPr/>
        </p:nvGrpSpPr>
        <p:grpSpPr>
          <a:xfrm>
            <a:off x="3430530" y="2897427"/>
            <a:ext cx="1390709" cy="873572"/>
            <a:chOff x="0" y="0"/>
            <a:chExt cx="1390708" cy="873571"/>
          </a:xfrm>
        </p:grpSpPr>
        <p:sp>
          <p:nvSpPr>
            <p:cNvPr id="192" name="Rectangle: Rounded Corners 12"/>
            <p:cNvSpPr/>
            <p:nvPr/>
          </p:nvSpPr>
          <p:spPr>
            <a:xfrm>
              <a:off x="0" y="0"/>
              <a:ext cx="1390709" cy="873572"/>
            </a:xfrm>
            <a:prstGeom prst="roundRect">
              <a:avLst>
                <a:gd name="adj" fmla="val 16667"/>
              </a:avLst>
            </a:prstGeom>
            <a:blipFill rotWithShape="1">
              <a:blip r:embed="rId2"/>
              <a:srcRect/>
              <a:tile tx="0" ty="0" sx="100000" sy="100000" flip="none" algn="tl"/>
            </a:blipFill>
            <a:ln w="12700" cap="flat">
              <a:solidFill>
                <a:srgbClr val="32538F"/>
              </a:solidFill>
              <a:prstDash val="solid"/>
              <a:miter lim="800000"/>
            </a:ln>
            <a:effectLst/>
          </p:spPr>
          <p:txBody>
            <a:bodyPr wrap="square" lIns="45719" tIns="45719" rIns="45719" bIns="45719" numCol="1" anchor="ctr">
              <a:noAutofit/>
            </a:bodyPr>
            <a:lstStyle/>
            <a:p>
              <a:pPr algn="ctr">
                <a:defRPr sz="1400">
                  <a:solidFill>
                    <a:srgbClr val="FFFFFF"/>
                  </a:solidFill>
                </a:defRPr>
              </a:pPr>
              <a:endParaRPr/>
            </a:p>
          </p:txBody>
        </p:sp>
        <p:grpSp>
          <p:nvGrpSpPr>
            <p:cNvPr id="195" name="Rectangle: Rounded Corners 13"/>
            <p:cNvGrpSpPr/>
            <p:nvPr/>
          </p:nvGrpSpPr>
          <p:grpSpPr>
            <a:xfrm>
              <a:off x="76327" y="88203"/>
              <a:ext cx="1238056" cy="697165"/>
              <a:chOff x="0" y="0"/>
              <a:chExt cx="1238055" cy="697163"/>
            </a:xfrm>
          </p:grpSpPr>
          <p:sp>
            <p:nvSpPr>
              <p:cNvPr id="193" name="Rounded Rectangle"/>
              <p:cNvSpPr/>
              <p:nvPr/>
            </p:nvSpPr>
            <p:spPr>
              <a:xfrm>
                <a:off x="0" y="0"/>
                <a:ext cx="1238056" cy="697164"/>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defRPr>
                    <a:solidFill>
                      <a:srgbClr val="FFFFFF"/>
                    </a:solidFill>
                  </a:defRPr>
                </a:pPr>
                <a:endParaRPr/>
              </a:p>
            </p:txBody>
          </p:sp>
          <p:sp>
            <p:nvSpPr>
              <p:cNvPr id="194" name="Sorted"/>
              <p:cNvSpPr txBox="1"/>
              <p:nvPr/>
            </p:nvSpPr>
            <p:spPr>
              <a:xfrm>
                <a:off x="34032" y="150461"/>
                <a:ext cx="1169991" cy="396241"/>
              </a:xfrm>
              <a:prstGeom prst="rect">
                <a:avLst/>
              </a:prstGeom>
              <a:noFill/>
              <a:ln w="12700" cap="flat">
                <a:noFill/>
                <a:miter lim="400000"/>
              </a:ln>
              <a:effectLst/>
              <a:extLst>
                <a:ext uri="{C572A759-6A51-4108-AA02-DFA0A04FC94B}">
                  <ma14:wrappingTextBoxFlag xmlns:ma14="http://schemas.microsoft.com/office/mac/drawingml/2011/main" xmlns="" val="1"/>
                </a:ext>
              </a:extLst>
            </p:spPr>
            <p:txBody>
              <a:bodyPr wrap="square" lIns="45719" tIns="45719" rIns="45719" bIns="45719" numCol="1" anchor="ctr">
                <a:spAutoFit/>
              </a:bodyPr>
              <a:lstStyle>
                <a:lvl1pPr>
                  <a:defRPr sz="2000"/>
                </a:lvl1pPr>
              </a:lstStyle>
              <a:p>
                <a:r>
                  <a:t>Sorted</a:t>
                </a:r>
              </a:p>
            </p:txBody>
          </p:sp>
        </p:grpSp>
      </p:grpSp>
      <p:grpSp>
        <p:nvGrpSpPr>
          <p:cNvPr id="201" name="Group 22"/>
          <p:cNvGrpSpPr/>
          <p:nvPr/>
        </p:nvGrpSpPr>
        <p:grpSpPr>
          <a:xfrm>
            <a:off x="7727877" y="2121918"/>
            <a:ext cx="1614225" cy="2432087"/>
            <a:chOff x="0" y="0"/>
            <a:chExt cx="1614224" cy="2432086"/>
          </a:xfrm>
        </p:grpSpPr>
        <p:sp>
          <p:nvSpPr>
            <p:cNvPr id="197" name="Rectangle 23"/>
            <p:cNvSpPr/>
            <p:nvPr/>
          </p:nvSpPr>
          <p:spPr>
            <a:xfrm>
              <a:off x="-1" y="0"/>
              <a:ext cx="1614226" cy="2432087"/>
            </a:xfrm>
            <a:prstGeom prst="roundRect">
              <a:avLst>
                <a:gd name="adj" fmla="val 6461"/>
              </a:avLst>
            </a:prstGeom>
            <a:blipFill rotWithShape="1">
              <a:blip r:embed="rId2"/>
              <a:srcRect/>
              <a:tile tx="0" ty="0" sx="100000" sy="100000" flip="none" algn="tl"/>
            </a:blipFill>
            <a:ln w="12700" cap="flat">
              <a:solidFill>
                <a:srgbClr val="32538F"/>
              </a:solidFill>
              <a:prstDash val="solid"/>
              <a:miter lim="800000"/>
            </a:ln>
            <a:effectLst/>
          </p:spPr>
          <p:txBody>
            <a:bodyPr wrap="square" lIns="45719" tIns="45719" rIns="45719" bIns="45719" numCol="1" anchor="ctr">
              <a:noAutofit/>
            </a:bodyPr>
            <a:lstStyle/>
            <a:p>
              <a:pPr algn="ctr">
                <a:defRPr sz="1400">
                  <a:solidFill>
                    <a:srgbClr val="FFFFFF"/>
                  </a:solidFill>
                </a:defRPr>
              </a:pPr>
              <a:endParaRPr/>
            </a:p>
          </p:txBody>
        </p:sp>
        <p:grpSp>
          <p:nvGrpSpPr>
            <p:cNvPr id="200" name="Rectangle 24"/>
            <p:cNvGrpSpPr/>
            <p:nvPr/>
          </p:nvGrpSpPr>
          <p:grpSpPr>
            <a:xfrm>
              <a:off x="84964" y="103521"/>
              <a:ext cx="1444296" cy="2225041"/>
              <a:chOff x="0" y="0"/>
              <a:chExt cx="1444295" cy="2225039"/>
            </a:xfrm>
          </p:grpSpPr>
          <p:sp>
            <p:nvSpPr>
              <p:cNvPr id="198" name="Rounded Rectangle"/>
              <p:cNvSpPr/>
              <p:nvPr/>
            </p:nvSpPr>
            <p:spPr>
              <a:xfrm>
                <a:off x="0" y="3547"/>
                <a:ext cx="1444296" cy="2217946"/>
              </a:xfrm>
              <a:prstGeom prst="roundRect">
                <a:avLst>
                  <a:gd name="adj" fmla="val 8111"/>
                </a:avLst>
              </a:prstGeom>
              <a:solidFill>
                <a:srgbClr val="FFFFFF"/>
              </a:solidFill>
              <a:ln w="12700" cap="flat">
                <a:noFill/>
                <a:miter lim="400000"/>
              </a:ln>
              <a:effectLst/>
            </p:spPr>
            <p:txBody>
              <a:bodyPr wrap="square" lIns="45719" tIns="45719" rIns="45719" bIns="45719" numCol="1" anchor="ctr">
                <a:noAutofit/>
              </a:bodyPr>
              <a:lstStyle/>
              <a:p>
                <a:pPr>
                  <a:defRPr>
                    <a:solidFill>
                      <a:srgbClr val="FFFFFF"/>
                    </a:solidFill>
                  </a:defRPr>
                </a:pPr>
                <a:endParaRPr/>
              </a:p>
            </p:txBody>
          </p:sp>
          <p:sp>
            <p:nvSpPr>
              <p:cNvPr id="199" name="Bag…"/>
              <p:cNvSpPr txBox="1"/>
              <p:nvPr/>
            </p:nvSpPr>
            <p:spPr>
              <a:xfrm>
                <a:off x="34310" y="0"/>
                <a:ext cx="1375675" cy="2225040"/>
              </a:xfrm>
              <a:prstGeom prst="rect">
                <a:avLst/>
              </a:prstGeom>
              <a:noFill/>
              <a:ln w="12700" cap="flat">
                <a:noFill/>
                <a:miter lim="400000"/>
              </a:ln>
              <a:effectLst/>
              <a:extLst>
                <a:ext uri="{C572A759-6A51-4108-AA02-DFA0A04FC94B}">
                  <ma14:wrappingTextBoxFlag xmlns:ma14="http://schemas.microsoft.com/office/mac/drawingml/2011/main" xmlns="" val="1"/>
                </a:ext>
              </a:extLst>
            </p:spPr>
            <p:txBody>
              <a:bodyPr wrap="square" lIns="45719" tIns="45719" rIns="45719" bIns="45719" numCol="1" anchor="ctr">
                <a:spAutoFit/>
              </a:bodyPr>
              <a:lstStyle/>
              <a:p>
                <a:pPr>
                  <a:defRPr sz="2000"/>
                </a:pPr>
                <a:r>
                  <a:t>Bag</a:t>
                </a:r>
                <a:endParaRPr>
                  <a:solidFill>
                    <a:srgbClr val="FFFFFF"/>
                  </a:solidFill>
                </a:endParaRPr>
              </a:p>
              <a:p>
                <a:pPr>
                  <a:defRPr sz="2000">
                    <a:ln w="9525">
                      <a:solidFill>
                        <a:srgbClr val="385724"/>
                      </a:solidFill>
                    </a:ln>
                    <a:solidFill>
                      <a:srgbClr val="33CC33"/>
                    </a:solidFill>
                  </a:defRPr>
                </a:pPr>
                <a:r>
                  <a:t>BiMap</a:t>
                </a:r>
              </a:p>
              <a:p>
                <a:pPr>
                  <a:defRPr sz="2000"/>
                </a:pPr>
                <a:r>
                  <a:t>Interval</a:t>
                </a:r>
                <a:endParaRPr>
                  <a:solidFill>
                    <a:srgbClr val="FFFFFF"/>
                  </a:solidFill>
                </a:endParaRPr>
              </a:p>
              <a:p>
                <a:pPr>
                  <a:defRPr sz="2000"/>
                </a:pPr>
                <a:r>
                  <a:t>List</a:t>
                </a:r>
                <a:endParaRPr>
                  <a:solidFill>
                    <a:srgbClr val="FFFFFF"/>
                  </a:solidFill>
                </a:endParaRPr>
              </a:p>
              <a:p>
                <a:pPr>
                  <a:defRPr sz="2000">
                    <a:ln w="9525">
                      <a:solidFill>
                        <a:srgbClr val="385724"/>
                      </a:solidFill>
                    </a:ln>
                    <a:solidFill>
                      <a:srgbClr val="33CC33"/>
                    </a:solidFill>
                  </a:defRPr>
                </a:pPr>
                <a:r>
                  <a:t>Map</a:t>
                </a:r>
                <a:endParaRPr>
                  <a:solidFill>
                    <a:srgbClr val="FFFFFF"/>
                  </a:solidFill>
                </a:endParaRPr>
              </a:p>
              <a:p>
                <a:pPr>
                  <a:defRPr sz="2000"/>
                </a:pPr>
                <a:r>
                  <a:t>Set</a:t>
                </a:r>
                <a:endParaRPr>
                  <a:solidFill>
                    <a:srgbClr val="FFFFFF"/>
                  </a:solidFill>
                </a:endParaRPr>
              </a:p>
              <a:p>
                <a:pPr>
                  <a:defRPr sz="2000"/>
                </a:pPr>
                <a:r>
                  <a:t>Stack</a:t>
                </a:r>
              </a:p>
            </p:txBody>
          </p:sp>
        </p:grpSp>
      </p:grpSp>
      <p:sp>
        <p:nvSpPr>
          <p:cNvPr id="202" name="Straight Arrow Connector 26"/>
          <p:cNvSpPr/>
          <p:nvPr/>
        </p:nvSpPr>
        <p:spPr>
          <a:xfrm flipV="1">
            <a:off x="2779878" y="3334213"/>
            <a:ext cx="650652" cy="10052"/>
          </a:xfrm>
          <a:prstGeom prst="line">
            <a:avLst/>
          </a:prstGeom>
          <a:ln w="38100">
            <a:solidFill>
              <a:srgbClr val="2E75B6"/>
            </a:solidFill>
            <a:miter/>
            <a:tailEnd type="triangle"/>
          </a:ln>
        </p:spPr>
        <p:txBody>
          <a:bodyPr lIns="45719" rIns="45719"/>
          <a:lstStyle/>
          <a:p>
            <a:endParaRPr/>
          </a:p>
        </p:txBody>
      </p:sp>
      <p:sp>
        <p:nvSpPr>
          <p:cNvPr id="203" name="Straight Arrow Connector 27"/>
          <p:cNvSpPr/>
          <p:nvPr/>
        </p:nvSpPr>
        <p:spPr>
          <a:xfrm>
            <a:off x="4821237" y="3334213"/>
            <a:ext cx="531117" cy="1"/>
          </a:xfrm>
          <a:prstGeom prst="line">
            <a:avLst/>
          </a:prstGeom>
          <a:ln w="38100">
            <a:solidFill>
              <a:srgbClr val="2E75B6"/>
            </a:solidFill>
            <a:miter/>
            <a:tailEnd type="triangle"/>
          </a:ln>
        </p:spPr>
        <p:txBody>
          <a:bodyPr lIns="45719" rIns="45719"/>
          <a:lstStyle/>
          <a:p>
            <a:endParaRPr/>
          </a:p>
        </p:txBody>
      </p:sp>
      <p:sp>
        <p:nvSpPr>
          <p:cNvPr id="204" name="Freeform: Shape 37"/>
          <p:cNvSpPr/>
          <p:nvPr/>
        </p:nvSpPr>
        <p:spPr>
          <a:xfrm>
            <a:off x="2779878" y="2210491"/>
            <a:ext cx="2568627" cy="898312"/>
          </a:xfrm>
          <a:custGeom>
            <a:avLst/>
            <a:gdLst/>
            <a:ahLst/>
            <a:cxnLst>
              <a:cxn ang="0">
                <a:pos x="wd2" y="hd2"/>
              </a:cxn>
              <a:cxn ang="5400000">
                <a:pos x="wd2" y="hd2"/>
              </a:cxn>
              <a:cxn ang="10800000">
                <a:pos x="wd2" y="hd2"/>
              </a:cxn>
              <a:cxn ang="16200000">
                <a:pos x="wd2" y="hd2"/>
              </a:cxn>
            </a:cxnLst>
            <a:rect l="0" t="0" r="r" b="b"/>
            <a:pathLst>
              <a:path w="21600" h="20541" extrusionOk="0">
                <a:moveTo>
                  <a:pt x="0" y="20541"/>
                </a:moveTo>
                <a:cubicBezTo>
                  <a:pt x="3522" y="20430"/>
                  <a:pt x="3247" y="20375"/>
                  <a:pt x="3987" y="15894"/>
                </a:cubicBezTo>
                <a:cubicBezTo>
                  <a:pt x="4727" y="11414"/>
                  <a:pt x="5137" y="4278"/>
                  <a:pt x="6788" y="1955"/>
                </a:cubicBezTo>
                <a:cubicBezTo>
                  <a:pt x="8439" y="-368"/>
                  <a:pt x="11888" y="-921"/>
                  <a:pt x="13893" y="1955"/>
                </a:cubicBezTo>
                <a:cubicBezTo>
                  <a:pt x="15897" y="4832"/>
                  <a:pt x="17530" y="16116"/>
                  <a:pt x="18815" y="19213"/>
                </a:cubicBezTo>
                <a:cubicBezTo>
                  <a:pt x="19530" y="20679"/>
                  <a:pt x="19765" y="20377"/>
                  <a:pt x="21600" y="20541"/>
                </a:cubicBezTo>
              </a:path>
            </a:pathLst>
          </a:custGeom>
          <a:ln w="38100">
            <a:solidFill>
              <a:srgbClr val="2E75B6"/>
            </a:solidFill>
            <a:miter/>
            <a:tailEnd type="triangle"/>
          </a:ln>
        </p:spPr>
        <p:txBody>
          <a:bodyPr lIns="45719" rIns="45719" anchor="ctr"/>
          <a:lstStyle/>
          <a:p>
            <a:pPr algn="ctr">
              <a:defRPr sz="1400">
                <a:solidFill>
                  <a:srgbClr val="FFFFFF"/>
                </a:solidFill>
              </a:defRPr>
            </a:pPr>
            <a:endParaRPr/>
          </a:p>
        </p:txBody>
      </p:sp>
      <p:grpSp>
        <p:nvGrpSpPr>
          <p:cNvPr id="209" name="Group 38"/>
          <p:cNvGrpSpPr/>
          <p:nvPr/>
        </p:nvGrpSpPr>
        <p:grpSpPr>
          <a:xfrm>
            <a:off x="9744261" y="3032491"/>
            <a:ext cx="1587612" cy="610939"/>
            <a:chOff x="0" y="0"/>
            <a:chExt cx="1587610" cy="610937"/>
          </a:xfrm>
        </p:grpSpPr>
        <p:sp>
          <p:nvSpPr>
            <p:cNvPr id="205" name="Rectangle 39"/>
            <p:cNvSpPr/>
            <p:nvPr/>
          </p:nvSpPr>
          <p:spPr>
            <a:xfrm>
              <a:off x="0" y="0"/>
              <a:ext cx="1587611" cy="610938"/>
            </a:xfrm>
            <a:prstGeom prst="roundRect">
              <a:avLst>
                <a:gd name="adj" fmla="val 16667"/>
              </a:avLst>
            </a:prstGeom>
            <a:blipFill rotWithShape="1">
              <a:blip r:embed="rId2"/>
              <a:srcRect/>
              <a:tile tx="0" ty="0" sx="100000" sy="100000" flip="none" algn="tl"/>
            </a:blipFill>
            <a:ln w="12700" cap="flat">
              <a:solidFill>
                <a:srgbClr val="32538F"/>
              </a:solidFill>
              <a:prstDash val="solid"/>
              <a:miter lim="800000"/>
            </a:ln>
            <a:effectLst/>
          </p:spPr>
          <p:txBody>
            <a:bodyPr wrap="square" lIns="45719" tIns="45719" rIns="45719" bIns="45719" numCol="1" anchor="ctr">
              <a:noAutofit/>
            </a:bodyPr>
            <a:lstStyle/>
            <a:p>
              <a:pPr algn="ctr">
                <a:defRPr sz="1400">
                  <a:solidFill>
                    <a:srgbClr val="FFFFFF"/>
                  </a:solidFill>
                </a:defRPr>
              </a:pPr>
              <a:endParaRPr/>
            </a:p>
          </p:txBody>
        </p:sp>
        <p:grpSp>
          <p:nvGrpSpPr>
            <p:cNvPr id="208" name="Rectangle 40"/>
            <p:cNvGrpSpPr/>
            <p:nvPr/>
          </p:nvGrpSpPr>
          <p:grpSpPr>
            <a:xfrm>
              <a:off x="58801" y="61685"/>
              <a:ext cx="1470012" cy="487567"/>
              <a:chOff x="0" y="0"/>
              <a:chExt cx="1470011" cy="487565"/>
            </a:xfrm>
          </p:grpSpPr>
          <p:sp>
            <p:nvSpPr>
              <p:cNvPr id="206" name="Rounded Rectangle"/>
              <p:cNvSpPr/>
              <p:nvPr/>
            </p:nvSpPr>
            <p:spPr>
              <a:xfrm>
                <a:off x="0" y="0"/>
                <a:ext cx="1470012" cy="487566"/>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defRPr>
                    <a:solidFill>
                      <a:srgbClr val="FFFFFF"/>
                    </a:solidFill>
                  </a:defRPr>
                </a:pPr>
                <a:endParaRPr/>
              </a:p>
            </p:txBody>
          </p:sp>
          <p:sp>
            <p:nvSpPr>
              <p:cNvPr id="207" name="Multimap"/>
              <p:cNvSpPr txBox="1"/>
              <p:nvPr/>
            </p:nvSpPr>
            <p:spPr>
              <a:xfrm>
                <a:off x="23800" y="45662"/>
                <a:ext cx="1422411" cy="396241"/>
              </a:xfrm>
              <a:prstGeom prst="rect">
                <a:avLst/>
              </a:prstGeom>
              <a:noFill/>
              <a:ln w="12700" cap="flat">
                <a:noFill/>
                <a:miter lim="400000"/>
              </a:ln>
              <a:effectLst/>
              <a:extLst>
                <a:ext uri="{C572A759-6A51-4108-AA02-DFA0A04FC94B}">
                  <ma14:wrappingTextBoxFlag xmlns:ma14="http://schemas.microsoft.com/office/mac/drawingml/2011/main" xmlns="" val="1"/>
                </a:ext>
              </a:extLst>
            </p:spPr>
            <p:txBody>
              <a:bodyPr wrap="square" lIns="45719" tIns="45719" rIns="45719" bIns="45719" numCol="1" anchor="ctr">
                <a:spAutoFit/>
              </a:bodyPr>
              <a:lstStyle>
                <a:lvl1pPr>
                  <a:defRPr sz="2000"/>
                </a:lvl1pPr>
              </a:lstStyle>
              <a:p>
                <a:r>
                  <a:t>Multimap</a:t>
                </a:r>
              </a:p>
            </p:txBody>
          </p:sp>
        </p:grpSp>
      </p:grpSp>
      <p:sp>
        <p:nvSpPr>
          <p:cNvPr id="233" name="Straight Arrow Connector 41"/>
          <p:cNvSpPr/>
          <p:nvPr/>
        </p:nvSpPr>
        <p:spPr>
          <a:xfrm>
            <a:off x="9348317" y="3337960"/>
            <a:ext cx="389595" cy="2"/>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21600" y="0"/>
                </a:lnTo>
              </a:path>
            </a:pathLst>
          </a:custGeom>
          <a:ln w="38100">
            <a:solidFill>
              <a:srgbClr val="2E75B6"/>
            </a:solidFill>
            <a:miter/>
            <a:tailEnd type="triangle"/>
          </a:ln>
        </p:spPr>
        <p:txBody>
          <a:bodyPr/>
          <a:lstStyle/>
          <a:p>
            <a:endParaRPr/>
          </a:p>
        </p:txBody>
      </p:sp>
      <p:sp>
        <p:nvSpPr>
          <p:cNvPr id="211" name="Slide Number Placeholder 47"/>
          <p:cNvSpPr txBox="1">
            <a:spLocks noGrp="1"/>
          </p:cNvSpPr>
          <p:nvPr>
            <p:ph type="sldNum" sz="quarter" idx="2"/>
          </p:nvPr>
        </p:nvSpPr>
        <p:spPr>
          <a:xfrm>
            <a:off x="11080144" y="6404292"/>
            <a:ext cx="273657" cy="269241"/>
          </a:xfrm>
          <a:prstGeom prst="rect">
            <a:avLst/>
          </a:prstGeom>
          <a:ln w="12700">
            <a:miter lim="400000"/>
          </a:ln>
          <a:extLst>
            <a:ext uri="{C572A759-6A51-4108-AA02-DFA0A04FC94B}">
              <ma14:wrappingTextBoxFlag xmlns:ma14="http://schemas.microsoft.com/office/mac/drawingml/2011/main" xmlns="" val="1"/>
            </a:ext>
          </a:extLst>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Univers"/>
                <a:ea typeface="Univers"/>
                <a:cs typeface="Univers"/>
                <a:sym typeface="Univers"/>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9pPr>
          </a:lstStyle>
          <a:p>
            <a:fld id="{86CB4B4D-7CA3-9044-876B-883B54F8677D}" type="slidenum">
              <a:rPr lang="en-US" smtClean="0"/>
              <a:pPr/>
              <a:t>5</a:t>
            </a:fld>
            <a:endParaRPr/>
          </a:p>
        </p:txBody>
      </p:sp>
      <p:grpSp>
        <p:nvGrpSpPr>
          <p:cNvPr id="216" name="Group 48"/>
          <p:cNvGrpSpPr/>
          <p:nvPr/>
        </p:nvGrpSpPr>
        <p:grpSpPr>
          <a:xfrm>
            <a:off x="8152724" y="5426287"/>
            <a:ext cx="2358205" cy="1007589"/>
            <a:chOff x="0" y="0"/>
            <a:chExt cx="2358203" cy="1007588"/>
          </a:xfrm>
        </p:grpSpPr>
        <p:sp>
          <p:nvSpPr>
            <p:cNvPr id="212" name="Rectangle 49"/>
            <p:cNvSpPr/>
            <p:nvPr/>
          </p:nvSpPr>
          <p:spPr>
            <a:xfrm>
              <a:off x="0" y="0"/>
              <a:ext cx="2358204" cy="1007589"/>
            </a:xfrm>
            <a:prstGeom prst="roundRect">
              <a:avLst>
                <a:gd name="adj" fmla="val 7674"/>
              </a:avLst>
            </a:prstGeom>
            <a:blipFill rotWithShape="1">
              <a:blip r:embed="rId2"/>
              <a:srcRect/>
              <a:tile tx="0" ty="0" sx="100000" sy="100000" flip="none" algn="tl"/>
            </a:blipFill>
            <a:ln w="12700" cap="flat">
              <a:solidFill>
                <a:srgbClr val="32538F"/>
              </a:solidFill>
              <a:prstDash val="solid"/>
              <a:miter lim="800000"/>
            </a:ln>
            <a:effectLst/>
          </p:spPr>
          <p:txBody>
            <a:bodyPr wrap="square" lIns="45719" tIns="45719" rIns="45719" bIns="45719" numCol="1" anchor="ctr">
              <a:noAutofit/>
            </a:bodyPr>
            <a:lstStyle/>
            <a:p>
              <a:pPr algn="ctr">
                <a:defRPr sz="1400">
                  <a:solidFill>
                    <a:srgbClr val="FFFFFF"/>
                  </a:solidFill>
                </a:defRPr>
              </a:pPr>
              <a:endParaRPr/>
            </a:p>
          </p:txBody>
        </p:sp>
        <p:grpSp>
          <p:nvGrpSpPr>
            <p:cNvPr id="215" name="Rectangle 50"/>
            <p:cNvGrpSpPr/>
            <p:nvPr/>
          </p:nvGrpSpPr>
          <p:grpSpPr>
            <a:xfrm>
              <a:off x="109825" y="92239"/>
              <a:ext cx="2138551" cy="823110"/>
              <a:chOff x="0" y="0"/>
              <a:chExt cx="2138550" cy="823109"/>
            </a:xfrm>
          </p:grpSpPr>
          <p:sp>
            <p:nvSpPr>
              <p:cNvPr id="213" name="Rounded Rectangle"/>
              <p:cNvSpPr/>
              <p:nvPr/>
            </p:nvSpPr>
            <p:spPr>
              <a:xfrm>
                <a:off x="0" y="0"/>
                <a:ext cx="2138551" cy="823110"/>
              </a:xfrm>
              <a:prstGeom prst="roundRect">
                <a:avLst>
                  <a:gd name="adj" fmla="val 2656"/>
                </a:avLst>
              </a:prstGeom>
              <a:solidFill>
                <a:srgbClr val="FFFFFF"/>
              </a:solidFill>
              <a:ln w="12700" cap="flat">
                <a:noFill/>
                <a:miter lim="400000"/>
              </a:ln>
              <a:effectLst/>
            </p:spPr>
            <p:txBody>
              <a:bodyPr wrap="square" lIns="45719" tIns="45719" rIns="45719" bIns="45719" numCol="1" anchor="ctr">
                <a:noAutofit/>
              </a:bodyPr>
              <a:lstStyle/>
              <a:p>
                <a:pPr>
                  <a:defRPr>
                    <a:solidFill>
                      <a:srgbClr val="FFFFFF"/>
                    </a:solidFill>
                  </a:defRPr>
                </a:pPr>
                <a:endParaRPr/>
              </a:p>
            </p:txBody>
          </p:sp>
          <p:sp>
            <p:nvSpPr>
              <p:cNvPr id="214" name="*.asLazy()…"/>
              <p:cNvSpPr txBox="1"/>
              <p:nvPr/>
            </p:nvSpPr>
            <p:spPr>
              <a:xfrm>
                <a:off x="6402" y="61034"/>
                <a:ext cx="2125746" cy="701041"/>
              </a:xfrm>
              <a:prstGeom prst="rect">
                <a:avLst/>
              </a:prstGeom>
              <a:noFill/>
              <a:ln w="12700" cap="flat">
                <a:noFill/>
                <a:miter lim="400000"/>
              </a:ln>
              <a:effectLst/>
              <a:extLst>
                <a:ext uri="{C572A759-6A51-4108-AA02-DFA0A04FC94B}">
                  <ma14:wrappingTextBoxFlag xmlns:ma14="http://schemas.microsoft.com/office/mac/drawingml/2011/main" xmlns="" val="1"/>
                </a:ext>
              </a:extLst>
            </p:spPr>
            <p:txBody>
              <a:bodyPr wrap="square" lIns="45719" tIns="45719" rIns="45719" bIns="45719" numCol="1" anchor="ctr">
                <a:spAutoFit/>
              </a:bodyPr>
              <a:lstStyle/>
              <a:p>
                <a:pPr>
                  <a:defRPr sz="2000"/>
                </a:pPr>
                <a:r>
                  <a:t>*.asLazy()</a:t>
                </a:r>
              </a:p>
              <a:p>
                <a:pPr>
                  <a:defRPr sz="2000"/>
                </a:pPr>
                <a:r>
                  <a:t>*.asParallel()</a:t>
                </a:r>
              </a:p>
            </p:txBody>
          </p:sp>
        </p:grpSp>
      </p:grpSp>
      <p:grpSp>
        <p:nvGrpSpPr>
          <p:cNvPr id="221" name="Group 51"/>
          <p:cNvGrpSpPr/>
          <p:nvPr/>
        </p:nvGrpSpPr>
        <p:grpSpPr>
          <a:xfrm>
            <a:off x="5352353" y="1728802"/>
            <a:ext cx="1614226" cy="3210823"/>
            <a:chOff x="0" y="0"/>
            <a:chExt cx="1614224" cy="3210822"/>
          </a:xfrm>
        </p:grpSpPr>
        <p:sp>
          <p:nvSpPr>
            <p:cNvPr id="217" name="Rectangle: Rounded Corners 52"/>
            <p:cNvSpPr/>
            <p:nvPr/>
          </p:nvSpPr>
          <p:spPr>
            <a:xfrm>
              <a:off x="-1" y="0"/>
              <a:ext cx="1614226" cy="3210823"/>
            </a:xfrm>
            <a:prstGeom prst="roundRect">
              <a:avLst>
                <a:gd name="adj" fmla="val 6460"/>
              </a:avLst>
            </a:prstGeom>
            <a:blipFill rotWithShape="1">
              <a:blip r:embed="rId2"/>
              <a:srcRect/>
              <a:tile tx="0" ty="0" sx="100000" sy="100000" flip="none" algn="tl"/>
            </a:blipFill>
            <a:ln w="12700" cap="flat">
              <a:solidFill>
                <a:srgbClr val="32538F"/>
              </a:solidFill>
              <a:prstDash val="solid"/>
              <a:miter lim="800000"/>
            </a:ln>
            <a:effectLst/>
          </p:spPr>
          <p:txBody>
            <a:bodyPr wrap="square" lIns="45719" tIns="45719" rIns="45719" bIns="45719" numCol="1" anchor="ctr">
              <a:noAutofit/>
            </a:bodyPr>
            <a:lstStyle/>
            <a:p>
              <a:pPr algn="ctr">
                <a:defRPr sz="1400">
                  <a:solidFill>
                    <a:srgbClr val="FFFFFF"/>
                  </a:solidFill>
                </a:defRPr>
              </a:pPr>
              <a:endParaRPr/>
            </a:p>
          </p:txBody>
        </p:sp>
        <p:grpSp>
          <p:nvGrpSpPr>
            <p:cNvPr id="220" name="Rectangle: Rounded Corners 53"/>
            <p:cNvGrpSpPr/>
            <p:nvPr/>
          </p:nvGrpSpPr>
          <p:grpSpPr>
            <a:xfrm>
              <a:off x="88595" y="80797"/>
              <a:ext cx="1437038" cy="3049227"/>
              <a:chOff x="0" y="0"/>
              <a:chExt cx="1437037" cy="3049225"/>
            </a:xfrm>
          </p:grpSpPr>
          <p:sp>
            <p:nvSpPr>
              <p:cNvPr id="218" name="Rounded Rectangle"/>
              <p:cNvSpPr/>
              <p:nvPr/>
            </p:nvSpPr>
            <p:spPr>
              <a:xfrm>
                <a:off x="0" y="0"/>
                <a:ext cx="1437038" cy="3049226"/>
              </a:xfrm>
              <a:prstGeom prst="roundRect">
                <a:avLst>
                  <a:gd name="adj" fmla="val 6348"/>
                </a:avLst>
              </a:prstGeom>
              <a:solidFill>
                <a:srgbClr val="FFFFFF"/>
              </a:solidFill>
              <a:ln w="12700" cap="flat">
                <a:noFill/>
                <a:miter lim="400000"/>
              </a:ln>
              <a:effectLst/>
            </p:spPr>
            <p:txBody>
              <a:bodyPr wrap="square" lIns="45719" tIns="45719" rIns="45719" bIns="45719" numCol="1" anchor="ctr">
                <a:noAutofit/>
              </a:bodyPr>
              <a:lstStyle/>
              <a:p>
                <a:pPr>
                  <a:defRPr>
                    <a:solidFill>
                      <a:srgbClr val="FFFFFF"/>
                    </a:solidFill>
                  </a:defRPr>
                </a:pPr>
                <a:endParaRPr/>
              </a:p>
            </p:txBody>
          </p:sp>
          <p:sp>
            <p:nvSpPr>
              <p:cNvPr id="219" name="Boolean…"/>
              <p:cNvSpPr txBox="1"/>
              <p:nvPr/>
            </p:nvSpPr>
            <p:spPr>
              <a:xfrm>
                <a:off x="26717" y="107293"/>
                <a:ext cx="1383603" cy="2834641"/>
              </a:xfrm>
              <a:prstGeom prst="rect">
                <a:avLst/>
              </a:prstGeom>
              <a:noFill/>
              <a:ln w="12700" cap="flat">
                <a:noFill/>
                <a:miter lim="400000"/>
              </a:ln>
              <a:effectLst/>
              <a:extLst>
                <a:ext uri="{C572A759-6A51-4108-AA02-DFA0A04FC94B}">
                  <ma14:wrappingTextBoxFlag xmlns:ma14="http://schemas.microsoft.com/office/mac/drawingml/2011/main" xmlns="" val="1"/>
                </a:ext>
              </a:extLst>
            </p:spPr>
            <p:txBody>
              <a:bodyPr wrap="square" lIns="45719" tIns="45719" rIns="45719" bIns="45719" numCol="1" anchor="ctr">
                <a:spAutoFit/>
              </a:bodyPr>
              <a:lstStyle/>
              <a:p>
                <a:pPr>
                  <a:defRPr sz="2000"/>
                </a:pPr>
                <a:r>
                  <a:rPr dirty="0"/>
                  <a:t>Boolean</a:t>
                </a:r>
                <a:endParaRPr dirty="0">
                  <a:solidFill>
                    <a:srgbClr val="FFFFFF"/>
                  </a:solidFill>
                </a:endParaRPr>
              </a:p>
              <a:p>
                <a:pPr>
                  <a:defRPr sz="2000"/>
                </a:pPr>
                <a:r>
                  <a:rPr dirty="0"/>
                  <a:t>Byte</a:t>
                </a:r>
                <a:endParaRPr dirty="0">
                  <a:solidFill>
                    <a:srgbClr val="FFFFFF"/>
                  </a:solidFill>
                </a:endParaRPr>
              </a:p>
              <a:p>
                <a:pPr>
                  <a:defRPr sz="2000"/>
                </a:pPr>
                <a:r>
                  <a:rPr dirty="0"/>
                  <a:t>Char</a:t>
                </a:r>
                <a:endParaRPr dirty="0">
                  <a:solidFill>
                    <a:srgbClr val="FFFFFF"/>
                  </a:solidFill>
                </a:endParaRPr>
              </a:p>
              <a:p>
                <a:pPr>
                  <a:defRPr sz="2000"/>
                </a:pPr>
                <a:r>
                  <a:rPr dirty="0"/>
                  <a:t>Double</a:t>
                </a:r>
                <a:endParaRPr dirty="0">
                  <a:solidFill>
                    <a:srgbClr val="FFFFFF"/>
                  </a:solidFill>
                </a:endParaRPr>
              </a:p>
              <a:p>
                <a:pPr>
                  <a:defRPr sz="2000"/>
                </a:pPr>
                <a:r>
                  <a:rPr dirty="0"/>
                  <a:t>Float</a:t>
                </a:r>
                <a:endParaRPr dirty="0">
                  <a:solidFill>
                    <a:srgbClr val="FFFFFF"/>
                  </a:solidFill>
                </a:endParaRPr>
              </a:p>
              <a:p>
                <a:pPr>
                  <a:defRPr sz="2000"/>
                </a:pPr>
                <a:r>
                  <a:rPr dirty="0"/>
                  <a:t>Int</a:t>
                </a:r>
              </a:p>
              <a:p>
                <a:pPr>
                  <a:defRPr sz="2000"/>
                </a:pPr>
                <a:r>
                  <a:rPr dirty="0"/>
                  <a:t>Long</a:t>
                </a:r>
                <a:endParaRPr dirty="0">
                  <a:solidFill>
                    <a:srgbClr val="FFFFFF"/>
                  </a:solidFill>
                </a:endParaRPr>
              </a:p>
              <a:p>
                <a:pPr>
                  <a:defRPr sz="2000">
                    <a:ln w="9525">
                      <a:solidFill>
                        <a:srgbClr val="385724"/>
                      </a:solidFill>
                    </a:ln>
                    <a:solidFill>
                      <a:srgbClr val="33CC33"/>
                    </a:solidFill>
                  </a:defRPr>
                </a:pPr>
                <a:r>
                  <a:rPr dirty="0"/>
                  <a:t>Object</a:t>
                </a:r>
              </a:p>
              <a:p>
                <a:pPr>
                  <a:defRPr sz="2000"/>
                </a:pPr>
                <a:r>
                  <a:rPr dirty="0"/>
                  <a:t>Short</a:t>
                </a:r>
              </a:p>
            </p:txBody>
          </p:sp>
        </p:grpSp>
      </p:grpSp>
      <p:sp>
        <p:nvSpPr>
          <p:cNvPr id="222" name="Freeform: Shape 54"/>
          <p:cNvSpPr/>
          <p:nvPr/>
        </p:nvSpPr>
        <p:spPr>
          <a:xfrm>
            <a:off x="2783729" y="1195069"/>
            <a:ext cx="4944148" cy="1735265"/>
          </a:xfrm>
          <a:custGeom>
            <a:avLst/>
            <a:gdLst/>
            <a:ahLst/>
            <a:cxnLst>
              <a:cxn ang="0">
                <a:pos x="wd2" y="hd2"/>
              </a:cxn>
              <a:cxn ang="5400000">
                <a:pos x="wd2" y="hd2"/>
              </a:cxn>
              <a:cxn ang="10800000">
                <a:pos x="wd2" y="hd2"/>
              </a:cxn>
              <a:cxn ang="16200000">
                <a:pos x="wd2" y="hd2"/>
              </a:cxn>
            </a:cxnLst>
            <a:rect l="0" t="0" r="r" b="b"/>
            <a:pathLst>
              <a:path w="21600" h="20674" extrusionOk="0">
                <a:moveTo>
                  <a:pt x="0" y="20674"/>
                </a:moveTo>
                <a:cubicBezTo>
                  <a:pt x="1552" y="20635"/>
                  <a:pt x="1188" y="19003"/>
                  <a:pt x="1759" y="13983"/>
                </a:cubicBezTo>
                <a:cubicBezTo>
                  <a:pt x="2301" y="8828"/>
                  <a:pt x="2149" y="3448"/>
                  <a:pt x="4771" y="1504"/>
                </a:cubicBezTo>
                <a:cubicBezTo>
                  <a:pt x="7394" y="-440"/>
                  <a:pt x="14964" y="-826"/>
                  <a:pt x="17493" y="2319"/>
                </a:cubicBezTo>
                <a:cubicBezTo>
                  <a:pt x="20022" y="5465"/>
                  <a:pt x="19094" y="19977"/>
                  <a:pt x="19945" y="20375"/>
                </a:cubicBezTo>
                <a:cubicBezTo>
                  <a:pt x="20796" y="20774"/>
                  <a:pt x="20124" y="20472"/>
                  <a:pt x="21600" y="20674"/>
                </a:cubicBezTo>
              </a:path>
            </a:pathLst>
          </a:custGeom>
          <a:ln w="38100">
            <a:solidFill>
              <a:srgbClr val="2E75B6"/>
            </a:solidFill>
            <a:miter/>
            <a:tailEnd type="triangle"/>
          </a:ln>
        </p:spPr>
        <p:txBody>
          <a:bodyPr lIns="45719" rIns="45719" anchor="ctr"/>
          <a:lstStyle/>
          <a:p>
            <a:pPr algn="ctr">
              <a:defRPr sz="1400">
                <a:solidFill>
                  <a:srgbClr val="FFFFFF"/>
                </a:solidFill>
              </a:defRPr>
            </a:pPr>
            <a:endParaRPr/>
          </a:p>
        </p:txBody>
      </p:sp>
      <p:sp>
        <p:nvSpPr>
          <p:cNvPr id="223" name="Straight Arrow Connector 56"/>
          <p:cNvSpPr/>
          <p:nvPr/>
        </p:nvSpPr>
        <p:spPr>
          <a:xfrm>
            <a:off x="6966577" y="3334213"/>
            <a:ext cx="761300" cy="3750"/>
          </a:xfrm>
          <a:prstGeom prst="line">
            <a:avLst/>
          </a:prstGeom>
          <a:ln w="38100">
            <a:solidFill>
              <a:srgbClr val="2E75B6"/>
            </a:solidFill>
            <a:miter/>
            <a:tailEnd type="triangle"/>
          </a:ln>
        </p:spPr>
        <p:txBody>
          <a:bodyPr lIns="45719" rIns="45719"/>
          <a:lstStyle/>
          <a:p>
            <a:endParaRPr/>
          </a:p>
        </p:txBody>
      </p:sp>
      <p:sp>
        <p:nvSpPr>
          <p:cNvPr id="224" name="Freeform: Shape 59"/>
          <p:cNvSpPr/>
          <p:nvPr/>
        </p:nvSpPr>
        <p:spPr>
          <a:xfrm flipV="1">
            <a:off x="4821237" y="3592530"/>
            <a:ext cx="2902790" cy="1880827"/>
          </a:xfrm>
          <a:custGeom>
            <a:avLst/>
            <a:gdLst/>
            <a:ahLst/>
            <a:cxnLst>
              <a:cxn ang="0">
                <a:pos x="wd2" y="hd2"/>
              </a:cxn>
              <a:cxn ang="5400000">
                <a:pos x="wd2" y="hd2"/>
              </a:cxn>
              <a:cxn ang="10800000">
                <a:pos x="wd2" y="hd2"/>
              </a:cxn>
              <a:cxn ang="16200000">
                <a:pos x="wd2" y="hd2"/>
              </a:cxn>
            </a:cxnLst>
            <a:rect l="0" t="0" r="r" b="b"/>
            <a:pathLst>
              <a:path w="21600" h="20374" extrusionOk="0">
                <a:moveTo>
                  <a:pt x="0" y="20374"/>
                </a:moveTo>
                <a:cubicBezTo>
                  <a:pt x="2002" y="20099"/>
                  <a:pt x="2080" y="19964"/>
                  <a:pt x="2313" y="15733"/>
                </a:cubicBezTo>
                <a:cubicBezTo>
                  <a:pt x="2527" y="12539"/>
                  <a:pt x="2027" y="4014"/>
                  <a:pt x="4303" y="1745"/>
                </a:cubicBezTo>
                <a:cubicBezTo>
                  <a:pt x="6579" y="-525"/>
                  <a:pt x="13588" y="-762"/>
                  <a:pt x="15968" y="2118"/>
                </a:cubicBezTo>
                <a:cubicBezTo>
                  <a:pt x="18348" y="4997"/>
                  <a:pt x="17653" y="17207"/>
                  <a:pt x="18584" y="19022"/>
                </a:cubicBezTo>
                <a:cubicBezTo>
                  <a:pt x="19516" y="20838"/>
                  <a:pt x="19686" y="20134"/>
                  <a:pt x="21600" y="20374"/>
                </a:cubicBezTo>
              </a:path>
            </a:pathLst>
          </a:custGeom>
          <a:ln w="38100">
            <a:solidFill>
              <a:srgbClr val="2E75B6"/>
            </a:solidFill>
            <a:miter/>
            <a:tailEnd type="triangle"/>
          </a:ln>
        </p:spPr>
        <p:txBody>
          <a:bodyPr lIns="45719" rIns="45719" anchor="ctr"/>
          <a:lstStyle/>
          <a:p>
            <a:pPr algn="ctr">
              <a:defRPr sz="1400">
                <a:solidFill>
                  <a:srgbClr val="FFFFFF"/>
                </a:solidFill>
              </a:defRPr>
            </a:pPr>
            <a:endParaRPr/>
          </a:p>
        </p:txBody>
      </p:sp>
      <p:sp>
        <p:nvSpPr>
          <p:cNvPr id="225" name="Straight Arrow Connector 60"/>
          <p:cNvSpPr/>
          <p:nvPr/>
        </p:nvSpPr>
        <p:spPr>
          <a:xfrm rot="5400000">
            <a:off x="9195037" y="4083254"/>
            <a:ext cx="1782856" cy="903206"/>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5400" y="0"/>
                  <a:pt x="10800" y="5400"/>
                  <a:pt x="10800" y="10800"/>
                </a:cubicBezTo>
                <a:cubicBezTo>
                  <a:pt x="10800" y="16200"/>
                  <a:pt x="16200" y="21600"/>
                  <a:pt x="21600" y="21600"/>
                </a:cubicBezTo>
              </a:path>
            </a:pathLst>
          </a:custGeom>
          <a:ln w="38100">
            <a:solidFill>
              <a:srgbClr val="2E75B6"/>
            </a:solidFill>
            <a:prstDash val="sysDash"/>
            <a:miter/>
            <a:tailEnd type="triangle"/>
          </a:ln>
        </p:spPr>
        <p:txBody>
          <a:bodyPr lIns="45719" rIns="45719" anchor="ctr"/>
          <a:lstStyle/>
          <a:p>
            <a:endParaRPr/>
          </a:p>
        </p:txBody>
      </p:sp>
      <p:sp>
        <p:nvSpPr>
          <p:cNvPr id="226" name="Freeform: Shape 72"/>
          <p:cNvSpPr/>
          <p:nvPr/>
        </p:nvSpPr>
        <p:spPr>
          <a:xfrm>
            <a:off x="5062081" y="1457912"/>
            <a:ext cx="636604" cy="631608"/>
          </a:xfrm>
          <a:custGeom>
            <a:avLst/>
            <a:gdLst/>
            <a:ahLst/>
            <a:cxnLst>
              <a:cxn ang="0">
                <a:pos x="wd2" y="hd2"/>
              </a:cxn>
              <a:cxn ang="5400000">
                <a:pos x="wd2" y="hd2"/>
              </a:cxn>
              <a:cxn ang="10800000">
                <a:pos x="wd2" y="hd2"/>
              </a:cxn>
              <a:cxn ang="16200000">
                <a:pos x="wd2" y="hd2"/>
              </a:cxn>
            </a:cxnLst>
            <a:rect l="0" t="0" r="r" b="b"/>
            <a:pathLst>
              <a:path w="21092" h="20927" extrusionOk="0">
                <a:moveTo>
                  <a:pt x="21092" y="9386"/>
                </a:moveTo>
                <a:cubicBezTo>
                  <a:pt x="20852" y="5799"/>
                  <a:pt x="20611" y="2212"/>
                  <a:pt x="17485" y="970"/>
                </a:cubicBezTo>
                <a:cubicBezTo>
                  <a:pt x="14360" y="-272"/>
                  <a:pt x="5102" y="-673"/>
                  <a:pt x="2337" y="1932"/>
                </a:cubicBezTo>
                <a:cubicBezTo>
                  <a:pt x="-428" y="4537"/>
                  <a:pt x="-508" y="13433"/>
                  <a:pt x="895" y="16599"/>
                </a:cubicBezTo>
                <a:cubicBezTo>
                  <a:pt x="2297" y="19765"/>
                  <a:pt x="4842" y="19504"/>
                  <a:pt x="10753" y="20927"/>
                </a:cubicBezTo>
              </a:path>
            </a:pathLst>
          </a:custGeom>
          <a:ln w="38100">
            <a:solidFill>
              <a:srgbClr val="33CC33"/>
            </a:solidFill>
            <a:miter/>
            <a:tailEnd type="triangle"/>
          </a:ln>
        </p:spPr>
        <p:txBody>
          <a:bodyPr lIns="45719" rIns="45719" anchor="ctr"/>
          <a:lstStyle/>
          <a:p>
            <a:pPr algn="ctr">
              <a:defRPr sz="1600">
                <a:solidFill>
                  <a:srgbClr val="FFFFFF"/>
                </a:solidFill>
              </a:defRPr>
            </a:pPr>
            <a:endParaRPr/>
          </a:p>
        </p:txBody>
      </p:sp>
      <p:grpSp>
        <p:nvGrpSpPr>
          <p:cNvPr id="231" name="Group 8"/>
          <p:cNvGrpSpPr/>
          <p:nvPr/>
        </p:nvGrpSpPr>
        <p:grpSpPr>
          <a:xfrm>
            <a:off x="785795" y="2812750"/>
            <a:ext cx="1997933" cy="1063029"/>
            <a:chOff x="0" y="0"/>
            <a:chExt cx="1997931" cy="1063028"/>
          </a:xfrm>
        </p:grpSpPr>
        <p:sp>
          <p:nvSpPr>
            <p:cNvPr id="227" name="Rectangle: Rounded Corners 9"/>
            <p:cNvSpPr/>
            <p:nvPr/>
          </p:nvSpPr>
          <p:spPr>
            <a:xfrm>
              <a:off x="0" y="0"/>
              <a:ext cx="1997932" cy="1063029"/>
            </a:xfrm>
            <a:prstGeom prst="roundRect">
              <a:avLst>
                <a:gd name="adj" fmla="val 16667"/>
              </a:avLst>
            </a:prstGeom>
            <a:blipFill rotWithShape="1">
              <a:blip r:embed="rId2"/>
              <a:srcRect/>
              <a:tile tx="0" ty="0" sx="100000" sy="100000" flip="none" algn="tl"/>
            </a:blipFill>
            <a:ln w="12700" cap="flat">
              <a:solidFill>
                <a:srgbClr val="32538F"/>
              </a:solidFill>
              <a:prstDash val="solid"/>
              <a:miter lim="800000"/>
            </a:ln>
            <a:effectLst/>
          </p:spPr>
          <p:txBody>
            <a:bodyPr wrap="square" lIns="45719" tIns="45719" rIns="45719" bIns="45719" numCol="1" anchor="ctr">
              <a:noAutofit/>
            </a:bodyPr>
            <a:lstStyle/>
            <a:p>
              <a:pPr algn="ctr">
                <a:defRPr sz="1400">
                  <a:solidFill>
                    <a:srgbClr val="FFFFFF"/>
                  </a:solidFill>
                </a:defRPr>
              </a:pPr>
              <a:endParaRPr/>
            </a:p>
          </p:txBody>
        </p:sp>
        <p:grpSp>
          <p:nvGrpSpPr>
            <p:cNvPr id="230" name="Rectangle: Rounded Corners 10"/>
            <p:cNvGrpSpPr/>
            <p:nvPr/>
          </p:nvGrpSpPr>
          <p:grpSpPr>
            <a:xfrm>
              <a:off x="73694" y="79691"/>
              <a:ext cx="1850544" cy="903645"/>
              <a:chOff x="0" y="0"/>
              <a:chExt cx="1850543" cy="903644"/>
            </a:xfrm>
          </p:grpSpPr>
          <p:sp>
            <p:nvSpPr>
              <p:cNvPr id="228" name="Rounded Rectangle"/>
              <p:cNvSpPr/>
              <p:nvPr/>
            </p:nvSpPr>
            <p:spPr>
              <a:xfrm>
                <a:off x="0" y="0"/>
                <a:ext cx="1850544" cy="903645"/>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defRPr>
                    <a:solidFill>
                      <a:srgbClr val="FFFFFF"/>
                    </a:solidFill>
                  </a:defRPr>
                </a:pPr>
                <a:endParaRPr/>
              </a:p>
            </p:txBody>
          </p:sp>
          <p:sp>
            <p:nvSpPr>
              <p:cNvPr id="229" name="Immutable…"/>
              <p:cNvSpPr txBox="1"/>
              <p:nvPr/>
            </p:nvSpPr>
            <p:spPr>
              <a:xfrm>
                <a:off x="44112" y="101301"/>
                <a:ext cx="1762319" cy="701041"/>
              </a:xfrm>
              <a:prstGeom prst="rect">
                <a:avLst/>
              </a:prstGeom>
              <a:noFill/>
              <a:ln w="12700" cap="flat">
                <a:noFill/>
                <a:miter lim="400000"/>
              </a:ln>
              <a:effectLst/>
              <a:extLst>
                <a:ext uri="{C572A759-6A51-4108-AA02-DFA0A04FC94B}">
                  <ma14:wrappingTextBoxFlag xmlns:ma14="http://schemas.microsoft.com/office/mac/drawingml/2011/main" xmlns="" val="1"/>
                </a:ext>
              </a:extLst>
            </p:spPr>
            <p:txBody>
              <a:bodyPr wrap="square" lIns="45719" tIns="45719" rIns="45719" bIns="45719" numCol="1" anchor="ctr">
                <a:spAutoFit/>
              </a:bodyPr>
              <a:lstStyle/>
              <a:p>
                <a:pPr>
                  <a:defRPr sz="2000"/>
                </a:pPr>
                <a:r>
                  <a:t>Immutable</a:t>
                </a:r>
                <a:endParaRPr>
                  <a:solidFill>
                    <a:srgbClr val="FFFFFF"/>
                  </a:solidFill>
                </a:endParaRPr>
              </a:p>
              <a:p>
                <a:pPr>
                  <a:defRPr sz="2000"/>
                </a:pPr>
                <a:r>
                  <a:t>Mutable</a:t>
                </a:r>
              </a:p>
            </p:txBody>
          </p:sp>
        </p:grpSp>
      </p:grpSp>
      <p:sp>
        <p:nvSpPr>
          <p:cNvPr id="232" name="TextBox 2"/>
          <p:cNvSpPr txBox="1"/>
          <p:nvPr/>
        </p:nvSpPr>
        <p:spPr>
          <a:xfrm>
            <a:off x="681973" y="4178417"/>
            <a:ext cx="4493975" cy="2301241"/>
          </a:xfrm>
          <a:prstGeom prst="rect">
            <a:avLst/>
          </a:prstGeom>
          <a:ln w="12700">
            <a:miter lim="400000"/>
          </a:ln>
          <a:extLst>
            <a:ext uri="{C572A759-6A51-4108-AA02-DFA0A04FC94B}">
              <ma14:wrappingTextBoxFlag xmlns:ma14="http://schemas.microsoft.com/office/mac/drawingml/2011/main" xmlns="" val="1"/>
            </a:ext>
          </a:extLst>
        </p:spPr>
        <p:txBody>
          <a:bodyPr wrap="none" lIns="45719" rIns="45719">
            <a:spAutoFit/>
          </a:bodyPr>
          <a:lstStyle/>
          <a:p>
            <a:pPr>
              <a:lnSpc>
                <a:spcPct val="125000"/>
              </a:lnSpc>
              <a:defRPr sz="2400">
                <a:solidFill>
                  <a:srgbClr val="7030A0"/>
                </a:solidFill>
                <a:latin typeface="Consolas"/>
                <a:ea typeface="Consolas"/>
                <a:cs typeface="Consolas"/>
                <a:sym typeface="Consolas"/>
              </a:defRPr>
            </a:pPr>
            <a:r>
              <a:rPr dirty="0" err="1"/>
              <a:t>MutableIntList</a:t>
            </a:r>
            <a:endParaRPr dirty="0"/>
          </a:p>
          <a:p>
            <a:pPr>
              <a:lnSpc>
                <a:spcPct val="125000"/>
              </a:lnSpc>
              <a:defRPr sz="2400">
                <a:solidFill>
                  <a:srgbClr val="7030A0"/>
                </a:solidFill>
                <a:latin typeface="Consolas"/>
                <a:ea typeface="Consolas"/>
                <a:cs typeface="Consolas"/>
                <a:sym typeface="Consolas"/>
              </a:defRPr>
            </a:pPr>
            <a:r>
              <a:rPr dirty="0" err="1"/>
              <a:t>LongStack</a:t>
            </a:r>
            <a:endParaRPr dirty="0"/>
          </a:p>
          <a:p>
            <a:pPr>
              <a:lnSpc>
                <a:spcPct val="125000"/>
              </a:lnSpc>
              <a:defRPr sz="2400">
                <a:solidFill>
                  <a:srgbClr val="7030A0"/>
                </a:solidFill>
                <a:latin typeface="Consolas"/>
                <a:ea typeface="Consolas"/>
                <a:cs typeface="Consolas"/>
                <a:sym typeface="Consolas"/>
              </a:defRPr>
            </a:pPr>
            <a:r>
              <a:rPr dirty="0" err="1"/>
              <a:t>SortedBagMultimap</a:t>
            </a:r>
            <a:endParaRPr dirty="0"/>
          </a:p>
          <a:p>
            <a:pPr>
              <a:lnSpc>
                <a:spcPct val="125000"/>
              </a:lnSpc>
              <a:defRPr sz="2400">
                <a:solidFill>
                  <a:srgbClr val="7030A0"/>
                </a:solidFill>
                <a:latin typeface="Consolas"/>
                <a:ea typeface="Consolas"/>
                <a:cs typeface="Consolas"/>
                <a:sym typeface="Consolas"/>
              </a:defRPr>
            </a:pPr>
            <a:r>
              <a:rPr dirty="0" err="1"/>
              <a:t>ImmutableObjectLongMap</a:t>
            </a:r>
            <a:endParaRPr dirty="0"/>
          </a:p>
          <a:p>
            <a:pPr>
              <a:lnSpc>
                <a:spcPct val="125000"/>
              </a:lnSpc>
              <a:defRPr sz="2400">
                <a:solidFill>
                  <a:srgbClr val="7030A0"/>
                </a:solidFill>
                <a:latin typeface="Consolas"/>
                <a:ea typeface="Consolas"/>
                <a:cs typeface="Consolas"/>
                <a:sym typeface="Consolas"/>
              </a:defRPr>
            </a:pPr>
            <a:r>
              <a:rPr dirty="0" err="1"/>
              <a:t>MutableSortedSetMultimap</a:t>
            </a:r>
            <a:endParaRPr dirty="0"/>
          </a:p>
        </p:txBody>
      </p:sp>
      <p:sp>
        <p:nvSpPr>
          <p:cNvPr id="2" name="TextBox 1">
            <a:extLst>
              <a:ext uri="{FF2B5EF4-FFF2-40B4-BE49-F238E27FC236}">
                <a16:creationId xmlns:a16="http://schemas.microsoft.com/office/drawing/2014/main" id="{6E9B06A3-FBFF-CA24-15CE-B1374E069D0C}"/>
              </a:ext>
            </a:extLst>
          </p:cNvPr>
          <p:cNvSpPr txBox="1"/>
          <p:nvPr/>
        </p:nvSpPr>
        <p:spPr>
          <a:xfrm>
            <a:off x="3128" y="612542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 name="Oval 29"/>
          <p:cNvSpPr/>
          <p:nvPr/>
        </p:nvSpPr>
        <p:spPr>
          <a:xfrm>
            <a:off x="1184563" y="4800600"/>
            <a:ext cx="9822874" cy="1822856"/>
          </a:xfrm>
          <a:prstGeom prst="ellipse">
            <a:avLst/>
          </a:prstGeom>
          <a:solidFill>
            <a:srgbClr val="F2F2F2"/>
          </a:solidFill>
          <a:ln w="12700">
            <a:miter lim="400000"/>
          </a:ln>
        </p:spPr>
        <p:txBody>
          <a:bodyPr lIns="45719" rIns="45719" anchor="ctr"/>
          <a:lstStyle/>
          <a:p>
            <a:pPr algn="ctr">
              <a:defRPr>
                <a:solidFill>
                  <a:srgbClr val="FFFFFF"/>
                </a:solidFill>
              </a:defRPr>
            </a:pPr>
            <a:endParaRPr/>
          </a:p>
        </p:txBody>
      </p:sp>
      <p:sp>
        <p:nvSpPr>
          <p:cNvPr id="236" name="Title 1"/>
          <p:cNvSpPr txBox="1">
            <a:spLocks noGrp="1"/>
          </p:cNvSpPr>
          <p:nvPr>
            <p:ph type="title"/>
          </p:nvPr>
        </p:nvSpPr>
        <p:spPr>
          <a:xfrm>
            <a:off x="838200" y="225379"/>
            <a:ext cx="10515600" cy="792053"/>
          </a:xfrm>
          <a:prstGeom prst="rect">
            <a:avLst/>
          </a:prstGeom>
        </p:spPr>
        <p:txBody>
          <a:bodyPr/>
          <a:lstStyle/>
          <a:p>
            <a:r>
              <a:t>Instantiate Them Using Factories</a:t>
            </a:r>
          </a:p>
        </p:txBody>
      </p:sp>
      <p:sp>
        <p:nvSpPr>
          <p:cNvPr id="237" name="Slide Number Placeholder 47"/>
          <p:cNvSpPr txBox="1">
            <a:spLocks noGrp="1"/>
          </p:cNvSpPr>
          <p:nvPr>
            <p:ph type="sldNum" sz="quarter" idx="2"/>
          </p:nvPr>
        </p:nvSpPr>
        <p:spPr>
          <a:xfrm>
            <a:off x="11080144" y="6404292"/>
            <a:ext cx="273657" cy="269241"/>
          </a:xfrm>
          <a:prstGeom prst="rect">
            <a:avLst/>
          </a:prstGeom>
          <a:ln w="12700">
            <a:miter lim="400000"/>
          </a:ln>
          <a:extLst>
            <a:ext uri="{C572A759-6A51-4108-AA02-DFA0A04FC94B}">
              <ma14:wrappingTextBoxFlag xmlns:ma14="http://schemas.microsoft.com/office/mac/drawingml/2011/main" xmlns="" val="1"/>
            </a:ext>
          </a:extLst>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Univers"/>
                <a:ea typeface="Univers"/>
                <a:cs typeface="Univers"/>
                <a:sym typeface="Univers"/>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9pPr>
          </a:lstStyle>
          <a:p>
            <a:fld id="{86CB4B4D-7CA3-9044-876B-883B54F8677D}" type="slidenum">
              <a:rPr lang="en-US" smtClean="0"/>
              <a:pPr/>
              <a:t>6</a:t>
            </a:fld>
            <a:endParaRPr/>
          </a:p>
        </p:txBody>
      </p:sp>
      <p:graphicFrame>
        <p:nvGraphicFramePr>
          <p:cNvPr id="238" name="Table 3"/>
          <p:cNvGraphicFramePr/>
          <p:nvPr/>
        </p:nvGraphicFramePr>
        <p:xfrm>
          <a:off x="1052945" y="1294627"/>
          <a:ext cx="10086111" cy="3474720"/>
        </p:xfrm>
        <a:graphic>
          <a:graphicData uri="http://schemas.openxmlformats.org/drawingml/2006/table">
            <a:tbl>
              <a:tblPr/>
              <a:tblGrid>
                <a:gridCol w="1173255">
                  <a:extLst>
                    <a:ext uri="{9D8B030D-6E8A-4147-A177-3AD203B41FA5}">
                      <a16:colId xmlns:a16="http://schemas.microsoft.com/office/drawing/2014/main" val="20000"/>
                    </a:ext>
                  </a:extLst>
                </a:gridCol>
                <a:gridCol w="1528382">
                  <a:extLst>
                    <a:ext uri="{9D8B030D-6E8A-4147-A177-3AD203B41FA5}">
                      <a16:colId xmlns:a16="http://schemas.microsoft.com/office/drawing/2014/main" val="20001"/>
                    </a:ext>
                  </a:extLst>
                </a:gridCol>
                <a:gridCol w="1620982">
                  <a:extLst>
                    <a:ext uri="{9D8B030D-6E8A-4147-A177-3AD203B41FA5}">
                      <a16:colId xmlns:a16="http://schemas.microsoft.com/office/drawing/2014/main" val="20002"/>
                    </a:ext>
                  </a:extLst>
                </a:gridCol>
                <a:gridCol w="1454727">
                  <a:extLst>
                    <a:ext uri="{9D8B030D-6E8A-4147-A177-3AD203B41FA5}">
                      <a16:colId xmlns:a16="http://schemas.microsoft.com/office/drawing/2014/main" val="20003"/>
                    </a:ext>
                  </a:extLst>
                </a:gridCol>
                <a:gridCol w="2991655">
                  <a:extLst>
                    <a:ext uri="{9D8B030D-6E8A-4147-A177-3AD203B41FA5}">
                      <a16:colId xmlns:a16="http://schemas.microsoft.com/office/drawing/2014/main" val="20004"/>
                    </a:ext>
                  </a:extLst>
                </a:gridCol>
                <a:gridCol w="1317110">
                  <a:extLst>
                    <a:ext uri="{9D8B030D-6E8A-4147-A177-3AD203B41FA5}">
                      <a16:colId xmlns:a16="http://schemas.microsoft.com/office/drawing/2014/main" val="20005"/>
                    </a:ext>
                  </a:extLst>
                </a:gridCol>
              </a:tblGrid>
              <a:tr h="370840">
                <a:tc>
                  <a:txBody>
                    <a:bodyPr/>
                    <a:lstStyle/>
                    <a:p>
                      <a:pPr algn="l">
                        <a:defRPr sz="1800"/>
                      </a:pPr>
                      <a:r>
                        <a:rPr b="1"/>
                        <a:t>Primitive Type</a:t>
                      </a:r>
                    </a:p>
                  </a:txBody>
                  <a:tcPr marL="45720" marR="45720" anchor="b" horzOverflow="overflow">
                    <a:lnL w="38100">
                      <a:solidFill>
                        <a:srgbClr val="FFFFFF"/>
                      </a:solidFill>
                    </a:lnL>
                    <a:lnB w="12700">
                      <a:solidFill>
                        <a:srgbClr val="000000"/>
                      </a:solidFill>
                    </a:lnB>
                  </a:tcPr>
                </a:tc>
                <a:tc>
                  <a:txBody>
                    <a:bodyPr/>
                    <a:lstStyle/>
                    <a:p>
                      <a:pPr algn="l">
                        <a:defRPr sz="1800"/>
                      </a:pPr>
                      <a:r>
                        <a:rPr b="1"/>
                        <a:t>Container Type</a:t>
                      </a:r>
                    </a:p>
                  </a:txBody>
                  <a:tcPr marL="45720" marR="45720" anchor="b" horzOverflow="overflow">
                    <a:lnB w="12700">
                      <a:solidFill>
                        <a:srgbClr val="000000"/>
                      </a:solidFill>
                    </a:lnB>
                  </a:tcPr>
                </a:tc>
                <a:tc>
                  <a:txBody>
                    <a:bodyPr/>
                    <a:lstStyle/>
                    <a:p>
                      <a:pPr algn="l">
                        <a:defRPr sz="1800"/>
                      </a:pPr>
                      <a:r>
                        <a:rPr b="1"/>
                        <a:t>Mutability</a:t>
                      </a:r>
                    </a:p>
                  </a:txBody>
                  <a:tcPr marL="45720" marR="45720" anchor="b" horzOverflow="overflow">
                    <a:lnB w="12700">
                      <a:solidFill>
                        <a:srgbClr val="000000"/>
                      </a:solidFill>
                    </a:lnB>
                  </a:tcPr>
                </a:tc>
                <a:tc>
                  <a:txBody>
                    <a:bodyPr/>
                    <a:lstStyle/>
                    <a:p>
                      <a:pPr algn="l">
                        <a:defRPr sz="1800"/>
                      </a:pPr>
                      <a:r>
                        <a:rPr b="1"/>
                        <a:t>Multimap</a:t>
                      </a:r>
                    </a:p>
                  </a:txBody>
                  <a:tcPr marL="45720" marR="45720" anchor="b" horzOverflow="overflow">
                    <a:lnB w="12700">
                      <a:solidFill>
                        <a:srgbClr val="000000"/>
                      </a:solidFill>
                    </a:lnB>
                  </a:tcPr>
                </a:tc>
                <a:tc>
                  <a:txBody>
                    <a:bodyPr/>
                    <a:lstStyle/>
                    <a:p>
                      <a:pPr algn="l">
                        <a:defRPr sz="1800"/>
                      </a:pPr>
                      <a:r>
                        <a:rPr b="1"/>
                        <a:t>Initialized</a:t>
                      </a:r>
                    </a:p>
                  </a:txBody>
                  <a:tcPr marL="45720" marR="45720" anchor="b" horzOverflow="overflow">
                    <a:lnB w="12700">
                      <a:solidFill>
                        <a:srgbClr val="000000"/>
                      </a:solidFill>
                    </a:lnB>
                  </a:tcPr>
                </a:tc>
                <a:tc>
                  <a:txBody>
                    <a:bodyPr/>
                    <a:lstStyle/>
                    <a:p>
                      <a:pPr algn="l">
                        <a:defRPr sz="1800"/>
                      </a:pPr>
                      <a:r>
                        <a:rPr b="1"/>
                        <a:t>Lazy</a:t>
                      </a:r>
                    </a:p>
                  </a:txBody>
                  <a:tcPr marL="45720" marR="45720" anchor="b" horzOverflow="overflow">
                    <a:lnB w="12700">
                      <a:solidFill>
                        <a:srgbClr val="000000"/>
                      </a:solidFill>
                    </a:lnB>
                  </a:tcPr>
                </a:tc>
                <a:extLst>
                  <a:ext uri="{0D108BD9-81ED-4DB2-BD59-A6C34878D82A}">
                    <a16:rowId xmlns:a16="http://schemas.microsoft.com/office/drawing/2014/main" val="10000"/>
                  </a:ext>
                </a:extLst>
              </a:tr>
              <a:tr h="370840">
                <a:tc>
                  <a:txBody>
                    <a:bodyPr/>
                    <a:lstStyle/>
                    <a:p>
                      <a:pPr algn="l">
                        <a:defRPr sz="1800">
                          <a:latin typeface="Consolas"/>
                          <a:ea typeface="Consolas"/>
                          <a:cs typeface="Consolas"/>
                          <a:sym typeface="Consolas"/>
                        </a:defRPr>
                      </a:pPr>
                      <a:r>
                        <a:t>Boolean</a:t>
                      </a:r>
                      <a:br/>
                      <a:r>
                        <a:t>Byte</a:t>
                      </a:r>
                    </a:p>
                    <a:p>
                      <a:pPr algn="l">
                        <a:defRPr sz="1800">
                          <a:latin typeface="Consolas"/>
                          <a:ea typeface="Consolas"/>
                          <a:cs typeface="Consolas"/>
                          <a:sym typeface="Consolas"/>
                        </a:defRPr>
                      </a:pPr>
                      <a:r>
                        <a:t>Char</a:t>
                      </a:r>
                    </a:p>
                    <a:p>
                      <a:pPr algn="l">
                        <a:defRPr sz="1800">
                          <a:latin typeface="Consolas"/>
                          <a:ea typeface="Consolas"/>
                          <a:cs typeface="Consolas"/>
                          <a:sym typeface="Consolas"/>
                        </a:defRPr>
                      </a:pPr>
                      <a:r>
                        <a:t>Double</a:t>
                      </a:r>
                    </a:p>
                    <a:p>
                      <a:pPr algn="l">
                        <a:defRPr sz="1800">
                          <a:latin typeface="Consolas"/>
                          <a:ea typeface="Consolas"/>
                          <a:cs typeface="Consolas"/>
                          <a:sym typeface="Consolas"/>
                        </a:defRPr>
                      </a:pPr>
                      <a:r>
                        <a:t>Float</a:t>
                      </a:r>
                    </a:p>
                    <a:p>
                      <a:pPr algn="l">
                        <a:defRPr sz="1800">
                          <a:latin typeface="Consolas"/>
                          <a:ea typeface="Consolas"/>
                          <a:cs typeface="Consolas"/>
                          <a:sym typeface="Consolas"/>
                        </a:defRPr>
                      </a:pPr>
                      <a:r>
                        <a:t>Int</a:t>
                      </a:r>
                    </a:p>
                    <a:p>
                      <a:pPr algn="l">
                        <a:defRPr sz="1800">
                          <a:latin typeface="Consolas"/>
                          <a:ea typeface="Consolas"/>
                          <a:cs typeface="Consolas"/>
                          <a:sym typeface="Consolas"/>
                        </a:defRPr>
                      </a:pPr>
                      <a:r>
                        <a:t>Long</a:t>
                      </a:r>
                    </a:p>
                    <a:p>
                      <a:pPr algn="l">
                        <a:defRPr sz="1800">
                          <a:latin typeface="Consolas"/>
                          <a:ea typeface="Consolas"/>
                          <a:cs typeface="Consolas"/>
                          <a:sym typeface="Consolas"/>
                        </a:defRPr>
                      </a:pPr>
                      <a:r>
                        <a:t>Object</a:t>
                      </a:r>
                    </a:p>
                    <a:p>
                      <a:pPr algn="l">
                        <a:defRPr sz="1800">
                          <a:latin typeface="Consolas"/>
                          <a:ea typeface="Consolas"/>
                          <a:cs typeface="Consolas"/>
                          <a:sym typeface="Consolas"/>
                        </a:defRPr>
                      </a:pPr>
                      <a:r>
                        <a:t>Short</a:t>
                      </a:r>
                    </a:p>
                  </a:txBody>
                  <a:tcPr marL="45720" marR="45720" horzOverflow="overflow">
                    <a:lnL w="38100">
                      <a:solidFill>
                        <a:srgbClr val="FFFFFF"/>
                      </a:solidFill>
                    </a:lnL>
                    <a:lnT w="12700">
                      <a:solidFill>
                        <a:srgbClr val="000000"/>
                      </a:solidFill>
                    </a:lnT>
                  </a:tcPr>
                </a:tc>
                <a:tc>
                  <a:txBody>
                    <a:bodyPr/>
                    <a:lstStyle/>
                    <a:p>
                      <a:pPr algn="l">
                        <a:defRPr sz="1800">
                          <a:latin typeface="Consolas"/>
                          <a:ea typeface="Consolas"/>
                          <a:cs typeface="Consolas"/>
                          <a:sym typeface="Consolas"/>
                        </a:defRPr>
                      </a:pPr>
                      <a:r>
                        <a:t>Bags</a:t>
                      </a:r>
                    </a:p>
                    <a:p>
                      <a:pPr algn="l">
                        <a:defRPr sz="1800">
                          <a:latin typeface="Consolas"/>
                          <a:ea typeface="Consolas"/>
                          <a:cs typeface="Consolas"/>
                          <a:sym typeface="Consolas"/>
                        </a:defRPr>
                      </a:pPr>
                      <a:r>
                        <a:t>BiMaps</a:t>
                      </a:r>
                    </a:p>
                    <a:p>
                      <a:pPr algn="l">
                        <a:defRPr sz="1800">
                          <a:latin typeface="Consolas"/>
                          <a:ea typeface="Consolas"/>
                          <a:cs typeface="Consolas"/>
                          <a:sym typeface="Consolas"/>
                        </a:defRPr>
                      </a:pPr>
                      <a:r>
                        <a:t>Lists</a:t>
                      </a:r>
                    </a:p>
                    <a:p>
                      <a:pPr algn="l">
                        <a:defRPr sz="1800">
                          <a:latin typeface="Consolas"/>
                          <a:ea typeface="Consolas"/>
                          <a:cs typeface="Consolas"/>
                          <a:sym typeface="Consolas"/>
                        </a:defRPr>
                      </a:pPr>
                      <a:r>
                        <a:t>Maps</a:t>
                      </a:r>
                    </a:p>
                    <a:p>
                      <a:pPr algn="l">
                        <a:defRPr sz="1800">
                          <a:latin typeface="Consolas"/>
                          <a:ea typeface="Consolas"/>
                          <a:cs typeface="Consolas"/>
                          <a:sym typeface="Consolas"/>
                        </a:defRPr>
                      </a:pPr>
                      <a:r>
                        <a:t>Multimaps</a:t>
                      </a:r>
                    </a:p>
                    <a:p>
                      <a:pPr algn="l">
                        <a:defRPr sz="1800">
                          <a:latin typeface="Consolas"/>
                          <a:ea typeface="Consolas"/>
                          <a:cs typeface="Consolas"/>
                          <a:sym typeface="Consolas"/>
                        </a:defRPr>
                      </a:pPr>
                      <a:r>
                        <a:t>Sets</a:t>
                      </a:r>
                    </a:p>
                    <a:p>
                      <a:pPr algn="l">
                        <a:defRPr sz="1800">
                          <a:latin typeface="Consolas"/>
                          <a:ea typeface="Consolas"/>
                          <a:cs typeface="Consolas"/>
                          <a:sym typeface="Consolas"/>
                        </a:defRPr>
                      </a:pPr>
                      <a:r>
                        <a:t>SortedBags</a:t>
                      </a:r>
                    </a:p>
                    <a:p>
                      <a:pPr algn="l">
                        <a:defRPr sz="1800">
                          <a:latin typeface="Consolas"/>
                          <a:ea typeface="Consolas"/>
                          <a:cs typeface="Consolas"/>
                          <a:sym typeface="Consolas"/>
                        </a:defRPr>
                      </a:pPr>
                      <a:r>
                        <a:t>SortedMaps</a:t>
                      </a:r>
                    </a:p>
                    <a:p>
                      <a:pPr algn="l">
                        <a:defRPr sz="1800">
                          <a:latin typeface="Consolas"/>
                          <a:ea typeface="Consolas"/>
                          <a:cs typeface="Consolas"/>
                          <a:sym typeface="Consolas"/>
                        </a:defRPr>
                      </a:pPr>
                      <a:r>
                        <a:t>SortedSets</a:t>
                      </a:r>
                    </a:p>
                    <a:p>
                      <a:pPr algn="l">
                        <a:defRPr sz="1800">
                          <a:latin typeface="Consolas"/>
                          <a:ea typeface="Consolas"/>
                          <a:cs typeface="Consolas"/>
                          <a:sym typeface="Consolas"/>
                        </a:defRPr>
                      </a:pPr>
                      <a:r>
                        <a:t>Stacks</a:t>
                      </a:r>
                    </a:p>
                  </a:txBody>
                  <a:tcPr marL="45720" marR="45720" horzOverflow="overflow">
                    <a:lnT w="12700">
                      <a:solidFill>
                        <a:srgbClr val="000000"/>
                      </a:solidFill>
                    </a:lnT>
                  </a:tcPr>
                </a:tc>
                <a:tc>
                  <a:txBody>
                    <a:bodyPr/>
                    <a:lstStyle/>
                    <a:p>
                      <a:pPr algn="l">
                        <a:defRPr sz="1800"/>
                      </a:pPr>
                      <a:r>
                        <a:rPr>
                          <a:latin typeface="Consolas"/>
                          <a:ea typeface="Consolas"/>
                          <a:cs typeface="Consolas"/>
                          <a:sym typeface="Consolas"/>
                        </a:rPr>
                        <a:t>.mutable
.immutable
.fixedSize</a:t>
                      </a:r>
                    </a:p>
                  </a:txBody>
                  <a:tcPr marL="45720" marR="45720" horzOverflow="overflow">
                    <a:lnT w="12700">
                      <a:solidFill>
                        <a:srgbClr val="000000"/>
                      </a:solidFill>
                    </a:lnT>
                  </a:tcPr>
                </a:tc>
                <a:tc>
                  <a:txBody>
                    <a:bodyPr/>
                    <a:lstStyle/>
                    <a:p>
                      <a:pPr algn="l">
                        <a:defRPr sz="1800"/>
                      </a:pPr>
                      <a:r>
                        <a:rPr>
                          <a:latin typeface="Consolas"/>
                          <a:ea typeface="Consolas"/>
                          <a:cs typeface="Consolas"/>
                          <a:sym typeface="Consolas"/>
                        </a:rPr>
                        <a:t>.bag
.list
.set
.sortedSet</a:t>
                      </a:r>
                    </a:p>
                  </a:txBody>
                  <a:tcPr marL="45720" marR="45720" horzOverflow="overflow">
                    <a:lnT w="12700">
                      <a:solidFill>
                        <a:srgbClr val="000000"/>
                      </a:solidFill>
                    </a:lnT>
                  </a:tcPr>
                </a:tc>
                <a:tc>
                  <a:txBody>
                    <a:bodyPr/>
                    <a:lstStyle/>
                    <a:p>
                      <a:pPr algn="l">
                        <a:defRPr sz="1800">
                          <a:latin typeface="Consolas"/>
                          <a:ea typeface="Consolas"/>
                          <a:cs typeface="Consolas"/>
                          <a:sym typeface="Consolas"/>
                        </a:defRPr>
                      </a:pPr>
                      <a:r>
                        <a:t>.empty()</a:t>
                      </a:r>
                      <a:r>
                        <a:rPr>
                          <a:solidFill>
                            <a:srgbClr val="0066FF"/>
                          </a:solidFill>
                        </a:rPr>
                        <a:t>|</a:t>
                      </a:r>
                      <a:r>
                        <a:t>.of()</a:t>
                      </a:r>
                      <a:r>
                        <a:rPr>
                          <a:solidFill>
                            <a:srgbClr val="0066FF"/>
                          </a:solidFill>
                        </a:rPr>
                        <a:t>|</a:t>
                      </a:r>
                      <a:r>
                        <a:t>.with()</a:t>
                      </a:r>
                    </a:p>
                    <a:p>
                      <a:pPr algn="l">
                        <a:defRPr sz="1800">
                          <a:latin typeface="Consolas"/>
                          <a:ea typeface="Consolas"/>
                          <a:cs typeface="Consolas"/>
                          <a:sym typeface="Consolas"/>
                        </a:defRPr>
                      </a:pPr>
                      <a:r>
                        <a:t>.of(one)</a:t>
                      </a:r>
                      <a:r>
                        <a:rPr>
                          <a:solidFill>
                            <a:srgbClr val="0066FF"/>
                          </a:solidFill>
                        </a:rPr>
                        <a:t>|</a:t>
                      </a:r>
                      <a:r>
                        <a:t>.with(one)</a:t>
                      </a:r>
                    </a:p>
                    <a:p>
                      <a:pPr algn="l">
                        <a:defRPr sz="1800">
                          <a:latin typeface="Consolas"/>
                          <a:ea typeface="Consolas"/>
                          <a:cs typeface="Consolas"/>
                          <a:sym typeface="Consolas"/>
                        </a:defRPr>
                      </a:pPr>
                      <a:r>
                        <a:t>   ...</a:t>
                      </a:r>
                    </a:p>
                    <a:p>
                      <a:pPr algn="l">
                        <a:defRPr sz="1800">
                          <a:latin typeface="Consolas"/>
                          <a:ea typeface="Consolas"/>
                          <a:cs typeface="Consolas"/>
                          <a:sym typeface="Consolas"/>
                        </a:defRPr>
                      </a:pPr>
                      <a:r>
                        <a:t>.of(one,…,ten)</a:t>
                      </a:r>
                    </a:p>
                    <a:p>
                      <a:pPr algn="l">
                        <a:defRPr sz="1800">
                          <a:latin typeface="Consolas"/>
                          <a:ea typeface="Consolas"/>
                          <a:cs typeface="Consolas"/>
                          <a:sym typeface="Consolas"/>
                        </a:defRPr>
                      </a:pPr>
                      <a:r>
                        <a:t>.with(one,…,ten)</a:t>
                      </a:r>
                    </a:p>
                    <a:p>
                      <a:pPr algn="l">
                        <a:defRPr sz="1800">
                          <a:latin typeface="Consolas"/>
                          <a:ea typeface="Consolas"/>
                          <a:cs typeface="Consolas"/>
                          <a:sym typeface="Consolas"/>
                        </a:defRPr>
                      </a:pPr>
                      <a:r>
                        <a:t>.of(... elements)</a:t>
                      </a:r>
                    </a:p>
                    <a:p>
                      <a:pPr algn="l">
                        <a:defRPr sz="1800">
                          <a:latin typeface="Consolas"/>
                          <a:ea typeface="Consolas"/>
                          <a:cs typeface="Consolas"/>
                          <a:sym typeface="Consolas"/>
                        </a:defRPr>
                      </a:pPr>
                      <a:r>
                        <a:t>.with(... elements)</a:t>
                      </a:r>
                    </a:p>
                    <a:p>
                      <a:pPr algn="l">
                        <a:defRPr sz="1800">
                          <a:latin typeface="Consolas"/>
                          <a:ea typeface="Consolas"/>
                          <a:cs typeface="Consolas"/>
                          <a:sym typeface="Consolas"/>
                        </a:defRPr>
                      </a:pPr>
                      <a:r>
                        <a:t>.ofAll(Iterable)</a:t>
                      </a:r>
                    </a:p>
                    <a:p>
                      <a:pPr algn="l">
                        <a:defRPr sz="1800">
                          <a:latin typeface="Consolas"/>
                          <a:ea typeface="Consolas"/>
                          <a:cs typeface="Consolas"/>
                          <a:sym typeface="Consolas"/>
                        </a:defRPr>
                      </a:pPr>
                      <a:r>
                        <a:t>.withAll(Iterable)</a:t>
                      </a:r>
                    </a:p>
                  </a:txBody>
                  <a:tcPr marL="45720" marR="45720" horzOverflow="overflow">
                    <a:lnT w="12700">
                      <a:solidFill>
                        <a:srgbClr val="000000"/>
                      </a:solidFill>
                    </a:lnT>
                  </a:tcPr>
                </a:tc>
                <a:tc>
                  <a:txBody>
                    <a:bodyPr/>
                    <a:lstStyle/>
                    <a:p>
                      <a:pPr algn="l">
                        <a:defRPr sz="1800"/>
                      </a:pPr>
                      <a:r>
                        <a:rPr>
                          <a:latin typeface="Consolas"/>
                          <a:ea typeface="Consolas"/>
                          <a:cs typeface="Consolas"/>
                          <a:sym typeface="Consolas"/>
                        </a:rPr>
                        <a:t>.asLazy()</a:t>
                      </a:r>
                    </a:p>
                  </a:txBody>
                  <a:tcPr marL="45720" marR="45720" horzOverflow="overflow">
                    <a:lnT w="12700">
                      <a:solidFill>
                        <a:srgbClr val="000000"/>
                      </a:solidFill>
                    </a:lnT>
                  </a:tcPr>
                </a:tc>
                <a:extLst>
                  <a:ext uri="{0D108BD9-81ED-4DB2-BD59-A6C34878D82A}">
                    <a16:rowId xmlns:a16="http://schemas.microsoft.com/office/drawing/2014/main" val="10001"/>
                  </a:ext>
                </a:extLst>
              </a:tr>
            </a:tbl>
          </a:graphicData>
        </a:graphic>
      </p:graphicFrame>
      <p:sp>
        <p:nvSpPr>
          <p:cNvPr id="239" name="Rectangle 3"/>
          <p:cNvSpPr txBox="1"/>
          <p:nvPr/>
        </p:nvSpPr>
        <p:spPr>
          <a:xfrm>
            <a:off x="1492827" y="5458909"/>
            <a:ext cx="9206346" cy="434341"/>
          </a:xfrm>
          <a:prstGeom prst="rect">
            <a:avLst/>
          </a:prstGeom>
          <a:ln w="12700">
            <a:miter lim="400000"/>
          </a:ln>
          <a:extLst>
            <a:ext uri="{C572A759-6A51-4108-AA02-DFA0A04FC94B}">
              <ma14:wrappingTextBoxFlag xmlns:ma14="http://schemas.microsoft.com/office/mac/drawingml/2011/main" xmlns="" val="1"/>
            </a:ext>
          </a:extLst>
        </p:spPr>
        <p:txBody>
          <a:bodyPr lIns="45719" rIns="45719" anchor="ctr">
            <a:spAutoFit/>
          </a:bodyPr>
          <a:lstStyle/>
          <a:p>
            <a:pPr algn="ctr">
              <a:lnSpc>
                <a:spcPct val="150000"/>
              </a:lnSpc>
              <a:defRPr sz="2400">
                <a:solidFill>
                  <a:srgbClr val="0066FF"/>
                </a:solidFill>
                <a:latin typeface="Courier New"/>
                <a:ea typeface="Courier New"/>
                <a:cs typeface="Courier New"/>
                <a:sym typeface="Courier New"/>
              </a:defRPr>
            </a:pPr>
            <a:r>
              <a:t>LongStacks</a:t>
            </a:r>
            <a:r>
              <a:rPr>
                <a:solidFill>
                  <a:srgbClr val="000000"/>
                </a:solidFill>
              </a:rPr>
              <a:t>.</a:t>
            </a:r>
            <a:r>
              <a:rPr b="1" i="1">
                <a:solidFill>
                  <a:srgbClr val="660E7A"/>
                </a:solidFill>
              </a:rPr>
              <a:t>immutable</a:t>
            </a:r>
            <a:r>
              <a:rPr>
                <a:solidFill>
                  <a:srgbClr val="000000"/>
                </a:solidFill>
              </a:rPr>
              <a:t>.with(</a:t>
            </a:r>
            <a:r>
              <a:rPr>
                <a:solidFill>
                  <a:srgbClr val="0000FF"/>
                </a:solidFill>
              </a:rPr>
              <a:t>1</a:t>
            </a:r>
            <a:r>
              <a:rPr>
                <a:solidFill>
                  <a:srgbClr val="000000"/>
                </a:solidFill>
              </a:rPr>
              <a:t>, </a:t>
            </a:r>
            <a:r>
              <a:rPr>
                <a:solidFill>
                  <a:srgbClr val="0000FF"/>
                </a:solidFill>
              </a:rPr>
              <a:t>2</a:t>
            </a:r>
            <a:r>
              <a:rPr>
                <a:solidFill>
                  <a:srgbClr val="000000"/>
                </a:solidFill>
              </a:rPr>
              <a:t>, </a:t>
            </a:r>
            <a:r>
              <a:rPr>
                <a:solidFill>
                  <a:srgbClr val="0000FF"/>
                </a:solidFill>
              </a:rPr>
              <a:t>3</a:t>
            </a:r>
            <a:r>
              <a:rPr>
                <a:solidFill>
                  <a:srgbClr val="000000"/>
                </a:solidFill>
              </a:rPr>
              <a:t>).asLazy()</a:t>
            </a:r>
          </a:p>
        </p:txBody>
      </p:sp>
      <p:pic>
        <p:nvPicPr>
          <p:cNvPr id="240" name="Graphic 16" descr="Graphic 16"/>
          <p:cNvPicPr>
            <a:picLocks noChangeAspect="1"/>
          </p:cNvPicPr>
          <p:nvPr/>
        </p:nvPicPr>
        <p:blipFill>
          <a:blip r:embed="rId2"/>
          <a:stretch>
            <a:fillRect/>
          </a:stretch>
        </p:blipFill>
        <p:spPr>
          <a:xfrm>
            <a:off x="935944" y="5317988"/>
            <a:ext cx="914401" cy="914401"/>
          </a:xfrm>
          <a:prstGeom prst="rect">
            <a:avLst/>
          </a:prstGeom>
          <a:ln w="12700">
            <a:miter lim="400000"/>
          </a:ln>
        </p:spPr>
      </p:pic>
      <p:sp>
        <p:nvSpPr>
          <p:cNvPr id="241" name="Right Brace 19"/>
          <p:cNvSpPr/>
          <p:nvPr/>
        </p:nvSpPr>
        <p:spPr>
          <a:xfrm rot="5400000">
            <a:off x="5964999" y="2154527"/>
            <a:ext cx="262003" cy="7798584"/>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5965" y="0"/>
                  <a:pt x="10800" y="594"/>
                  <a:pt x="10800" y="1327"/>
                </a:cubicBezTo>
                <a:lnTo>
                  <a:pt x="10800" y="9473"/>
                </a:lnTo>
                <a:cubicBezTo>
                  <a:pt x="10800" y="10206"/>
                  <a:pt x="15635" y="10800"/>
                  <a:pt x="21600" y="10800"/>
                </a:cubicBezTo>
                <a:cubicBezTo>
                  <a:pt x="15635" y="10800"/>
                  <a:pt x="10800" y="11394"/>
                  <a:pt x="10800" y="12127"/>
                </a:cubicBezTo>
                <a:lnTo>
                  <a:pt x="10800" y="20273"/>
                </a:lnTo>
                <a:cubicBezTo>
                  <a:pt x="10800" y="21006"/>
                  <a:pt x="5965" y="21600"/>
                  <a:pt x="0" y="21600"/>
                </a:cubicBezTo>
              </a:path>
            </a:pathLst>
          </a:custGeom>
          <a:ln w="19050">
            <a:solidFill>
              <a:schemeClr val="accent1"/>
            </a:solidFill>
            <a:miter/>
          </a:ln>
        </p:spPr>
        <p:txBody>
          <a:bodyPr lIns="45719" rIns="45719" anchor="ctr"/>
          <a:lstStyle/>
          <a:p>
            <a:pPr algn="ctr"/>
            <a:endParaRPr/>
          </a:p>
        </p:txBody>
      </p:sp>
      <p:sp>
        <p:nvSpPr>
          <p:cNvPr id="242" name="Right Brace 43"/>
          <p:cNvSpPr/>
          <p:nvPr/>
        </p:nvSpPr>
        <p:spPr>
          <a:xfrm rot="16200000" flipV="1">
            <a:off x="5149215" y="2353173"/>
            <a:ext cx="197913" cy="6170676"/>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5965" y="0"/>
                  <a:pt x="10800" y="567"/>
                  <a:pt x="10800" y="1267"/>
                </a:cubicBezTo>
                <a:lnTo>
                  <a:pt x="10800" y="9533"/>
                </a:lnTo>
                <a:cubicBezTo>
                  <a:pt x="10800" y="10233"/>
                  <a:pt x="15635" y="10800"/>
                  <a:pt x="21600" y="10800"/>
                </a:cubicBezTo>
                <a:cubicBezTo>
                  <a:pt x="15635" y="10800"/>
                  <a:pt x="10800" y="11367"/>
                  <a:pt x="10800" y="12067"/>
                </a:cubicBezTo>
                <a:lnTo>
                  <a:pt x="10800" y="20333"/>
                </a:lnTo>
                <a:cubicBezTo>
                  <a:pt x="10800" y="21033"/>
                  <a:pt x="5965" y="21600"/>
                  <a:pt x="0" y="21600"/>
                </a:cubicBezTo>
              </a:path>
            </a:pathLst>
          </a:custGeom>
          <a:ln w="19050">
            <a:solidFill>
              <a:schemeClr val="accent1"/>
            </a:solidFill>
            <a:miter/>
          </a:ln>
        </p:spPr>
        <p:txBody>
          <a:bodyPr lIns="45719" rIns="45719" anchor="ctr"/>
          <a:lstStyle/>
          <a:p>
            <a:pPr algn="ctr"/>
            <a:endParaRPr/>
          </a:p>
        </p:txBody>
      </p:sp>
      <p:sp>
        <p:nvSpPr>
          <p:cNvPr id="243" name="TextBox 20"/>
          <p:cNvSpPr txBox="1"/>
          <p:nvPr/>
        </p:nvSpPr>
        <p:spPr>
          <a:xfrm>
            <a:off x="4580652" y="6068286"/>
            <a:ext cx="3030697" cy="434341"/>
          </a:xfrm>
          <a:prstGeom prst="rect">
            <a:avLst/>
          </a:prstGeom>
          <a:ln w="12700">
            <a:miter lim="400000"/>
          </a:ln>
          <a:extLst>
            <a:ext uri="{C572A759-6A51-4108-AA02-DFA0A04FC94B}">
              <ma14:wrappingTextBoxFlag xmlns:ma14="http://schemas.microsoft.com/office/mac/drawingml/2011/main" xmlns="" val="1"/>
            </a:ext>
          </a:extLst>
        </p:spPr>
        <p:txBody>
          <a:bodyPr wrap="none" lIns="45719" rIns="45719">
            <a:spAutoFit/>
          </a:bodyPr>
          <a:lstStyle>
            <a:lvl1pPr algn="ctr">
              <a:lnSpc>
                <a:spcPct val="150000"/>
              </a:lnSpc>
              <a:defRPr sz="2400">
                <a:solidFill>
                  <a:srgbClr val="0066FF"/>
                </a:solidFill>
                <a:latin typeface="Courier New"/>
                <a:ea typeface="Courier New"/>
                <a:cs typeface="Courier New"/>
                <a:sym typeface="Courier New"/>
              </a:defRPr>
            </a:lvl1pPr>
          </a:lstStyle>
          <a:p>
            <a:r>
              <a:t>LazyLongIterable</a:t>
            </a:r>
          </a:p>
        </p:txBody>
      </p:sp>
      <p:sp>
        <p:nvSpPr>
          <p:cNvPr id="244" name="Rectangle 7"/>
          <p:cNvSpPr txBox="1"/>
          <p:nvPr/>
        </p:nvSpPr>
        <p:spPr>
          <a:xfrm>
            <a:off x="3255820" y="4794967"/>
            <a:ext cx="3969329" cy="434341"/>
          </a:xfrm>
          <a:prstGeom prst="rect">
            <a:avLst/>
          </a:prstGeom>
          <a:ln w="12700">
            <a:miter lim="400000"/>
          </a:ln>
          <a:extLst>
            <a:ext uri="{C572A759-6A51-4108-AA02-DFA0A04FC94B}">
              <ma14:wrappingTextBoxFlag xmlns:ma14="http://schemas.microsoft.com/office/mac/drawingml/2011/main" xmlns="" val="1"/>
            </a:ext>
          </a:extLst>
        </p:spPr>
        <p:txBody>
          <a:bodyPr lIns="45719" rIns="45719" anchor="ctr">
            <a:spAutoFit/>
          </a:bodyPr>
          <a:lstStyle>
            <a:lvl1pPr algn="ctr">
              <a:lnSpc>
                <a:spcPct val="150000"/>
              </a:lnSpc>
              <a:defRPr sz="2400">
                <a:solidFill>
                  <a:srgbClr val="0066FF"/>
                </a:solidFill>
                <a:latin typeface="Courier New"/>
                <a:ea typeface="Courier New"/>
                <a:cs typeface="Courier New"/>
                <a:sym typeface="Courier New"/>
              </a:defRPr>
            </a:lvl1pPr>
          </a:lstStyle>
          <a:p>
            <a:r>
              <a:t>ImmutableLongStack</a:t>
            </a:r>
          </a:p>
        </p:txBody>
      </p:sp>
      <p:sp>
        <p:nvSpPr>
          <p:cNvPr id="2" name="TextBox 1">
            <a:extLst>
              <a:ext uri="{FF2B5EF4-FFF2-40B4-BE49-F238E27FC236}">
                <a16:creationId xmlns:a16="http://schemas.microsoft.com/office/drawing/2014/main" id="{C55D627A-BC4C-5496-C154-CB951FEDAFD1}"/>
              </a:ext>
            </a:extLst>
          </p:cNvPr>
          <p:cNvSpPr txBox="1"/>
          <p:nvPr/>
        </p:nvSpPr>
        <p:spPr>
          <a:xfrm>
            <a:off x="3128" y="612542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6" name="Title 1"/>
          <p:cNvSpPr txBox="1">
            <a:spLocks noGrp="1"/>
          </p:cNvSpPr>
          <p:nvPr>
            <p:ph type="title"/>
          </p:nvPr>
        </p:nvSpPr>
        <p:spPr>
          <a:xfrm>
            <a:off x="838200" y="225379"/>
            <a:ext cx="10515600" cy="792053"/>
          </a:xfrm>
          <a:prstGeom prst="rect">
            <a:avLst/>
          </a:prstGeom>
        </p:spPr>
        <p:txBody>
          <a:bodyPr/>
          <a:lstStyle/>
          <a:p>
            <a:r>
              <a:rPr dirty="0"/>
              <a:t>Methods by Category - Highlights</a:t>
            </a:r>
          </a:p>
        </p:txBody>
      </p:sp>
      <p:sp>
        <p:nvSpPr>
          <p:cNvPr id="247" name="Slide Number Placeholder 2"/>
          <p:cNvSpPr txBox="1">
            <a:spLocks noGrp="1"/>
          </p:cNvSpPr>
          <p:nvPr>
            <p:ph type="sldNum" sz="quarter" idx="2"/>
          </p:nvPr>
        </p:nvSpPr>
        <p:spPr>
          <a:xfrm>
            <a:off x="11080144" y="6404292"/>
            <a:ext cx="273657" cy="269241"/>
          </a:xfrm>
          <a:prstGeom prst="rect">
            <a:avLst/>
          </a:prstGeom>
          <a:ln w="12700">
            <a:miter lim="400000"/>
          </a:ln>
          <a:extLst>
            <a:ext uri="{C572A759-6A51-4108-AA02-DFA0A04FC94B}">
              <ma14:wrappingTextBoxFlag xmlns:ma14="http://schemas.microsoft.com/office/mac/drawingml/2011/main" xmlns="" val="1"/>
            </a:ext>
          </a:extLst>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Univers"/>
                <a:ea typeface="Univers"/>
                <a:cs typeface="Univers"/>
                <a:sym typeface="Univers"/>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9pPr>
          </a:lstStyle>
          <a:p>
            <a:fld id="{86CB4B4D-7CA3-9044-876B-883B54F8677D}" type="slidenum">
              <a:rPr lang="en-US" smtClean="0"/>
              <a:pPr/>
              <a:t>7</a:t>
            </a:fld>
            <a:endParaRPr/>
          </a:p>
        </p:txBody>
      </p:sp>
      <p:grpSp>
        <p:nvGrpSpPr>
          <p:cNvPr id="253" name="Group 10"/>
          <p:cNvGrpSpPr/>
          <p:nvPr/>
        </p:nvGrpSpPr>
        <p:grpSpPr>
          <a:xfrm>
            <a:off x="552431" y="1128886"/>
            <a:ext cx="5543569" cy="2700772"/>
            <a:chOff x="0" y="0"/>
            <a:chExt cx="5543567" cy="2700770"/>
          </a:xfrm>
        </p:grpSpPr>
        <p:grpSp>
          <p:nvGrpSpPr>
            <p:cNvPr id="250" name="Rectangle 3"/>
            <p:cNvGrpSpPr/>
            <p:nvPr/>
          </p:nvGrpSpPr>
          <p:grpSpPr>
            <a:xfrm>
              <a:off x="6" y="0"/>
              <a:ext cx="5543562" cy="650790"/>
              <a:chOff x="0" y="0"/>
              <a:chExt cx="5543561" cy="650789"/>
            </a:xfrm>
          </p:grpSpPr>
          <p:sp>
            <p:nvSpPr>
              <p:cNvPr id="248" name="Rectangle"/>
              <p:cNvSpPr/>
              <p:nvPr/>
            </p:nvSpPr>
            <p:spPr>
              <a:xfrm>
                <a:off x="-1" y="-1"/>
                <a:ext cx="5543563" cy="650791"/>
              </a:xfrm>
              <a:prstGeom prst="rect">
                <a:avLst/>
              </a:prstGeom>
              <a:solidFill>
                <a:srgbClr val="F2F2F2"/>
              </a:solidFill>
              <a:ln w="12700" cap="flat">
                <a:noFill/>
                <a:miter lim="400000"/>
              </a:ln>
              <a:effectLst/>
            </p:spPr>
            <p:txBody>
              <a:bodyPr wrap="square" lIns="45719" tIns="45719" rIns="45719" bIns="45719" numCol="1" anchor="ctr">
                <a:noAutofit/>
              </a:bodyPr>
              <a:lstStyle/>
              <a:p>
                <a:pPr>
                  <a:defRPr>
                    <a:solidFill>
                      <a:srgbClr val="FFFFFF"/>
                    </a:solidFill>
                  </a:defRPr>
                </a:pPr>
                <a:endParaRPr/>
              </a:p>
            </p:txBody>
          </p:sp>
          <p:sp>
            <p:nvSpPr>
              <p:cNvPr id="249" name="transform"/>
              <p:cNvSpPr txBox="1"/>
              <p:nvPr/>
            </p:nvSpPr>
            <p:spPr>
              <a:xfrm>
                <a:off x="-1" y="38374"/>
                <a:ext cx="5543563" cy="574041"/>
              </a:xfrm>
              <a:prstGeom prst="rect">
                <a:avLst/>
              </a:prstGeom>
              <a:noFill/>
              <a:ln w="12700" cap="flat">
                <a:noFill/>
                <a:miter lim="400000"/>
              </a:ln>
              <a:effectLst/>
              <a:extLst>
                <a:ext uri="{C572A759-6A51-4108-AA02-DFA0A04FC94B}">
                  <ma14:wrappingTextBoxFlag xmlns:ma14="http://schemas.microsoft.com/office/mac/drawingml/2011/main" xmlns="" val="1"/>
                </a:ext>
              </a:extLst>
            </p:spPr>
            <p:txBody>
              <a:bodyPr wrap="square" lIns="45719" tIns="45719" rIns="45719" bIns="45719" numCol="1" anchor="ctr">
                <a:spAutoFit/>
              </a:bodyPr>
              <a:lstStyle>
                <a:lvl1pPr>
                  <a:defRPr sz="3200"/>
                </a:lvl1pPr>
              </a:lstStyle>
              <a:p>
                <a:r>
                  <a:t>transform</a:t>
                </a:r>
              </a:p>
            </p:txBody>
          </p:sp>
        </p:grpSp>
        <p:sp>
          <p:nvSpPr>
            <p:cNvPr id="251" name="Rectangle 4"/>
            <p:cNvSpPr/>
            <p:nvPr/>
          </p:nvSpPr>
          <p:spPr>
            <a:xfrm>
              <a:off x="0" y="678930"/>
              <a:ext cx="5543562" cy="2021841"/>
            </a:xfrm>
            <a:prstGeom prst="rect">
              <a:avLst/>
            </a:prstGeom>
            <a:solidFill>
              <a:srgbClr val="F2F2F2"/>
            </a:solidFill>
            <a:ln w="12700" cap="flat">
              <a:noFill/>
              <a:miter lim="400000"/>
            </a:ln>
            <a:effectLst/>
            <a:extLst>
              <a:ext uri="{C572A759-6A51-4108-AA02-DFA0A04FC94B}">
                <ma14:wrappingTextBoxFlag xmlns:ma14="http://schemas.microsoft.com/office/mac/drawingml/2011/main" xmlns="" val="1"/>
              </a:ext>
            </a:extLst>
          </p:spPr>
          <p:txBody>
            <a:bodyPr wrap="square" lIns="45719" tIns="45719" rIns="45719" bIns="45719" numCol="1" anchor="ctr">
              <a:spAutoFit/>
            </a:bodyPr>
            <a:lstStyle/>
            <a:p>
              <a:pPr>
                <a:defRPr sz="1600"/>
              </a:pPr>
              <a:r>
                <a:t>collect</a:t>
              </a:r>
              <a:r>
                <a:rPr b="1">
                  <a:solidFill>
                    <a:srgbClr val="0066FF"/>
                  </a:solidFill>
                </a:rPr>
                <a:t>[With]</a:t>
              </a:r>
            </a:p>
            <a:p>
              <a:pPr>
                <a:defRPr sz="1600"/>
              </a:pPr>
              <a:r>
                <a:t>collect</a:t>
              </a:r>
              <a:r>
                <a:rPr b="1">
                  <a:solidFill>
                    <a:srgbClr val="0066FF"/>
                  </a:solidFill>
                </a:rPr>
                <a:t>[Boolean,Byte,Char,Double,Float,Int,Long,Short]</a:t>
              </a:r>
              <a:endParaRPr>
                <a:solidFill>
                  <a:srgbClr val="FFFFFF"/>
                </a:solidFill>
              </a:endParaRPr>
            </a:p>
            <a:p>
              <a:pPr>
                <a:defRPr sz="1600"/>
              </a:pPr>
              <a:r>
                <a:t>collectIf</a:t>
              </a:r>
            </a:p>
            <a:p>
              <a:pPr>
                <a:defRPr sz="1600"/>
              </a:pPr>
              <a:r>
                <a:t>collectKeysAndValues</a:t>
              </a:r>
            </a:p>
            <a:p>
              <a:pPr>
                <a:defRPr sz="1600"/>
              </a:pPr>
              <a:r>
                <a:t>collectValues</a:t>
              </a:r>
            </a:p>
            <a:p>
              <a:pPr>
                <a:defRPr sz="1600"/>
              </a:pPr>
              <a:r>
                <a:t>collectWithIndex</a:t>
              </a:r>
            </a:p>
            <a:p>
              <a:pPr>
                <a:defRPr sz="1600"/>
              </a:pPr>
              <a:r>
                <a:t>collectWithOccurrences</a:t>
              </a:r>
            </a:p>
            <a:p>
              <a:pPr>
                <a:defRPr sz="1600"/>
              </a:pPr>
              <a:r>
                <a:t>flatCollect</a:t>
              </a:r>
            </a:p>
          </p:txBody>
        </p:sp>
        <p:sp>
          <p:nvSpPr>
            <p:cNvPr id="252" name="Straight Connector 9"/>
            <p:cNvSpPr/>
            <p:nvPr/>
          </p:nvSpPr>
          <p:spPr>
            <a:xfrm>
              <a:off x="4" y="650789"/>
              <a:ext cx="5543562" cy="1"/>
            </a:xfrm>
            <a:prstGeom prst="line">
              <a:avLst/>
            </a:prstGeom>
            <a:solidFill>
              <a:srgbClr val="F2F2F2"/>
            </a:solidFill>
            <a:ln w="28575" cap="flat">
              <a:solidFill>
                <a:srgbClr val="000000"/>
              </a:solidFill>
              <a:prstDash val="solid"/>
              <a:miter lim="800000"/>
            </a:ln>
            <a:effectLst/>
          </p:spPr>
          <p:txBody>
            <a:bodyPr wrap="square" lIns="45719" tIns="45719" rIns="45719" bIns="45719" numCol="1" anchor="t">
              <a:noAutofit/>
            </a:bodyPr>
            <a:lstStyle/>
            <a:p>
              <a:endParaRPr/>
            </a:p>
          </p:txBody>
        </p:sp>
      </p:grpSp>
      <p:grpSp>
        <p:nvGrpSpPr>
          <p:cNvPr id="259" name="Group 11"/>
          <p:cNvGrpSpPr/>
          <p:nvPr/>
        </p:nvGrpSpPr>
        <p:grpSpPr>
          <a:xfrm>
            <a:off x="521346" y="4100167"/>
            <a:ext cx="2028572" cy="1978243"/>
            <a:chOff x="0" y="0"/>
            <a:chExt cx="2028570" cy="1978242"/>
          </a:xfrm>
        </p:grpSpPr>
        <p:grpSp>
          <p:nvGrpSpPr>
            <p:cNvPr id="256" name="Rectangle 12"/>
            <p:cNvGrpSpPr/>
            <p:nvPr/>
          </p:nvGrpSpPr>
          <p:grpSpPr>
            <a:xfrm>
              <a:off x="1" y="0"/>
              <a:ext cx="2028570" cy="650791"/>
              <a:chOff x="0" y="0"/>
              <a:chExt cx="2028569" cy="650790"/>
            </a:xfrm>
          </p:grpSpPr>
          <p:sp>
            <p:nvSpPr>
              <p:cNvPr id="254" name="Rectangle"/>
              <p:cNvSpPr/>
              <p:nvPr/>
            </p:nvSpPr>
            <p:spPr>
              <a:xfrm>
                <a:off x="-1" y="-1"/>
                <a:ext cx="2028571" cy="650792"/>
              </a:xfrm>
              <a:prstGeom prst="rect">
                <a:avLst/>
              </a:prstGeom>
              <a:solidFill>
                <a:srgbClr val="DEEBF7"/>
              </a:solidFill>
              <a:ln w="12700" cap="flat">
                <a:noFill/>
                <a:miter lim="400000"/>
              </a:ln>
              <a:effectLst/>
            </p:spPr>
            <p:txBody>
              <a:bodyPr wrap="square" lIns="45719" tIns="45719" rIns="45719" bIns="45719" numCol="1" anchor="ctr">
                <a:noAutofit/>
              </a:bodyPr>
              <a:lstStyle/>
              <a:p>
                <a:pPr>
                  <a:defRPr>
                    <a:solidFill>
                      <a:srgbClr val="FFFFFF"/>
                    </a:solidFill>
                  </a:defRPr>
                </a:pPr>
                <a:endParaRPr/>
              </a:p>
            </p:txBody>
          </p:sp>
          <p:sp>
            <p:nvSpPr>
              <p:cNvPr id="255" name="wrap"/>
              <p:cNvSpPr txBox="1"/>
              <p:nvPr/>
            </p:nvSpPr>
            <p:spPr>
              <a:xfrm>
                <a:off x="-1" y="38375"/>
                <a:ext cx="2028571" cy="574041"/>
              </a:xfrm>
              <a:prstGeom prst="rect">
                <a:avLst/>
              </a:prstGeom>
              <a:noFill/>
              <a:ln w="12700" cap="flat">
                <a:noFill/>
                <a:miter lim="400000"/>
              </a:ln>
              <a:effectLst/>
              <a:extLst>
                <a:ext uri="{C572A759-6A51-4108-AA02-DFA0A04FC94B}">
                  <ma14:wrappingTextBoxFlag xmlns:ma14="http://schemas.microsoft.com/office/mac/drawingml/2011/main" xmlns="" val="1"/>
                </a:ext>
              </a:extLst>
            </p:spPr>
            <p:txBody>
              <a:bodyPr wrap="square" lIns="45719" tIns="45719" rIns="45719" bIns="45719" numCol="1" anchor="ctr">
                <a:spAutoFit/>
              </a:bodyPr>
              <a:lstStyle>
                <a:lvl1pPr>
                  <a:defRPr sz="3200"/>
                </a:lvl1pPr>
              </a:lstStyle>
              <a:p>
                <a:r>
                  <a:t>wrap</a:t>
                </a:r>
              </a:p>
            </p:txBody>
          </p:sp>
        </p:grpSp>
        <p:sp>
          <p:nvSpPr>
            <p:cNvPr id="257" name="Rectangle 13"/>
            <p:cNvSpPr/>
            <p:nvPr/>
          </p:nvSpPr>
          <p:spPr>
            <a:xfrm>
              <a:off x="0" y="680302"/>
              <a:ext cx="2028570" cy="1297941"/>
            </a:xfrm>
            <a:prstGeom prst="rect">
              <a:avLst/>
            </a:prstGeom>
            <a:solidFill>
              <a:srgbClr val="DEEBF7"/>
            </a:solidFill>
            <a:ln w="12700" cap="flat">
              <a:noFill/>
              <a:miter lim="400000"/>
            </a:ln>
            <a:effectLst/>
            <a:extLst>
              <a:ext uri="{C572A759-6A51-4108-AA02-DFA0A04FC94B}">
                <ma14:wrappingTextBoxFlag xmlns:ma14="http://schemas.microsoft.com/office/mac/drawingml/2011/main" xmlns="" val="1"/>
              </a:ext>
            </a:extLst>
          </p:spPr>
          <p:txBody>
            <a:bodyPr wrap="square" lIns="45719" tIns="45719" rIns="45719" bIns="45719" numCol="1" anchor="ctr">
              <a:spAutoFit/>
            </a:bodyPr>
            <a:lstStyle/>
            <a:p>
              <a:pPr>
                <a:defRPr sz="1600"/>
              </a:pPr>
              <a:r>
                <a:t>asLazy</a:t>
              </a:r>
            </a:p>
            <a:p>
              <a:pPr>
                <a:defRPr sz="1600"/>
              </a:pPr>
              <a:r>
                <a:t>asParallel</a:t>
              </a:r>
            </a:p>
            <a:p>
              <a:pPr>
                <a:defRPr sz="1600"/>
              </a:pPr>
              <a:r>
                <a:t>asReversed</a:t>
              </a:r>
            </a:p>
            <a:p>
              <a:pPr>
                <a:defRPr sz="1600"/>
              </a:pPr>
              <a:r>
                <a:t>asSynchronized</a:t>
              </a:r>
            </a:p>
            <a:p>
              <a:pPr>
                <a:defRPr sz="1600"/>
              </a:pPr>
              <a:r>
                <a:t>asUnmodifiable</a:t>
              </a:r>
            </a:p>
          </p:txBody>
        </p:sp>
        <p:sp>
          <p:nvSpPr>
            <p:cNvPr id="258" name="Straight Connector 14"/>
            <p:cNvSpPr/>
            <p:nvPr/>
          </p:nvSpPr>
          <p:spPr>
            <a:xfrm>
              <a:off x="0" y="650790"/>
              <a:ext cx="2028570" cy="1"/>
            </a:xfrm>
            <a:prstGeom prst="line">
              <a:avLst/>
            </a:prstGeom>
            <a:solidFill>
              <a:srgbClr val="DEEBF7"/>
            </a:solidFill>
            <a:ln w="28575" cap="flat">
              <a:solidFill>
                <a:srgbClr val="000000"/>
              </a:solidFill>
              <a:prstDash val="solid"/>
              <a:miter lim="800000"/>
            </a:ln>
            <a:effectLst/>
          </p:spPr>
          <p:txBody>
            <a:bodyPr wrap="square" lIns="45719" tIns="45719" rIns="45719" bIns="45719" numCol="1" anchor="t">
              <a:noAutofit/>
            </a:bodyPr>
            <a:lstStyle/>
            <a:p>
              <a:endParaRPr/>
            </a:p>
          </p:txBody>
        </p:sp>
      </p:grpSp>
      <p:grpSp>
        <p:nvGrpSpPr>
          <p:cNvPr id="265" name="Group 15"/>
          <p:cNvGrpSpPr/>
          <p:nvPr/>
        </p:nvGrpSpPr>
        <p:grpSpPr>
          <a:xfrm>
            <a:off x="7096362" y="1269358"/>
            <a:ext cx="1968761" cy="4152097"/>
            <a:chOff x="0" y="0"/>
            <a:chExt cx="1968760" cy="4152096"/>
          </a:xfrm>
        </p:grpSpPr>
        <p:grpSp>
          <p:nvGrpSpPr>
            <p:cNvPr id="262" name="Rectangle 16"/>
            <p:cNvGrpSpPr/>
            <p:nvPr/>
          </p:nvGrpSpPr>
          <p:grpSpPr>
            <a:xfrm>
              <a:off x="6" y="0"/>
              <a:ext cx="1968755" cy="650791"/>
              <a:chOff x="0" y="0"/>
              <a:chExt cx="1968754" cy="650790"/>
            </a:xfrm>
          </p:grpSpPr>
          <p:sp>
            <p:nvSpPr>
              <p:cNvPr id="260" name="Rectangle"/>
              <p:cNvSpPr/>
              <p:nvPr/>
            </p:nvSpPr>
            <p:spPr>
              <a:xfrm>
                <a:off x="-1" y="-1"/>
                <a:ext cx="1968756" cy="650792"/>
              </a:xfrm>
              <a:prstGeom prst="rect">
                <a:avLst/>
              </a:prstGeom>
              <a:solidFill>
                <a:srgbClr val="FBE5D6"/>
              </a:solidFill>
              <a:ln w="12700" cap="flat">
                <a:noFill/>
                <a:miter lim="400000"/>
              </a:ln>
              <a:effectLst/>
            </p:spPr>
            <p:txBody>
              <a:bodyPr wrap="square" lIns="45719" tIns="45719" rIns="45719" bIns="45719" numCol="1" anchor="ctr">
                <a:noAutofit/>
              </a:bodyPr>
              <a:lstStyle/>
              <a:p>
                <a:pPr>
                  <a:defRPr>
                    <a:solidFill>
                      <a:srgbClr val="FFFFFF"/>
                    </a:solidFill>
                  </a:defRPr>
                </a:pPr>
                <a:endParaRPr/>
              </a:p>
            </p:txBody>
          </p:sp>
          <p:sp>
            <p:nvSpPr>
              <p:cNvPr id="261" name="convert"/>
              <p:cNvSpPr txBox="1"/>
              <p:nvPr/>
            </p:nvSpPr>
            <p:spPr>
              <a:xfrm>
                <a:off x="-1" y="38375"/>
                <a:ext cx="1968756" cy="574041"/>
              </a:xfrm>
              <a:prstGeom prst="rect">
                <a:avLst/>
              </a:prstGeom>
              <a:noFill/>
              <a:ln w="12700" cap="flat">
                <a:noFill/>
                <a:miter lim="400000"/>
              </a:ln>
              <a:effectLst/>
              <a:extLst>
                <a:ext uri="{C572A759-6A51-4108-AA02-DFA0A04FC94B}">
                  <ma14:wrappingTextBoxFlag xmlns:ma14="http://schemas.microsoft.com/office/mac/drawingml/2011/main" xmlns="" val="1"/>
                </a:ext>
              </a:extLst>
            </p:spPr>
            <p:txBody>
              <a:bodyPr wrap="square" lIns="45719" tIns="45719" rIns="45719" bIns="45719" numCol="1" anchor="ctr">
                <a:spAutoFit/>
              </a:bodyPr>
              <a:lstStyle>
                <a:lvl1pPr>
                  <a:defRPr sz="3200"/>
                </a:lvl1pPr>
              </a:lstStyle>
              <a:p>
                <a:r>
                  <a:t>convert</a:t>
                </a:r>
              </a:p>
            </p:txBody>
          </p:sp>
        </p:grpSp>
        <p:sp>
          <p:nvSpPr>
            <p:cNvPr id="263" name="Rectangle 17"/>
            <p:cNvSpPr/>
            <p:nvPr/>
          </p:nvSpPr>
          <p:spPr>
            <a:xfrm>
              <a:off x="0" y="682455"/>
              <a:ext cx="1968755" cy="3469641"/>
            </a:xfrm>
            <a:prstGeom prst="rect">
              <a:avLst/>
            </a:prstGeom>
            <a:solidFill>
              <a:srgbClr val="FBE5D6"/>
            </a:solidFill>
            <a:ln w="12700" cap="flat">
              <a:noFill/>
              <a:miter lim="400000"/>
            </a:ln>
            <a:effectLst/>
            <a:extLst>
              <a:ext uri="{C572A759-6A51-4108-AA02-DFA0A04FC94B}">
                <ma14:wrappingTextBoxFlag xmlns:ma14="http://schemas.microsoft.com/office/mac/drawingml/2011/main" xmlns="" val="1"/>
              </a:ext>
            </a:extLst>
          </p:spPr>
          <p:txBody>
            <a:bodyPr wrap="square" lIns="45719" tIns="45719" rIns="45719" bIns="45719" numCol="1" anchor="ctr">
              <a:spAutoFit/>
            </a:bodyPr>
            <a:lstStyle/>
            <a:p>
              <a:pPr>
                <a:defRPr sz="1600"/>
              </a:pPr>
              <a:r>
                <a:t>toArray</a:t>
              </a:r>
            </a:p>
            <a:p>
              <a:pPr>
                <a:defRPr sz="1600"/>
              </a:pPr>
              <a:r>
                <a:t>toBag</a:t>
              </a:r>
            </a:p>
            <a:p>
              <a:pPr>
                <a:defRPr sz="1600"/>
              </a:pPr>
              <a:r>
                <a:t>toImmutable</a:t>
              </a:r>
            </a:p>
            <a:p>
              <a:pPr>
                <a:defRPr sz="1600"/>
              </a:pPr>
              <a:r>
                <a:t>toList</a:t>
              </a:r>
            </a:p>
            <a:p>
              <a:pPr>
                <a:defRPr sz="1600"/>
              </a:pPr>
              <a:r>
                <a:t>toMap</a:t>
              </a:r>
            </a:p>
            <a:p>
              <a:pPr>
                <a:defRPr sz="1600"/>
              </a:pPr>
              <a:r>
                <a:t>toReversed</a:t>
              </a:r>
            </a:p>
            <a:p>
              <a:pPr>
                <a:defRPr sz="1600"/>
              </a:pPr>
              <a:r>
                <a:t>toSet</a:t>
              </a:r>
            </a:p>
            <a:p>
              <a:pPr>
                <a:defRPr sz="1600"/>
              </a:pPr>
              <a:r>
                <a:t>toSortedBag</a:t>
              </a:r>
              <a:r>
                <a:rPr b="1">
                  <a:solidFill>
                    <a:srgbClr val="0066FF"/>
                  </a:solidFill>
                </a:rPr>
                <a:t>[By]</a:t>
              </a:r>
              <a:endParaRPr>
                <a:solidFill>
                  <a:srgbClr val="FFFFFF"/>
                </a:solidFill>
              </a:endParaRPr>
            </a:p>
            <a:p>
              <a:pPr>
                <a:defRPr sz="1600"/>
              </a:pPr>
              <a:r>
                <a:t>toSortedList</a:t>
              </a:r>
              <a:r>
                <a:rPr b="1">
                  <a:solidFill>
                    <a:srgbClr val="0066FF"/>
                  </a:solidFill>
                </a:rPr>
                <a:t>[By]</a:t>
              </a:r>
            </a:p>
            <a:p>
              <a:pPr>
                <a:defRPr sz="1600"/>
              </a:pPr>
              <a:r>
                <a:t>toSortedMap</a:t>
              </a:r>
            </a:p>
            <a:p>
              <a:pPr>
                <a:defRPr sz="1600"/>
              </a:pPr>
              <a:r>
                <a:t>toSortedSet</a:t>
              </a:r>
            </a:p>
            <a:p>
              <a:pPr>
                <a:defRPr sz="1600"/>
              </a:pPr>
              <a:r>
                <a:t>toSortedSet</a:t>
              </a:r>
              <a:r>
                <a:rPr b="1">
                  <a:solidFill>
                    <a:srgbClr val="0066FF"/>
                  </a:solidFill>
                </a:rPr>
                <a:t>[By]</a:t>
              </a:r>
            </a:p>
            <a:p>
              <a:pPr>
                <a:defRPr sz="1600"/>
              </a:pPr>
              <a:r>
                <a:t>toStack</a:t>
              </a:r>
            </a:p>
            <a:p>
              <a:pPr>
                <a:defRPr sz="1600"/>
              </a:pPr>
              <a:r>
                <a:t>toString</a:t>
              </a:r>
            </a:p>
          </p:txBody>
        </p:sp>
        <p:sp>
          <p:nvSpPr>
            <p:cNvPr id="264" name="Straight Connector 18"/>
            <p:cNvSpPr/>
            <p:nvPr/>
          </p:nvSpPr>
          <p:spPr>
            <a:xfrm>
              <a:off x="5" y="650790"/>
              <a:ext cx="1968755" cy="1"/>
            </a:xfrm>
            <a:prstGeom prst="line">
              <a:avLst/>
            </a:prstGeom>
            <a:solidFill>
              <a:srgbClr val="FBE5D6"/>
            </a:solidFill>
            <a:ln w="28575" cap="flat">
              <a:solidFill>
                <a:srgbClr val="000000"/>
              </a:solidFill>
              <a:prstDash val="solid"/>
              <a:miter lim="800000"/>
            </a:ln>
            <a:effectLst/>
          </p:spPr>
          <p:txBody>
            <a:bodyPr wrap="square" lIns="45719" tIns="45719" rIns="45719" bIns="45719" numCol="1" anchor="t">
              <a:noAutofit/>
            </a:bodyPr>
            <a:lstStyle/>
            <a:p>
              <a:endParaRPr/>
            </a:p>
          </p:txBody>
        </p:sp>
      </p:grpSp>
      <p:grpSp>
        <p:nvGrpSpPr>
          <p:cNvPr id="271" name="Group 19"/>
          <p:cNvGrpSpPr/>
          <p:nvPr/>
        </p:nvGrpSpPr>
        <p:grpSpPr>
          <a:xfrm>
            <a:off x="9251088" y="1591525"/>
            <a:ext cx="2241721" cy="2208200"/>
            <a:chOff x="0" y="0"/>
            <a:chExt cx="2241720" cy="2208199"/>
          </a:xfrm>
        </p:grpSpPr>
        <p:grpSp>
          <p:nvGrpSpPr>
            <p:cNvPr id="268" name="Rectangle 20"/>
            <p:cNvGrpSpPr/>
            <p:nvPr/>
          </p:nvGrpSpPr>
          <p:grpSpPr>
            <a:xfrm>
              <a:off x="2" y="0"/>
              <a:ext cx="2241719" cy="650791"/>
              <a:chOff x="0" y="0"/>
              <a:chExt cx="2241718" cy="650790"/>
            </a:xfrm>
          </p:grpSpPr>
          <p:sp>
            <p:nvSpPr>
              <p:cNvPr id="266" name="Rectangle"/>
              <p:cNvSpPr/>
              <p:nvPr/>
            </p:nvSpPr>
            <p:spPr>
              <a:xfrm>
                <a:off x="-1" y="-1"/>
                <a:ext cx="2241720" cy="650792"/>
              </a:xfrm>
              <a:prstGeom prst="rect">
                <a:avLst/>
              </a:prstGeom>
              <a:solidFill>
                <a:srgbClr val="DAE3F3"/>
              </a:solidFill>
              <a:ln w="12700" cap="flat">
                <a:noFill/>
                <a:miter lim="400000"/>
              </a:ln>
              <a:effectLst/>
            </p:spPr>
            <p:txBody>
              <a:bodyPr wrap="square" lIns="45719" tIns="45719" rIns="45719" bIns="45719" numCol="1" anchor="ctr">
                <a:noAutofit/>
              </a:bodyPr>
              <a:lstStyle/>
              <a:p>
                <a:pPr>
                  <a:defRPr>
                    <a:solidFill>
                      <a:srgbClr val="FFFFFF"/>
                    </a:solidFill>
                  </a:defRPr>
                </a:pPr>
                <a:endParaRPr/>
              </a:p>
            </p:txBody>
          </p:sp>
          <p:sp>
            <p:nvSpPr>
              <p:cNvPr id="267" name="filter"/>
              <p:cNvSpPr txBox="1"/>
              <p:nvPr/>
            </p:nvSpPr>
            <p:spPr>
              <a:xfrm>
                <a:off x="-1" y="38375"/>
                <a:ext cx="2241720" cy="574041"/>
              </a:xfrm>
              <a:prstGeom prst="rect">
                <a:avLst/>
              </a:prstGeom>
              <a:noFill/>
              <a:ln w="12700" cap="flat">
                <a:noFill/>
                <a:miter lim="400000"/>
              </a:ln>
              <a:effectLst/>
              <a:extLst>
                <a:ext uri="{C572A759-6A51-4108-AA02-DFA0A04FC94B}">
                  <ma14:wrappingTextBoxFlag xmlns:ma14="http://schemas.microsoft.com/office/mac/drawingml/2011/main" xmlns="" val="1"/>
                </a:ext>
              </a:extLst>
            </p:spPr>
            <p:txBody>
              <a:bodyPr wrap="square" lIns="45719" tIns="45719" rIns="45719" bIns="45719" numCol="1" anchor="ctr">
                <a:spAutoFit/>
              </a:bodyPr>
              <a:lstStyle>
                <a:lvl1pPr>
                  <a:defRPr sz="3200"/>
                </a:lvl1pPr>
              </a:lstStyle>
              <a:p>
                <a:r>
                  <a:t>filter</a:t>
                </a:r>
              </a:p>
            </p:txBody>
          </p:sp>
        </p:grpSp>
        <p:sp>
          <p:nvSpPr>
            <p:cNvPr id="269" name="Rectangle 21"/>
            <p:cNvSpPr/>
            <p:nvPr/>
          </p:nvSpPr>
          <p:spPr>
            <a:xfrm>
              <a:off x="0" y="668959"/>
              <a:ext cx="2241719" cy="1539241"/>
            </a:xfrm>
            <a:prstGeom prst="rect">
              <a:avLst/>
            </a:prstGeom>
            <a:solidFill>
              <a:srgbClr val="DAE3F3"/>
            </a:solidFill>
            <a:ln w="12700" cap="flat">
              <a:noFill/>
              <a:miter lim="400000"/>
            </a:ln>
            <a:effectLst/>
            <a:extLst>
              <a:ext uri="{C572A759-6A51-4108-AA02-DFA0A04FC94B}">
                <ma14:wrappingTextBoxFlag xmlns:ma14="http://schemas.microsoft.com/office/mac/drawingml/2011/main" xmlns="" val="1"/>
              </a:ext>
            </a:extLst>
          </p:spPr>
          <p:txBody>
            <a:bodyPr wrap="square" lIns="45719" tIns="45719" rIns="45719" bIns="45719" numCol="1" anchor="ctr">
              <a:spAutoFit/>
            </a:bodyPr>
            <a:lstStyle/>
            <a:p>
              <a:pPr>
                <a:defRPr sz="1600"/>
              </a:pPr>
              <a:r>
                <a:t>select</a:t>
              </a:r>
              <a:r>
                <a:rPr b="1">
                  <a:solidFill>
                    <a:srgbClr val="0066FF"/>
                  </a:solidFill>
                </a:rPr>
                <a:t>[With]</a:t>
              </a:r>
            </a:p>
            <a:p>
              <a:pPr>
                <a:defRPr sz="1600"/>
              </a:pPr>
              <a:r>
                <a:t>selectByOccurrences</a:t>
              </a:r>
            </a:p>
            <a:p>
              <a:pPr>
                <a:defRPr sz="1600"/>
              </a:pPr>
              <a:r>
                <a:t>selectInstancesOf</a:t>
              </a:r>
            </a:p>
            <a:p>
              <a:pPr>
                <a:defRPr sz="1600"/>
              </a:pPr>
              <a:r>
                <a:t>reject</a:t>
              </a:r>
              <a:r>
                <a:rPr b="1">
                  <a:solidFill>
                    <a:srgbClr val="0066FF"/>
                  </a:solidFill>
                </a:rPr>
                <a:t>[With]</a:t>
              </a:r>
              <a:endParaRPr>
                <a:solidFill>
                  <a:srgbClr val="FFFFFF"/>
                </a:solidFill>
              </a:endParaRPr>
            </a:p>
            <a:p>
              <a:pPr>
                <a:defRPr sz="1600"/>
              </a:pPr>
              <a:r>
                <a:t>partition</a:t>
              </a:r>
              <a:r>
                <a:rPr b="1">
                  <a:solidFill>
                    <a:srgbClr val="0066FF"/>
                  </a:solidFill>
                </a:rPr>
                <a:t>[With]</a:t>
              </a:r>
            </a:p>
            <a:p>
              <a:pPr>
                <a:defRPr sz="1600"/>
              </a:pPr>
              <a:r>
                <a:t>partitionWhile</a:t>
              </a:r>
            </a:p>
          </p:txBody>
        </p:sp>
        <p:sp>
          <p:nvSpPr>
            <p:cNvPr id="270" name="Straight Connector 22"/>
            <p:cNvSpPr/>
            <p:nvPr/>
          </p:nvSpPr>
          <p:spPr>
            <a:xfrm>
              <a:off x="1" y="650790"/>
              <a:ext cx="2241719" cy="1"/>
            </a:xfrm>
            <a:prstGeom prst="line">
              <a:avLst/>
            </a:prstGeom>
            <a:solidFill>
              <a:srgbClr val="DAE3F3"/>
            </a:solidFill>
            <a:ln w="28575" cap="flat">
              <a:solidFill>
                <a:srgbClr val="000000"/>
              </a:solidFill>
              <a:prstDash val="solid"/>
              <a:miter lim="800000"/>
            </a:ln>
            <a:effectLst/>
          </p:spPr>
          <p:txBody>
            <a:bodyPr wrap="square" lIns="45719" tIns="45719" rIns="45719" bIns="45719" numCol="1" anchor="t">
              <a:noAutofit/>
            </a:bodyPr>
            <a:lstStyle/>
            <a:p>
              <a:endParaRPr/>
            </a:p>
          </p:txBody>
        </p:sp>
      </p:grpSp>
      <p:grpSp>
        <p:nvGrpSpPr>
          <p:cNvPr id="277" name="Group 28"/>
          <p:cNvGrpSpPr/>
          <p:nvPr/>
        </p:nvGrpSpPr>
        <p:grpSpPr>
          <a:xfrm>
            <a:off x="8927706" y="4369182"/>
            <a:ext cx="2028574" cy="1980257"/>
            <a:chOff x="0" y="0"/>
            <a:chExt cx="2028572" cy="1980256"/>
          </a:xfrm>
        </p:grpSpPr>
        <p:grpSp>
          <p:nvGrpSpPr>
            <p:cNvPr id="274" name="Rectangle 29"/>
            <p:cNvGrpSpPr/>
            <p:nvPr/>
          </p:nvGrpSpPr>
          <p:grpSpPr>
            <a:xfrm>
              <a:off x="3" y="0"/>
              <a:ext cx="2028570" cy="650791"/>
              <a:chOff x="0" y="0"/>
              <a:chExt cx="2028569" cy="650790"/>
            </a:xfrm>
          </p:grpSpPr>
          <p:sp>
            <p:nvSpPr>
              <p:cNvPr id="272" name="Rectangle"/>
              <p:cNvSpPr/>
              <p:nvPr/>
            </p:nvSpPr>
            <p:spPr>
              <a:xfrm>
                <a:off x="-1" y="-1"/>
                <a:ext cx="2028571" cy="650792"/>
              </a:xfrm>
              <a:prstGeom prst="rect">
                <a:avLst/>
              </a:prstGeom>
              <a:solidFill>
                <a:srgbClr val="FFF1E1"/>
              </a:solidFill>
              <a:ln w="12700" cap="flat">
                <a:solidFill>
                  <a:srgbClr val="FFFFFF"/>
                </a:solidFill>
                <a:prstDash val="solid"/>
                <a:miter lim="800000"/>
              </a:ln>
              <a:effectLst/>
            </p:spPr>
            <p:txBody>
              <a:bodyPr wrap="square" lIns="45719" tIns="45719" rIns="45719" bIns="45719" numCol="1" anchor="ctr">
                <a:noAutofit/>
              </a:bodyPr>
              <a:lstStyle/>
              <a:p>
                <a:pPr>
                  <a:defRPr>
                    <a:solidFill>
                      <a:srgbClr val="FFFFFF"/>
                    </a:solidFill>
                  </a:defRPr>
                </a:pPr>
                <a:endParaRPr/>
              </a:p>
            </p:txBody>
          </p:sp>
          <p:sp>
            <p:nvSpPr>
              <p:cNvPr id="273" name="test"/>
              <p:cNvSpPr txBox="1"/>
              <p:nvPr/>
            </p:nvSpPr>
            <p:spPr>
              <a:xfrm>
                <a:off x="-1" y="38375"/>
                <a:ext cx="2028571" cy="574041"/>
              </a:xfrm>
              <a:prstGeom prst="rect">
                <a:avLst/>
              </a:prstGeom>
              <a:noFill/>
              <a:ln w="12700" cap="flat">
                <a:noFill/>
                <a:miter lim="400000"/>
              </a:ln>
              <a:effectLst/>
              <a:extLst>
                <a:ext uri="{C572A759-6A51-4108-AA02-DFA0A04FC94B}">
                  <ma14:wrappingTextBoxFlag xmlns:ma14="http://schemas.microsoft.com/office/mac/drawingml/2011/main" xmlns="" val="1"/>
                </a:ext>
              </a:extLst>
            </p:spPr>
            <p:txBody>
              <a:bodyPr wrap="square" lIns="45719" tIns="45719" rIns="45719" bIns="45719" numCol="1" anchor="ctr">
                <a:spAutoFit/>
              </a:bodyPr>
              <a:lstStyle>
                <a:lvl1pPr>
                  <a:defRPr sz="3200"/>
                </a:lvl1pPr>
              </a:lstStyle>
              <a:p>
                <a:r>
                  <a:t>test</a:t>
                </a:r>
              </a:p>
            </p:txBody>
          </p:sp>
        </p:grpSp>
        <p:sp>
          <p:nvSpPr>
            <p:cNvPr id="275" name="Rectangle 30"/>
            <p:cNvSpPr/>
            <p:nvPr/>
          </p:nvSpPr>
          <p:spPr>
            <a:xfrm>
              <a:off x="0" y="669616"/>
              <a:ext cx="2028570" cy="1310641"/>
            </a:xfrm>
            <a:prstGeom prst="rect">
              <a:avLst/>
            </a:prstGeom>
            <a:solidFill>
              <a:srgbClr val="FFF1E1"/>
            </a:solidFill>
            <a:ln w="12700" cap="flat">
              <a:solidFill>
                <a:srgbClr val="FFFFFF"/>
              </a:solidFill>
              <a:prstDash val="solid"/>
              <a:miter lim="800000"/>
            </a:ln>
            <a:effectLst/>
            <a:extLst>
              <a:ext uri="{C572A759-6A51-4108-AA02-DFA0A04FC94B}">
                <ma14:wrappingTextBoxFlag xmlns:ma14="http://schemas.microsoft.com/office/mac/drawingml/2011/main" xmlns="" val="1"/>
              </a:ext>
            </a:extLst>
          </p:spPr>
          <p:txBody>
            <a:bodyPr wrap="square" lIns="45719" tIns="45719" rIns="45719" bIns="45719" numCol="1" anchor="ctr">
              <a:spAutoFit/>
            </a:bodyPr>
            <a:lstStyle/>
            <a:p>
              <a:pPr>
                <a:defRPr sz="1600"/>
              </a:pPr>
              <a:r>
                <a:t>allSatisfy</a:t>
              </a:r>
              <a:r>
                <a:rPr b="1">
                  <a:solidFill>
                    <a:srgbClr val="0066FF"/>
                  </a:solidFill>
                </a:rPr>
                <a:t>[With]</a:t>
              </a:r>
            </a:p>
            <a:p>
              <a:pPr>
                <a:defRPr sz="1600"/>
              </a:pPr>
              <a:r>
                <a:t>anySatisfy</a:t>
              </a:r>
              <a:r>
                <a:rPr b="1">
                  <a:solidFill>
                    <a:srgbClr val="0066FF"/>
                  </a:solidFill>
                </a:rPr>
                <a:t>[With]</a:t>
              </a:r>
            </a:p>
            <a:p>
              <a:pPr>
                <a:defRPr sz="1600"/>
              </a:pPr>
              <a:r>
                <a:t>noneSatisfy</a:t>
              </a:r>
              <a:r>
                <a:rPr b="1">
                  <a:solidFill>
                    <a:srgbClr val="0066FF"/>
                  </a:solidFill>
                </a:rPr>
                <a:t>[With]</a:t>
              </a:r>
            </a:p>
            <a:p>
              <a:pPr>
                <a:defRPr sz="1600"/>
              </a:pPr>
              <a:r>
                <a:t>notEmpty</a:t>
              </a:r>
            </a:p>
            <a:p>
              <a:pPr>
                <a:defRPr sz="1600"/>
              </a:pPr>
              <a:r>
                <a:t>isEmpty</a:t>
              </a:r>
            </a:p>
          </p:txBody>
        </p:sp>
        <p:sp>
          <p:nvSpPr>
            <p:cNvPr id="276" name="Straight Connector 31"/>
            <p:cNvSpPr/>
            <p:nvPr/>
          </p:nvSpPr>
          <p:spPr>
            <a:xfrm>
              <a:off x="3" y="650790"/>
              <a:ext cx="2028570" cy="1"/>
            </a:xfrm>
            <a:prstGeom prst="line">
              <a:avLst/>
            </a:prstGeom>
            <a:solidFill>
              <a:srgbClr val="FFF1E1"/>
            </a:solidFill>
            <a:ln w="28575" cap="flat">
              <a:solidFill>
                <a:srgbClr val="000000"/>
              </a:solidFill>
              <a:prstDash val="solid"/>
              <a:miter lim="800000"/>
            </a:ln>
            <a:effectLst/>
          </p:spPr>
          <p:txBody>
            <a:bodyPr wrap="square" lIns="45719" tIns="45719" rIns="45719" bIns="45719" numCol="1" anchor="t">
              <a:noAutofit/>
            </a:bodyPr>
            <a:lstStyle/>
            <a:p>
              <a:endParaRPr/>
            </a:p>
          </p:txBody>
        </p:sp>
      </p:grpSp>
      <p:grpSp>
        <p:nvGrpSpPr>
          <p:cNvPr id="283" name="Group 32"/>
          <p:cNvGrpSpPr/>
          <p:nvPr/>
        </p:nvGrpSpPr>
        <p:grpSpPr>
          <a:xfrm>
            <a:off x="2378424" y="4586861"/>
            <a:ext cx="2214036" cy="1967830"/>
            <a:chOff x="0" y="0"/>
            <a:chExt cx="2214035" cy="1967828"/>
          </a:xfrm>
        </p:grpSpPr>
        <p:grpSp>
          <p:nvGrpSpPr>
            <p:cNvPr id="280" name="Rectangle 33"/>
            <p:cNvGrpSpPr/>
            <p:nvPr/>
          </p:nvGrpSpPr>
          <p:grpSpPr>
            <a:xfrm>
              <a:off x="2" y="0"/>
              <a:ext cx="2214034" cy="650791"/>
              <a:chOff x="0" y="0"/>
              <a:chExt cx="2214033" cy="650790"/>
            </a:xfrm>
          </p:grpSpPr>
          <p:sp>
            <p:nvSpPr>
              <p:cNvPr id="278" name="Rectangle"/>
              <p:cNvSpPr/>
              <p:nvPr/>
            </p:nvSpPr>
            <p:spPr>
              <a:xfrm>
                <a:off x="-1" y="-1"/>
                <a:ext cx="2214035" cy="650792"/>
              </a:xfrm>
              <a:prstGeom prst="rect">
                <a:avLst/>
              </a:prstGeom>
              <a:solidFill>
                <a:srgbClr val="FFF2CC"/>
              </a:solidFill>
              <a:ln w="12700" cap="flat">
                <a:solidFill>
                  <a:srgbClr val="FFFFFF"/>
                </a:solidFill>
                <a:prstDash val="solid"/>
                <a:miter lim="800000"/>
              </a:ln>
              <a:effectLst/>
            </p:spPr>
            <p:txBody>
              <a:bodyPr wrap="square" lIns="45719" tIns="45719" rIns="45719" bIns="45719" numCol="1" anchor="ctr">
                <a:noAutofit/>
              </a:bodyPr>
              <a:lstStyle/>
              <a:p>
                <a:pPr>
                  <a:defRPr>
                    <a:solidFill>
                      <a:srgbClr val="FFFFFF"/>
                    </a:solidFill>
                  </a:defRPr>
                </a:pPr>
                <a:endParaRPr/>
              </a:p>
            </p:txBody>
          </p:sp>
          <p:sp>
            <p:nvSpPr>
              <p:cNvPr id="279" name="find"/>
              <p:cNvSpPr txBox="1"/>
              <p:nvPr/>
            </p:nvSpPr>
            <p:spPr>
              <a:xfrm>
                <a:off x="-1" y="38375"/>
                <a:ext cx="2214035" cy="574041"/>
              </a:xfrm>
              <a:prstGeom prst="rect">
                <a:avLst/>
              </a:prstGeom>
              <a:noFill/>
              <a:ln w="12700" cap="flat">
                <a:noFill/>
                <a:miter lim="400000"/>
              </a:ln>
              <a:effectLst/>
              <a:extLst>
                <a:ext uri="{C572A759-6A51-4108-AA02-DFA0A04FC94B}">
                  <ma14:wrappingTextBoxFlag xmlns:ma14="http://schemas.microsoft.com/office/mac/drawingml/2011/main" xmlns="" val="1"/>
                </a:ext>
              </a:extLst>
            </p:spPr>
            <p:txBody>
              <a:bodyPr wrap="square" lIns="45719" tIns="45719" rIns="45719" bIns="45719" numCol="1" anchor="ctr">
                <a:spAutoFit/>
              </a:bodyPr>
              <a:lstStyle>
                <a:lvl1pPr>
                  <a:defRPr sz="3200"/>
                </a:lvl1pPr>
              </a:lstStyle>
              <a:p>
                <a:r>
                  <a:t>find</a:t>
                </a:r>
              </a:p>
            </p:txBody>
          </p:sp>
        </p:grpSp>
        <p:sp>
          <p:nvSpPr>
            <p:cNvPr id="281" name="Rectangle 34"/>
            <p:cNvSpPr/>
            <p:nvPr/>
          </p:nvSpPr>
          <p:spPr>
            <a:xfrm>
              <a:off x="0" y="657188"/>
              <a:ext cx="2214034" cy="1310641"/>
            </a:xfrm>
            <a:prstGeom prst="rect">
              <a:avLst/>
            </a:prstGeom>
            <a:solidFill>
              <a:srgbClr val="FFF2CC"/>
            </a:solidFill>
            <a:ln w="12700" cap="flat">
              <a:solidFill>
                <a:srgbClr val="FFFFFF"/>
              </a:solidFill>
              <a:prstDash val="solid"/>
              <a:miter lim="800000"/>
            </a:ln>
            <a:effectLst/>
            <a:extLst>
              <a:ext uri="{C572A759-6A51-4108-AA02-DFA0A04FC94B}">
                <ma14:wrappingTextBoxFlag xmlns:ma14="http://schemas.microsoft.com/office/mac/drawingml/2011/main" xmlns="" val="1"/>
              </a:ext>
            </a:extLst>
          </p:spPr>
          <p:txBody>
            <a:bodyPr wrap="square" lIns="45719" tIns="45719" rIns="45719" bIns="45719" numCol="1" anchor="ctr">
              <a:spAutoFit/>
            </a:bodyPr>
            <a:lstStyle/>
            <a:p>
              <a:pPr>
                <a:defRPr sz="1600"/>
              </a:pPr>
              <a:r>
                <a:t>detect</a:t>
              </a:r>
              <a:r>
                <a:rPr b="1">
                  <a:solidFill>
                    <a:srgbClr val="0066FF"/>
                  </a:solidFill>
                </a:rPr>
                <a:t>[With]</a:t>
              </a:r>
              <a:endParaRPr>
                <a:solidFill>
                  <a:srgbClr val="FFFFFF"/>
                </a:solidFill>
              </a:endParaRPr>
            </a:p>
            <a:p>
              <a:pPr>
                <a:defRPr sz="1600"/>
              </a:pPr>
              <a:r>
                <a:t>detect</a:t>
              </a:r>
              <a:r>
                <a:rPr b="1">
                  <a:solidFill>
                    <a:srgbClr val="0066FF"/>
                  </a:solidFill>
                </a:rPr>
                <a:t>[With]</a:t>
              </a:r>
              <a:r>
                <a:t>IfNone</a:t>
              </a:r>
            </a:p>
            <a:p>
              <a:pPr>
                <a:defRPr sz="1600"/>
              </a:pPr>
              <a:r>
                <a:t>detect</a:t>
              </a:r>
              <a:r>
                <a:rPr b="1">
                  <a:solidFill>
                    <a:srgbClr val="0066FF"/>
                  </a:solidFill>
                </a:rPr>
                <a:t>[With]</a:t>
              </a:r>
              <a:r>
                <a:t>Optional</a:t>
              </a:r>
              <a:endParaRPr>
                <a:solidFill>
                  <a:srgbClr val="FFFFFF"/>
                </a:solidFill>
              </a:endParaRPr>
            </a:p>
            <a:p>
              <a:pPr>
                <a:defRPr sz="1600"/>
              </a:pPr>
              <a:r>
                <a:t>max</a:t>
              </a:r>
              <a:r>
                <a:rPr b="1">
                  <a:solidFill>
                    <a:srgbClr val="0066FF"/>
                  </a:solidFill>
                </a:rPr>
                <a:t>[By]</a:t>
              </a:r>
              <a:endParaRPr>
                <a:solidFill>
                  <a:srgbClr val="FFFFFF"/>
                </a:solidFill>
              </a:endParaRPr>
            </a:p>
            <a:p>
              <a:pPr>
                <a:defRPr sz="1600"/>
              </a:pPr>
              <a:r>
                <a:t>min</a:t>
              </a:r>
              <a:r>
                <a:rPr b="1">
                  <a:solidFill>
                    <a:srgbClr val="0066FF"/>
                  </a:solidFill>
                </a:rPr>
                <a:t>[By]</a:t>
              </a:r>
            </a:p>
          </p:txBody>
        </p:sp>
        <p:sp>
          <p:nvSpPr>
            <p:cNvPr id="282" name="Straight Connector 35"/>
            <p:cNvSpPr/>
            <p:nvPr/>
          </p:nvSpPr>
          <p:spPr>
            <a:xfrm>
              <a:off x="0" y="650790"/>
              <a:ext cx="2214034" cy="1"/>
            </a:xfrm>
            <a:prstGeom prst="line">
              <a:avLst/>
            </a:prstGeom>
            <a:solidFill>
              <a:srgbClr val="FFF2CC"/>
            </a:solidFill>
            <a:ln w="28575" cap="flat">
              <a:solidFill>
                <a:srgbClr val="000000"/>
              </a:solidFill>
              <a:prstDash val="solid"/>
              <a:miter lim="800000"/>
            </a:ln>
            <a:effectLst/>
          </p:spPr>
          <p:txBody>
            <a:bodyPr wrap="square" lIns="45719" tIns="45719" rIns="45719" bIns="45719" numCol="1" anchor="t">
              <a:noAutofit/>
            </a:bodyPr>
            <a:lstStyle/>
            <a:p>
              <a:endParaRPr/>
            </a:p>
          </p:txBody>
        </p:sp>
      </p:grpSp>
      <p:grpSp>
        <p:nvGrpSpPr>
          <p:cNvPr id="289" name="Group 24"/>
          <p:cNvGrpSpPr/>
          <p:nvPr/>
        </p:nvGrpSpPr>
        <p:grpSpPr>
          <a:xfrm>
            <a:off x="3848574" y="2493104"/>
            <a:ext cx="3089566" cy="2478791"/>
            <a:chOff x="0" y="0"/>
            <a:chExt cx="3089565" cy="2478789"/>
          </a:xfrm>
        </p:grpSpPr>
        <p:grpSp>
          <p:nvGrpSpPr>
            <p:cNvPr id="286" name="Rectangle 25"/>
            <p:cNvGrpSpPr/>
            <p:nvPr/>
          </p:nvGrpSpPr>
          <p:grpSpPr>
            <a:xfrm>
              <a:off x="3" y="0"/>
              <a:ext cx="3089563" cy="650791"/>
              <a:chOff x="0" y="0"/>
              <a:chExt cx="3089561" cy="650790"/>
            </a:xfrm>
          </p:grpSpPr>
          <p:sp>
            <p:nvSpPr>
              <p:cNvPr id="284" name="Rectangle"/>
              <p:cNvSpPr/>
              <p:nvPr/>
            </p:nvSpPr>
            <p:spPr>
              <a:xfrm>
                <a:off x="0" y="-1"/>
                <a:ext cx="3089562" cy="650792"/>
              </a:xfrm>
              <a:prstGeom prst="rect">
                <a:avLst/>
              </a:prstGeom>
              <a:solidFill>
                <a:srgbClr val="E2F0D9"/>
              </a:solidFill>
              <a:ln w="12700" cap="flat">
                <a:solidFill>
                  <a:srgbClr val="FFFFFF"/>
                </a:solidFill>
                <a:prstDash val="solid"/>
                <a:miter lim="800000"/>
              </a:ln>
              <a:effectLst/>
            </p:spPr>
            <p:txBody>
              <a:bodyPr wrap="square" lIns="45719" tIns="45719" rIns="45719" bIns="45719" numCol="1" anchor="ctr">
                <a:noAutofit/>
              </a:bodyPr>
              <a:lstStyle/>
              <a:p>
                <a:pPr>
                  <a:defRPr>
                    <a:solidFill>
                      <a:srgbClr val="FFFFFF"/>
                    </a:solidFill>
                  </a:defRPr>
                </a:pPr>
                <a:endParaRPr/>
              </a:p>
            </p:txBody>
          </p:sp>
          <p:sp>
            <p:nvSpPr>
              <p:cNvPr id="285" name="group"/>
              <p:cNvSpPr txBox="1"/>
              <p:nvPr/>
            </p:nvSpPr>
            <p:spPr>
              <a:xfrm>
                <a:off x="0" y="38375"/>
                <a:ext cx="3089562" cy="574041"/>
              </a:xfrm>
              <a:prstGeom prst="rect">
                <a:avLst/>
              </a:prstGeom>
              <a:noFill/>
              <a:ln w="12700" cap="flat">
                <a:noFill/>
                <a:miter lim="400000"/>
              </a:ln>
              <a:effectLst/>
              <a:extLst>
                <a:ext uri="{C572A759-6A51-4108-AA02-DFA0A04FC94B}">
                  <ma14:wrappingTextBoxFlag xmlns:ma14="http://schemas.microsoft.com/office/mac/drawingml/2011/main" xmlns="" val="1"/>
                </a:ext>
              </a:extLst>
            </p:spPr>
            <p:txBody>
              <a:bodyPr wrap="square" lIns="45719" tIns="45719" rIns="45719" bIns="45719" numCol="1" anchor="ctr">
                <a:spAutoFit/>
              </a:bodyPr>
              <a:lstStyle>
                <a:lvl1pPr>
                  <a:defRPr sz="3200"/>
                </a:lvl1pPr>
              </a:lstStyle>
              <a:p>
                <a:r>
                  <a:t>group</a:t>
                </a:r>
              </a:p>
            </p:txBody>
          </p:sp>
        </p:grpSp>
        <p:sp>
          <p:nvSpPr>
            <p:cNvPr id="287" name="Rectangle 26"/>
            <p:cNvSpPr/>
            <p:nvPr/>
          </p:nvSpPr>
          <p:spPr>
            <a:xfrm>
              <a:off x="0" y="685549"/>
              <a:ext cx="3089562" cy="1793241"/>
            </a:xfrm>
            <a:prstGeom prst="rect">
              <a:avLst/>
            </a:prstGeom>
            <a:solidFill>
              <a:srgbClr val="E2F0D9"/>
            </a:solidFill>
            <a:ln w="12700" cap="flat">
              <a:solidFill>
                <a:srgbClr val="FFFFFF"/>
              </a:solidFill>
              <a:prstDash val="solid"/>
              <a:miter lim="800000"/>
            </a:ln>
            <a:effectLst/>
            <a:extLst>
              <a:ext uri="{C572A759-6A51-4108-AA02-DFA0A04FC94B}">
                <ma14:wrappingTextBoxFlag xmlns:ma14="http://schemas.microsoft.com/office/mac/drawingml/2011/main" xmlns="" val="1"/>
              </a:ext>
            </a:extLst>
          </p:spPr>
          <p:txBody>
            <a:bodyPr wrap="square" lIns="45719" tIns="45719" rIns="45719" bIns="45719" numCol="1" anchor="ctr">
              <a:spAutoFit/>
            </a:bodyPr>
            <a:lstStyle/>
            <a:p>
              <a:pPr>
                <a:defRPr sz="1600"/>
              </a:pPr>
              <a:r>
                <a:t>groupBy</a:t>
              </a:r>
            </a:p>
            <a:p>
              <a:pPr>
                <a:defRPr sz="1600"/>
              </a:pPr>
              <a:r>
                <a:t>groupByEach</a:t>
              </a:r>
            </a:p>
            <a:p>
              <a:pPr>
                <a:defRPr sz="1600"/>
              </a:pPr>
              <a:r>
                <a:t>groupByUniqueKey</a:t>
              </a:r>
            </a:p>
            <a:p>
              <a:pPr>
                <a:defRPr sz="1600"/>
              </a:pPr>
              <a:r>
                <a:t>sumBy</a:t>
              </a:r>
              <a:r>
                <a:rPr b="1">
                  <a:solidFill>
                    <a:srgbClr val="0066FF"/>
                  </a:solidFill>
                </a:rPr>
                <a:t>[Double,Float,Int,Long]</a:t>
              </a:r>
              <a:endParaRPr>
                <a:solidFill>
                  <a:srgbClr val="FFFFFF"/>
                </a:solidFill>
              </a:endParaRPr>
            </a:p>
            <a:p>
              <a:pPr>
                <a:defRPr sz="1600"/>
              </a:pPr>
              <a:r>
                <a:t>sumOf</a:t>
              </a:r>
              <a:r>
                <a:rPr b="1">
                  <a:solidFill>
                    <a:srgbClr val="0066FF"/>
                  </a:solidFill>
                </a:rPr>
                <a:t>[Double,Float,Int,Long]</a:t>
              </a:r>
              <a:endParaRPr>
                <a:solidFill>
                  <a:srgbClr val="FFFFFF"/>
                </a:solidFill>
              </a:endParaRPr>
            </a:p>
            <a:p>
              <a:pPr>
                <a:defRPr sz="1600"/>
              </a:pPr>
              <a:r>
                <a:t>aggregateBy</a:t>
              </a:r>
            </a:p>
            <a:p>
              <a:pPr>
                <a:defRPr sz="1600"/>
              </a:pPr>
              <a:r>
                <a:t>aggregateInPlaceBy</a:t>
              </a:r>
            </a:p>
          </p:txBody>
        </p:sp>
        <p:sp>
          <p:nvSpPr>
            <p:cNvPr id="288" name="Straight Connector 27"/>
            <p:cNvSpPr/>
            <p:nvPr/>
          </p:nvSpPr>
          <p:spPr>
            <a:xfrm>
              <a:off x="0" y="650790"/>
              <a:ext cx="3089562" cy="1"/>
            </a:xfrm>
            <a:prstGeom prst="line">
              <a:avLst/>
            </a:prstGeom>
            <a:solidFill>
              <a:srgbClr val="E2F0D9"/>
            </a:solidFill>
            <a:ln w="28575" cap="flat">
              <a:solidFill>
                <a:srgbClr val="000000"/>
              </a:solidFill>
              <a:prstDash val="solid"/>
              <a:miter lim="800000"/>
            </a:ln>
            <a:effectLst/>
          </p:spPr>
          <p:txBody>
            <a:bodyPr wrap="square" lIns="45719" tIns="45719" rIns="45719" bIns="45719" numCol="1" anchor="t">
              <a:noAutofit/>
            </a:bodyPr>
            <a:lstStyle/>
            <a:p>
              <a:endParaRPr/>
            </a:p>
          </p:txBody>
        </p:sp>
      </p:grpSp>
      <p:sp>
        <p:nvSpPr>
          <p:cNvPr id="2" name="TextBox 1">
            <a:extLst>
              <a:ext uri="{FF2B5EF4-FFF2-40B4-BE49-F238E27FC236}">
                <a16:creationId xmlns:a16="http://schemas.microsoft.com/office/drawing/2014/main" id="{890C5AF5-537C-A608-4161-9D0310BB86B5}"/>
              </a:ext>
            </a:extLst>
          </p:cNvPr>
          <p:cNvSpPr txBox="1"/>
          <p:nvPr/>
        </p:nvSpPr>
        <p:spPr>
          <a:xfrm>
            <a:off x="0" y="612648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1" name="Title 1"/>
          <p:cNvSpPr txBox="1">
            <a:spLocks noGrp="1"/>
          </p:cNvSpPr>
          <p:nvPr>
            <p:ph type="title"/>
          </p:nvPr>
        </p:nvSpPr>
        <p:spPr>
          <a:xfrm>
            <a:off x="838200" y="225379"/>
            <a:ext cx="10515600" cy="792053"/>
          </a:xfrm>
          <a:prstGeom prst="rect">
            <a:avLst/>
          </a:prstGeom>
        </p:spPr>
        <p:txBody>
          <a:bodyPr/>
          <a:lstStyle/>
          <a:p>
            <a:r>
              <a:rPr dirty="0"/>
              <a:t>Methods – Lots More…</a:t>
            </a:r>
          </a:p>
        </p:txBody>
      </p:sp>
      <p:sp>
        <p:nvSpPr>
          <p:cNvPr id="292" name="Slide Number Placeholder 2"/>
          <p:cNvSpPr txBox="1">
            <a:spLocks noGrp="1"/>
          </p:cNvSpPr>
          <p:nvPr>
            <p:ph type="sldNum" sz="quarter" idx="2"/>
          </p:nvPr>
        </p:nvSpPr>
        <p:spPr>
          <a:xfrm>
            <a:off x="11080144" y="6404292"/>
            <a:ext cx="273657" cy="269241"/>
          </a:xfrm>
          <a:prstGeom prst="rect">
            <a:avLst/>
          </a:prstGeom>
          <a:ln w="12700">
            <a:miter lim="400000"/>
          </a:ln>
          <a:extLst>
            <a:ext uri="{C572A759-6A51-4108-AA02-DFA0A04FC94B}">
              <ma14:wrappingTextBoxFlag xmlns:ma14="http://schemas.microsoft.com/office/mac/drawingml/2011/main" xmlns="" val="1"/>
            </a:ext>
          </a:extLst>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Univers"/>
                <a:ea typeface="Univers"/>
                <a:cs typeface="Univers"/>
                <a:sym typeface="Univers"/>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9pPr>
          </a:lstStyle>
          <a:p>
            <a:fld id="{86CB4B4D-7CA3-9044-876B-883B54F8677D}" type="slidenum">
              <a:rPr lang="en-US" smtClean="0"/>
              <a:pPr/>
              <a:t>8</a:t>
            </a:fld>
            <a:endParaRPr/>
          </a:p>
        </p:txBody>
      </p:sp>
      <p:pic>
        <p:nvPicPr>
          <p:cNvPr id="293" name="Picture 4" descr="Picture 4"/>
          <p:cNvPicPr>
            <a:picLocks noChangeAspect="1"/>
          </p:cNvPicPr>
          <p:nvPr/>
        </p:nvPicPr>
        <p:blipFill>
          <a:blip r:embed="rId2"/>
          <a:stretch>
            <a:fillRect/>
          </a:stretch>
        </p:blipFill>
        <p:spPr>
          <a:xfrm>
            <a:off x="1524000" y="1083336"/>
            <a:ext cx="9144000" cy="5715001"/>
          </a:xfrm>
          <a:prstGeom prst="rect">
            <a:avLst/>
          </a:prstGeom>
          <a:ln w="12700">
            <a:miter lim="400000"/>
          </a:ln>
        </p:spPr>
      </p:pic>
      <p:sp>
        <p:nvSpPr>
          <p:cNvPr id="2" name="TextBox 1">
            <a:extLst>
              <a:ext uri="{FF2B5EF4-FFF2-40B4-BE49-F238E27FC236}">
                <a16:creationId xmlns:a16="http://schemas.microsoft.com/office/drawing/2014/main" id="{65B1D55D-22F9-FB62-7B3D-F168B21E7D4D}"/>
              </a:ext>
            </a:extLst>
          </p:cNvPr>
          <p:cNvSpPr txBox="1"/>
          <p:nvPr/>
        </p:nvSpPr>
        <p:spPr>
          <a:xfrm>
            <a:off x="0" y="612648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7C0EFB-FEBF-51F4-14C4-31463B2F5A8B}"/>
              </a:ext>
            </a:extLst>
          </p:cNvPr>
          <p:cNvSpPr>
            <a:spLocks noGrp="1"/>
          </p:cNvSpPr>
          <p:nvPr>
            <p:ph type="title"/>
          </p:nvPr>
        </p:nvSpPr>
        <p:spPr/>
        <p:txBody>
          <a:bodyPr/>
          <a:lstStyle/>
          <a:p>
            <a:r>
              <a:rPr lang="en-US" dirty="0"/>
              <a:t>Simulating Method Categories in Java</a:t>
            </a:r>
          </a:p>
        </p:txBody>
      </p:sp>
      <p:sp>
        <p:nvSpPr>
          <p:cNvPr id="4" name="Slide Number Placeholder 3">
            <a:extLst>
              <a:ext uri="{FF2B5EF4-FFF2-40B4-BE49-F238E27FC236}">
                <a16:creationId xmlns:a16="http://schemas.microsoft.com/office/drawing/2014/main" id="{2D47081E-1F5C-17DB-0560-70997DA10A6B}"/>
              </a:ext>
            </a:extLst>
          </p:cNvPr>
          <p:cNvSpPr>
            <a:spLocks noGrp="1"/>
          </p:cNvSpPr>
          <p:nvPr>
            <p:ph type="sldNum" sz="quarter" idx="12"/>
          </p:nvPr>
        </p:nvSpPr>
        <p:spPr>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Univers"/>
                <a:ea typeface="Univers"/>
                <a:cs typeface="Univers"/>
                <a:sym typeface="Univers"/>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9pPr>
          </a:lstStyle>
          <a:p>
            <a:fld id="{86CB4B4D-7CA3-9044-876B-883B54F8677D}" type="slidenum">
              <a:rPr lang="en-US" smtClean="0"/>
              <a:pPr/>
              <a:t>9</a:t>
            </a:fld>
            <a:endParaRPr lang="en-US"/>
          </a:p>
        </p:txBody>
      </p:sp>
      <p:pic>
        <p:nvPicPr>
          <p:cNvPr id="5" name="Picture 4">
            <a:extLst>
              <a:ext uri="{FF2B5EF4-FFF2-40B4-BE49-F238E27FC236}">
                <a16:creationId xmlns:a16="http://schemas.microsoft.com/office/drawing/2014/main" id="{B9E541C5-0700-ACBB-5D6C-5D47E474AE7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15302" y="1825720"/>
            <a:ext cx="7772400" cy="4708783"/>
          </a:xfrm>
          <a:prstGeom prst="rect">
            <a:avLst/>
          </a:prstGeom>
        </p:spPr>
      </p:pic>
      <p:sp>
        <p:nvSpPr>
          <p:cNvPr id="6" name="TextBox 5">
            <a:extLst>
              <a:ext uri="{FF2B5EF4-FFF2-40B4-BE49-F238E27FC236}">
                <a16:creationId xmlns:a16="http://schemas.microsoft.com/office/drawing/2014/main" id="{207EEA28-248E-27BD-0AC3-AC7DB5307E67}"/>
              </a:ext>
            </a:extLst>
          </p:cNvPr>
          <p:cNvSpPr txBox="1"/>
          <p:nvPr/>
        </p:nvSpPr>
        <p:spPr>
          <a:xfrm>
            <a:off x="0" y="612648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Tree>
    <p:extLst>
      <p:ext uri="{BB962C8B-B14F-4D97-AF65-F5344CB8AC3E}">
        <p14:creationId xmlns:p14="http://schemas.microsoft.com/office/powerpoint/2010/main" val="28852448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5" name="Title 1"/>
          <p:cNvSpPr txBox="1">
            <a:spLocks noGrp="1"/>
          </p:cNvSpPr>
          <p:nvPr>
            <p:ph type="title"/>
          </p:nvPr>
        </p:nvSpPr>
        <p:spPr>
          <a:xfrm>
            <a:off x="838200" y="225379"/>
            <a:ext cx="10515600" cy="792053"/>
          </a:xfrm>
          <a:prstGeom prst="rect">
            <a:avLst/>
          </a:prstGeom>
        </p:spPr>
        <p:txBody>
          <a:bodyPr/>
          <a:lstStyle/>
          <a:p>
            <a:r>
              <a:t>Let’s Do It!</a:t>
            </a:r>
          </a:p>
        </p:txBody>
      </p:sp>
      <p:sp>
        <p:nvSpPr>
          <p:cNvPr id="296" name="Slide Number Placeholder 2"/>
          <p:cNvSpPr txBox="1">
            <a:spLocks noGrp="1"/>
          </p:cNvSpPr>
          <p:nvPr>
            <p:ph type="sldNum" sz="quarter" idx="2"/>
          </p:nvPr>
        </p:nvSpPr>
        <p:spPr>
          <a:xfrm>
            <a:off x="11080144" y="6404292"/>
            <a:ext cx="273657" cy="269241"/>
          </a:xfrm>
          <a:prstGeom prst="rect">
            <a:avLst/>
          </a:prstGeom>
          <a:ln w="12700">
            <a:miter lim="400000"/>
          </a:ln>
          <a:extLst>
            <a:ext uri="{C572A759-6A51-4108-AA02-DFA0A04FC94B}">
              <ma14:wrappingTextBoxFlag xmlns:ma14="http://schemas.microsoft.com/office/mac/drawingml/2011/main" xmlns="" val="1"/>
            </a:ext>
          </a:extLst>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Univers"/>
                <a:ea typeface="Univers"/>
                <a:cs typeface="Univers"/>
                <a:sym typeface="Univers"/>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9pPr>
          </a:lstStyle>
          <a:p>
            <a:fld id="{86CB4B4D-7CA3-9044-876B-883B54F8677D}" type="slidenum">
              <a:rPr lang="en-US" smtClean="0"/>
              <a:pPr/>
              <a:t>10</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151F16C-4618-1254-5A93-A7469A694844}"/>
              </a:ext>
            </a:extLst>
          </p:cNvPr>
          <p:cNvSpPr>
            <a:spLocks noGrp="1"/>
          </p:cNvSpPr>
          <p:nvPr>
            <p:ph type="title"/>
          </p:nvPr>
        </p:nvSpPr>
        <p:spPr/>
        <p:txBody>
          <a:bodyPr/>
          <a:lstStyle/>
          <a:p>
            <a:r>
              <a:rPr lang="en-US" dirty="0">
                <a:latin typeface="Aptos Narrow" panose="020B0004020202020204" pitchFamily="34" charset="0"/>
              </a:rPr>
              <a:t>Memory: Methodology</a:t>
            </a:r>
          </a:p>
        </p:txBody>
      </p:sp>
      <p:sp>
        <p:nvSpPr>
          <p:cNvPr id="5" name="Text Placeholder 4">
            <a:extLst>
              <a:ext uri="{FF2B5EF4-FFF2-40B4-BE49-F238E27FC236}">
                <a16:creationId xmlns:a16="http://schemas.microsoft.com/office/drawing/2014/main" id="{C069B52A-26C4-EE1A-2EFE-9E0E2642DC7A}"/>
              </a:ext>
            </a:extLst>
          </p:cNvPr>
          <p:cNvSpPr>
            <a:spLocks noGrp="1"/>
          </p:cNvSpPr>
          <p:nvPr>
            <p:ph idx="1"/>
          </p:nvPr>
        </p:nvSpPr>
        <p:spPr/>
        <p:txBody>
          <a:bodyPr>
            <a:normAutofit lnSpcReduction="10000"/>
          </a:bodyPr>
          <a:lstStyle/>
          <a:p>
            <a:pPr>
              <a:lnSpc>
                <a:spcPct val="120000"/>
              </a:lnSpc>
            </a:pPr>
            <a:r>
              <a:rPr lang="en-US" dirty="0">
                <a:latin typeface="Aptos" panose="020B0004020202020204" pitchFamily="34" charset="0"/>
              </a:rPr>
              <a:t>Java Object Layout (JOL) - </a:t>
            </a:r>
            <a:r>
              <a:rPr lang="en-US" u="sng" dirty="0">
                <a:latin typeface="Aptos" panose="020B0004020202020204" pitchFamily="34" charset="0"/>
                <a:hlinkClick r:id="rId2"/>
              </a:rPr>
              <a:t>OpenJDK Code Tools Project</a:t>
            </a:r>
            <a:br>
              <a:rPr lang="en-US" u="sng" dirty="0">
                <a:latin typeface="Aptos" panose="020B0004020202020204" pitchFamily="34" charset="0"/>
              </a:rPr>
            </a:br>
            <a:r>
              <a:rPr lang="en-US" sz="2200" i="1" dirty="0">
                <a:latin typeface="Aptos" panose="020B0004020202020204" pitchFamily="34" charset="0"/>
              </a:rPr>
              <a:t>JOL (Java Object Layout) is the tiny toolbox to analyze object layout schemes in JVMs. These tools are using Unsafe, JVMTI, and Serviceability Agent (SA) heavily to decoder the actual object layout, footprint, and references. This makes JOL much more accurate than other tools relying on heap dumps, specification assumptions, etc.</a:t>
            </a:r>
            <a:endParaRPr lang="en-US" sz="2200" dirty="0">
              <a:latin typeface="Aptos" panose="020B0004020202020204" pitchFamily="34" charset="0"/>
            </a:endParaRPr>
          </a:p>
          <a:p>
            <a:pPr marL="1005839" lvl="2" indent="0">
              <a:lnSpc>
                <a:spcPts val="1500"/>
              </a:lnSpc>
              <a:buNone/>
            </a:pPr>
            <a:r>
              <a:rPr lang="en-US" sz="1700" dirty="0">
                <a:solidFill>
                  <a:schemeClr val="accent1">
                    <a:lumMod val="50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&lt;dependency&gt;</a:t>
            </a:r>
          </a:p>
          <a:p>
            <a:pPr marL="1005839" lvl="2" indent="0">
              <a:lnSpc>
                <a:spcPts val="1500"/>
              </a:lnSpc>
              <a:buNone/>
            </a:pPr>
            <a:r>
              <a:rPr lang="en-US" sz="1700" dirty="0">
                <a:solidFill>
                  <a:schemeClr val="accent1">
                    <a:lumMod val="50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    &lt;</a:t>
            </a:r>
            <a:r>
              <a:rPr lang="en-US" sz="1700" dirty="0" err="1">
                <a:solidFill>
                  <a:schemeClr val="accent1">
                    <a:lumMod val="50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groupId</a:t>
            </a:r>
            <a:r>
              <a:rPr lang="en-US" sz="1700" dirty="0">
                <a:solidFill>
                  <a:schemeClr val="accent1">
                    <a:lumMod val="50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&gt;</a:t>
            </a:r>
            <a:r>
              <a:rPr lang="en-US" sz="1700" dirty="0" err="1">
                <a:solidFill>
                  <a:schemeClr val="accent1">
                    <a:lumMod val="50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org.openjdk.jol</a:t>
            </a:r>
            <a:r>
              <a:rPr lang="en-US" sz="1700" dirty="0">
                <a:solidFill>
                  <a:schemeClr val="accent1">
                    <a:lumMod val="50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&lt;/</a:t>
            </a:r>
            <a:r>
              <a:rPr lang="en-US" sz="1700" dirty="0" err="1">
                <a:solidFill>
                  <a:schemeClr val="accent1">
                    <a:lumMod val="50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groupId</a:t>
            </a:r>
            <a:r>
              <a:rPr lang="en-US" sz="1700" dirty="0">
                <a:solidFill>
                  <a:schemeClr val="accent1">
                    <a:lumMod val="50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&gt;</a:t>
            </a:r>
          </a:p>
          <a:p>
            <a:pPr marL="1005839" lvl="2" indent="0">
              <a:lnSpc>
                <a:spcPts val="1500"/>
              </a:lnSpc>
              <a:buNone/>
            </a:pPr>
            <a:r>
              <a:rPr lang="en-US" sz="1700" dirty="0">
                <a:solidFill>
                  <a:schemeClr val="accent1">
                    <a:lumMod val="50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    &lt;</a:t>
            </a:r>
            <a:r>
              <a:rPr lang="en-US" sz="1700" dirty="0" err="1">
                <a:solidFill>
                  <a:schemeClr val="accent1">
                    <a:lumMod val="50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artifactId</a:t>
            </a:r>
            <a:r>
              <a:rPr lang="en-US" sz="1700" dirty="0">
                <a:solidFill>
                  <a:schemeClr val="accent1">
                    <a:lumMod val="50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&gt;jol-core&lt;/</a:t>
            </a:r>
            <a:r>
              <a:rPr lang="en-US" sz="1700" dirty="0" err="1">
                <a:solidFill>
                  <a:schemeClr val="accent1">
                    <a:lumMod val="50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artifactId</a:t>
            </a:r>
            <a:r>
              <a:rPr lang="en-US" sz="1700" dirty="0">
                <a:solidFill>
                  <a:schemeClr val="accent1">
                    <a:lumMod val="50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&gt;</a:t>
            </a:r>
          </a:p>
          <a:p>
            <a:pPr marL="1005839" lvl="2" indent="0">
              <a:lnSpc>
                <a:spcPts val="1500"/>
              </a:lnSpc>
              <a:buNone/>
            </a:pPr>
            <a:r>
              <a:rPr lang="en-US" sz="1700" dirty="0">
                <a:solidFill>
                  <a:schemeClr val="accent1">
                    <a:lumMod val="50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    &lt;version&gt;0.17&lt;/version&gt;</a:t>
            </a:r>
          </a:p>
          <a:p>
            <a:pPr marL="1005839" lvl="2" indent="0">
              <a:lnSpc>
                <a:spcPts val="1500"/>
              </a:lnSpc>
              <a:buNone/>
            </a:pPr>
            <a:r>
              <a:rPr lang="en-US" sz="1700" dirty="0">
                <a:solidFill>
                  <a:schemeClr val="accent1">
                    <a:lumMod val="50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&lt;/dependency&gt;</a:t>
            </a:r>
          </a:p>
          <a:p>
            <a:pPr>
              <a:lnSpc>
                <a:spcPct val="120000"/>
              </a:lnSpc>
            </a:pPr>
            <a:r>
              <a:rPr lang="en-US" dirty="0" err="1">
                <a:latin typeface="Aptos" panose="020B0004020202020204" pitchFamily="34" charset="0"/>
              </a:rPr>
              <a:t>Baeldung</a:t>
            </a:r>
            <a:r>
              <a:rPr lang="en-US" dirty="0">
                <a:latin typeface="Aptos" panose="020B0004020202020204" pitchFamily="34" charset="0"/>
              </a:rPr>
              <a:t> Article: </a:t>
            </a:r>
            <a:r>
              <a:rPr lang="en-US" u="sng" dirty="0">
                <a:latin typeface="Aptos" panose="020B0004020202020204" pitchFamily="34" charset="0"/>
                <a:hlinkClick r:id="rId3"/>
              </a:rPr>
              <a:t>Memory Layout of Objects in Java</a:t>
            </a:r>
            <a:endParaRPr lang="en-US" dirty="0">
              <a:latin typeface="Aptos" panose="020B0004020202020204" pitchFamily="34" charset="0"/>
            </a:endParaRPr>
          </a:p>
          <a:p>
            <a:pPr>
              <a:lnSpc>
                <a:spcPct val="120000"/>
              </a:lnSpc>
            </a:pPr>
            <a:r>
              <a:rPr lang="en-US" dirty="0" err="1">
                <a:latin typeface="Aptos" panose="020B0004020202020204" pitchFamily="34" charset="0"/>
              </a:rPr>
              <a:t>StackOverflow</a:t>
            </a:r>
            <a:r>
              <a:rPr lang="en-US" dirty="0">
                <a:latin typeface="Aptos" panose="020B0004020202020204" pitchFamily="34" charset="0"/>
              </a:rPr>
              <a:t>: </a:t>
            </a:r>
            <a:r>
              <a:rPr lang="en-US" u="sng" dirty="0">
                <a:latin typeface="Aptos" panose="020B0004020202020204" pitchFamily="34" charset="0"/>
                <a:hlinkClick r:id="rId4"/>
              </a:rPr>
              <a:t>Does Java Object Layout work with Java Records?</a:t>
            </a:r>
            <a:endParaRPr lang="en-US" u="sng" dirty="0">
              <a:latin typeface="Aptos" panose="020B0004020202020204" pitchFamily="34" charset="0"/>
            </a:endParaRPr>
          </a:p>
          <a:p>
            <a:pPr>
              <a:lnSpc>
                <a:spcPct val="120000"/>
              </a:lnSpc>
            </a:pPr>
            <a:endParaRPr lang="en-US" dirty="0"/>
          </a:p>
        </p:txBody>
      </p:sp>
      <p:sp>
        <p:nvSpPr>
          <p:cNvPr id="2" name="Slide Number Placeholder 3">
            <a:extLst>
              <a:ext uri="{FF2B5EF4-FFF2-40B4-BE49-F238E27FC236}">
                <a16:creationId xmlns:a16="http://schemas.microsoft.com/office/drawing/2014/main" id="{44A95D11-0AC3-97A6-1DF6-DF32247DAB93}"/>
              </a:ext>
            </a:extLst>
          </p:cNvPr>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6E087A0-8E33-4AD2-B40F-AC5841A95ADE}" type="slidenum">
              <a:rPr lang="en-US" smtClean="0"/>
              <a:pPr/>
              <a:t>11</a:t>
            </a:fld>
            <a:endParaRPr lang="en-US"/>
          </a:p>
        </p:txBody>
      </p:sp>
    </p:spTree>
    <p:extLst>
      <p:ext uri="{BB962C8B-B14F-4D97-AF65-F5344CB8AC3E}">
        <p14:creationId xmlns:p14="http://schemas.microsoft.com/office/powerpoint/2010/main" val="22823499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60AB49-38AB-57FF-50F3-2616A8B26AB0}"/>
              </a:ext>
            </a:extLst>
          </p:cNvPr>
          <p:cNvSpPr>
            <a:spLocks noGrp="1"/>
          </p:cNvSpPr>
          <p:nvPr>
            <p:ph type="title"/>
          </p:nvPr>
        </p:nvSpPr>
        <p:spPr>
          <a:xfrm>
            <a:off x="838200" y="228600"/>
            <a:ext cx="10515600" cy="822960"/>
          </a:xfrm>
        </p:spPr>
        <p:txBody>
          <a:bodyPr/>
          <a:lstStyle/>
          <a:p>
            <a:r>
              <a:rPr lang="en-US" dirty="0"/>
              <a:t>Memory: Generation Set</a:t>
            </a:r>
          </a:p>
        </p:txBody>
      </p:sp>
      <p:pic>
        <p:nvPicPr>
          <p:cNvPr id="8" name="Graphic 7">
            <a:extLst>
              <a:ext uri="{FF2B5EF4-FFF2-40B4-BE49-F238E27FC236}">
                <a16:creationId xmlns:a16="http://schemas.microsoft.com/office/drawing/2014/main" id="{F1570142-83C8-8955-DE0C-42FAD9297F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433637" y="1554480"/>
            <a:ext cx="7324725" cy="4591050"/>
          </a:xfrm>
          <a:prstGeom prst="rect">
            <a:avLst/>
          </a:prstGeom>
        </p:spPr>
      </p:pic>
      <p:sp>
        <p:nvSpPr>
          <p:cNvPr id="4" name="TextBox 3">
            <a:extLst>
              <a:ext uri="{FF2B5EF4-FFF2-40B4-BE49-F238E27FC236}">
                <a16:creationId xmlns:a16="http://schemas.microsoft.com/office/drawing/2014/main" id="{E786E335-E445-274E-68AC-FEA3C11A6B3C}"/>
              </a:ext>
            </a:extLst>
          </p:cNvPr>
          <p:cNvSpPr txBox="1"/>
          <p:nvPr/>
        </p:nvSpPr>
        <p:spPr>
          <a:xfrm>
            <a:off x="0" y="612648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
        <p:nvSpPr>
          <p:cNvPr id="6" name="Slide Number Placeholder 3">
            <a:extLst>
              <a:ext uri="{FF2B5EF4-FFF2-40B4-BE49-F238E27FC236}">
                <a16:creationId xmlns:a16="http://schemas.microsoft.com/office/drawing/2014/main" id="{6C85345A-E1C4-DC5C-4E8B-1F45080A681B}"/>
              </a:ext>
            </a:extLst>
          </p:cNvPr>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6E087A0-8E33-4AD2-B40F-AC5841A95ADE}" type="slidenum">
              <a:rPr lang="en-US" smtClean="0"/>
              <a:pPr/>
              <a:t>12</a:t>
            </a:fld>
            <a:endParaRPr lang="en-US"/>
          </a:p>
        </p:txBody>
      </p:sp>
    </p:spTree>
    <p:extLst>
      <p:ext uri="{BB962C8B-B14F-4D97-AF65-F5344CB8AC3E}">
        <p14:creationId xmlns:p14="http://schemas.microsoft.com/office/powerpoint/2010/main" val="30029115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6733F-81CD-789E-E21F-6427BC8FE2D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FD0E529D-352F-4F29-3A52-991E9F763109}"/>
              </a:ext>
            </a:extLst>
          </p:cNvPr>
          <p:cNvSpPr>
            <a:spLocks noGrp="1"/>
          </p:cNvSpPr>
          <p:nvPr>
            <p:ph type="title"/>
          </p:nvPr>
        </p:nvSpPr>
        <p:spPr>
          <a:xfrm>
            <a:off x="838200" y="228600"/>
            <a:ext cx="10515600" cy="822960"/>
          </a:xfrm>
        </p:spPr>
        <p:txBody>
          <a:bodyPr/>
          <a:lstStyle/>
          <a:p>
            <a:r>
              <a:rPr lang="en-US" dirty="0"/>
              <a:t>Memory: Year </a:t>
            </a:r>
            <a:r>
              <a:rPr lang="en-US" dirty="0">
                <a:sym typeface="Wingdings" panose="05000000000000000000" pitchFamily="2" charset="2"/>
              </a:rPr>
              <a:t> </a:t>
            </a:r>
            <a:r>
              <a:rPr lang="en-US" dirty="0"/>
              <a:t>Generation Map</a:t>
            </a:r>
          </a:p>
        </p:txBody>
      </p:sp>
      <p:pic>
        <p:nvPicPr>
          <p:cNvPr id="10" name="Graphic 9">
            <a:extLst>
              <a:ext uri="{FF2B5EF4-FFF2-40B4-BE49-F238E27FC236}">
                <a16:creationId xmlns:a16="http://schemas.microsoft.com/office/drawing/2014/main" id="{577096C1-5837-DBF1-1FD1-00BBD813A85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428875" y="1554480"/>
            <a:ext cx="7334250" cy="4581525"/>
          </a:xfrm>
          <a:prstGeom prst="rect">
            <a:avLst/>
          </a:prstGeom>
        </p:spPr>
      </p:pic>
      <p:sp>
        <p:nvSpPr>
          <p:cNvPr id="2" name="TextBox 1">
            <a:extLst>
              <a:ext uri="{FF2B5EF4-FFF2-40B4-BE49-F238E27FC236}">
                <a16:creationId xmlns:a16="http://schemas.microsoft.com/office/drawing/2014/main" id="{B3DA5404-5710-7A23-A097-7DB2509E272C}"/>
              </a:ext>
            </a:extLst>
          </p:cNvPr>
          <p:cNvSpPr txBox="1"/>
          <p:nvPr/>
        </p:nvSpPr>
        <p:spPr>
          <a:xfrm>
            <a:off x="0" y="612648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
        <p:nvSpPr>
          <p:cNvPr id="6" name="Slide Number Placeholder 3">
            <a:extLst>
              <a:ext uri="{FF2B5EF4-FFF2-40B4-BE49-F238E27FC236}">
                <a16:creationId xmlns:a16="http://schemas.microsoft.com/office/drawing/2014/main" id="{24228BB7-5066-03A8-6BC6-1270B353272B}"/>
              </a:ext>
            </a:extLst>
          </p:cNvPr>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6E087A0-8E33-4AD2-B40F-AC5841A95ADE}" type="slidenum">
              <a:rPr lang="en-US" smtClean="0"/>
              <a:pPr/>
              <a:t>13</a:t>
            </a:fld>
            <a:endParaRPr lang="en-US"/>
          </a:p>
        </p:txBody>
      </p:sp>
    </p:spTree>
    <p:extLst>
      <p:ext uri="{BB962C8B-B14F-4D97-AF65-F5344CB8AC3E}">
        <p14:creationId xmlns:p14="http://schemas.microsoft.com/office/powerpoint/2010/main" val="12591926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8" name="Title 1"/>
          <p:cNvSpPr txBox="1">
            <a:spLocks noGrp="1"/>
          </p:cNvSpPr>
          <p:nvPr>
            <p:ph type="title"/>
          </p:nvPr>
        </p:nvSpPr>
        <p:spPr>
          <a:xfrm>
            <a:off x="838200" y="228600"/>
            <a:ext cx="10515600" cy="822960"/>
          </a:xfrm>
        </p:spPr>
        <p:txBody>
          <a:bodyPr/>
          <a:lstStyle/>
          <a:p>
            <a:r>
              <a:rPr lang="en-US"/>
              <a:t>Memory Usage (Overhead in KB, Count)</a:t>
            </a:r>
          </a:p>
        </p:txBody>
      </p:sp>
      <p:pic>
        <p:nvPicPr>
          <p:cNvPr id="300" name="Picture 23" descr="Picture 23"/>
          <p:cNvPicPr>
            <a:picLocks noChangeAspect="1"/>
          </p:cNvPicPr>
          <p:nvPr/>
        </p:nvPicPr>
        <p:blipFill>
          <a:blip r:embed="rId2"/>
          <a:stretch>
            <a:fillRect/>
          </a:stretch>
        </p:blipFill>
        <p:spPr>
          <a:xfrm>
            <a:off x="6019796" y="1113822"/>
            <a:ext cx="4584591" cy="2755632"/>
          </a:xfrm>
          <a:prstGeom prst="rect">
            <a:avLst/>
          </a:prstGeom>
          <a:ln w="12700">
            <a:miter lim="400000"/>
          </a:ln>
        </p:spPr>
      </p:pic>
      <p:pic>
        <p:nvPicPr>
          <p:cNvPr id="301" name="Picture 25" descr="Picture 25"/>
          <p:cNvPicPr>
            <a:picLocks noChangeAspect="1"/>
          </p:cNvPicPr>
          <p:nvPr/>
        </p:nvPicPr>
        <p:blipFill>
          <a:blip r:embed="rId3"/>
          <a:stretch>
            <a:fillRect/>
          </a:stretch>
        </p:blipFill>
        <p:spPr>
          <a:xfrm>
            <a:off x="6019796" y="3965842"/>
            <a:ext cx="4584590" cy="2755632"/>
          </a:xfrm>
          <a:prstGeom prst="rect">
            <a:avLst/>
          </a:prstGeom>
          <a:ln w="12700">
            <a:miter lim="400000"/>
          </a:ln>
        </p:spPr>
      </p:pic>
      <p:pic>
        <p:nvPicPr>
          <p:cNvPr id="302" name="Picture 3" descr="Picture 3"/>
          <p:cNvPicPr>
            <a:picLocks noChangeAspect="1"/>
          </p:cNvPicPr>
          <p:nvPr/>
        </p:nvPicPr>
        <p:blipFill>
          <a:blip r:embed="rId4"/>
          <a:stretch>
            <a:fillRect/>
          </a:stretch>
        </p:blipFill>
        <p:spPr>
          <a:xfrm>
            <a:off x="1071312" y="3965842"/>
            <a:ext cx="4584591" cy="2755632"/>
          </a:xfrm>
          <a:prstGeom prst="rect">
            <a:avLst/>
          </a:prstGeom>
          <a:ln w="12700">
            <a:miter lim="400000"/>
          </a:ln>
        </p:spPr>
      </p:pic>
      <p:pic>
        <p:nvPicPr>
          <p:cNvPr id="303" name="Picture 4" descr="Picture 4"/>
          <p:cNvPicPr>
            <a:picLocks noChangeAspect="1"/>
          </p:cNvPicPr>
          <p:nvPr/>
        </p:nvPicPr>
        <p:blipFill>
          <a:blip r:embed="rId5"/>
          <a:stretch>
            <a:fillRect/>
          </a:stretch>
        </p:blipFill>
        <p:spPr>
          <a:xfrm>
            <a:off x="1071312" y="1113820"/>
            <a:ext cx="4584590" cy="2755632"/>
          </a:xfrm>
          <a:prstGeom prst="rect">
            <a:avLst/>
          </a:prstGeom>
          <a:ln w="12700">
            <a:miter lim="400000"/>
          </a:ln>
        </p:spPr>
      </p:pic>
      <p:sp>
        <p:nvSpPr>
          <p:cNvPr id="3" name="Slide Number Placeholder 3">
            <a:extLst>
              <a:ext uri="{FF2B5EF4-FFF2-40B4-BE49-F238E27FC236}">
                <a16:creationId xmlns:a16="http://schemas.microsoft.com/office/drawing/2014/main" id="{335CF4D5-6163-198D-56D4-EC065B95D58C}"/>
              </a:ext>
            </a:extLst>
          </p:cNvPr>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6E087A0-8E33-4AD2-B40F-AC5841A95ADE}" type="slidenum">
              <a:rPr lang="en-US" smtClean="0"/>
              <a:pPr/>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7D392D-3C0F-3CB5-415F-84EBA8E0A6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4A0791-7C6D-65B9-E5F6-B92BE2FBC89A}"/>
              </a:ext>
            </a:extLst>
          </p:cNvPr>
          <p:cNvSpPr>
            <a:spLocks noGrp="1"/>
          </p:cNvSpPr>
          <p:nvPr>
            <p:ph type="title"/>
          </p:nvPr>
        </p:nvSpPr>
        <p:spPr>
          <a:xfrm>
            <a:off x="838200" y="228600"/>
            <a:ext cx="10515600" cy="822960"/>
          </a:xfrm>
        </p:spPr>
        <p:txBody>
          <a:bodyPr>
            <a:normAutofit/>
          </a:bodyPr>
          <a:lstStyle/>
          <a:p>
            <a:r>
              <a:rPr lang="en-US" dirty="0"/>
              <a:t>Eclipse Collections – What’s in It for Me?</a:t>
            </a:r>
          </a:p>
        </p:txBody>
      </p:sp>
      <p:graphicFrame>
        <p:nvGraphicFramePr>
          <p:cNvPr id="7" name="Table 6">
            <a:extLst>
              <a:ext uri="{FF2B5EF4-FFF2-40B4-BE49-F238E27FC236}">
                <a16:creationId xmlns:a16="http://schemas.microsoft.com/office/drawing/2014/main" id="{087FB0F8-F674-4047-BD1B-B60D0B986D75}"/>
              </a:ext>
            </a:extLst>
          </p:cNvPr>
          <p:cNvGraphicFramePr>
            <a:graphicFrameLocks noGrp="1"/>
          </p:cNvGraphicFramePr>
          <p:nvPr/>
        </p:nvGraphicFramePr>
        <p:xfrm>
          <a:off x="1844040" y="1232054"/>
          <a:ext cx="8503920" cy="5151120"/>
        </p:xfrm>
        <a:graphic>
          <a:graphicData uri="http://schemas.openxmlformats.org/drawingml/2006/table">
            <a:tbl>
              <a:tblPr firstRow="1" bandRow="1">
                <a:tableStyleId>{5940675A-B579-460E-94D1-54222C63F5DA}</a:tableStyleId>
              </a:tblPr>
              <a:tblGrid>
                <a:gridCol w="5943600">
                  <a:extLst>
                    <a:ext uri="{9D8B030D-6E8A-4147-A177-3AD203B41FA5}">
                      <a16:colId xmlns:a16="http://schemas.microsoft.com/office/drawing/2014/main" val="762180805"/>
                    </a:ext>
                  </a:extLst>
                </a:gridCol>
                <a:gridCol w="640080">
                  <a:extLst>
                    <a:ext uri="{9D8B030D-6E8A-4147-A177-3AD203B41FA5}">
                      <a16:colId xmlns:a16="http://schemas.microsoft.com/office/drawing/2014/main" val="2493246487"/>
                    </a:ext>
                  </a:extLst>
                </a:gridCol>
                <a:gridCol w="640080">
                  <a:extLst>
                    <a:ext uri="{9D8B030D-6E8A-4147-A177-3AD203B41FA5}">
                      <a16:colId xmlns:a16="http://schemas.microsoft.com/office/drawing/2014/main" val="2844239276"/>
                    </a:ext>
                  </a:extLst>
                </a:gridCol>
                <a:gridCol w="640080">
                  <a:extLst>
                    <a:ext uri="{9D8B030D-6E8A-4147-A177-3AD203B41FA5}">
                      <a16:colId xmlns:a16="http://schemas.microsoft.com/office/drawing/2014/main" val="628579680"/>
                    </a:ext>
                  </a:extLst>
                </a:gridCol>
                <a:gridCol w="640080">
                  <a:extLst>
                    <a:ext uri="{9D8B030D-6E8A-4147-A177-3AD203B41FA5}">
                      <a16:colId xmlns:a16="http://schemas.microsoft.com/office/drawing/2014/main" val="1482180793"/>
                    </a:ext>
                  </a:extLst>
                </a:gridCol>
              </a:tblGrid>
              <a:tr h="1188720">
                <a:tc>
                  <a:txBody>
                    <a:bodyPr/>
                    <a:lstStyle/>
                    <a:p>
                      <a:pPr algn="l"/>
                      <a:r>
                        <a:rPr lang="en-US" sz="1600" b="1" i="0" dirty="0">
                          <a:latin typeface="Univers" panose="020B0503020202020204" pitchFamily="34" charset="0"/>
                        </a:rPr>
                        <a:t>Features</a:t>
                      </a:r>
                      <a:endParaRPr lang="en-US" sz="1600" dirty="0">
                        <a:latin typeface="Univers" panose="020B0503020202020204" pitchFamily="34" charset="0"/>
                      </a:endParaRPr>
                    </a:p>
                  </a:txBody>
                  <a:tcPr marB="137160" anchor="b">
                    <a:lnL w="12700" cmpd="sng">
                      <a:noFill/>
                    </a:lnL>
                    <a:lnR w="12700" cmpd="sng">
                      <a:noFill/>
                    </a:lnR>
                    <a:lnT w="12700" cmpd="sng">
                      <a:noFill/>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200" b="1" i="0" dirty="0">
                          <a:latin typeface="Univers" panose="020B0503020202020204" pitchFamily="34" charset="0"/>
                        </a:rPr>
                        <a:t>Productivity </a:t>
                      </a:r>
                    </a:p>
                  </a:txBody>
                  <a:tcPr marB="137160" vert="vert" anchor="ctr">
                    <a:lnL w="12700" cmpd="sng">
                      <a:noFill/>
                    </a:lnL>
                    <a:lnR w="12700" cmpd="sng">
                      <a:noFill/>
                    </a:lnR>
                    <a:lnT w="12700" cmpd="sng">
                      <a:noFill/>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1DDFF"/>
                    </a:solidFill>
                  </a:tcPr>
                </a:tc>
                <a:tc>
                  <a:txBody>
                    <a:bodyPr/>
                    <a:lstStyle/>
                    <a:p>
                      <a:pPr algn="r"/>
                      <a:r>
                        <a:rPr lang="en-US" sz="1200" b="1" i="0" dirty="0">
                          <a:latin typeface="Univers" panose="020B0503020202020204" pitchFamily="34" charset="0"/>
                        </a:rPr>
                        <a:t>Performance </a:t>
                      </a:r>
                    </a:p>
                  </a:txBody>
                  <a:tcPr marB="137160" vert="vert" anchor="ctr">
                    <a:lnL w="12700" cmpd="sng">
                      <a:noFill/>
                    </a:lnL>
                    <a:lnR w="12700" cmpd="sng">
                      <a:noFill/>
                    </a:lnR>
                    <a:lnT w="12700" cmpd="sng">
                      <a:noFill/>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algn="r"/>
                      <a:r>
                        <a:rPr lang="en-US" sz="1200" b="1" i="0" dirty="0">
                          <a:solidFill>
                            <a:srgbClr val="FF0000"/>
                          </a:solidFill>
                          <a:latin typeface="Univers" panose="020B0503020202020204" pitchFamily="34" charset="0"/>
                        </a:rPr>
                        <a:t>Protection</a:t>
                      </a:r>
                      <a:br>
                        <a:rPr lang="en-US" sz="1200" b="1" i="0" dirty="0">
                          <a:solidFill>
                            <a:srgbClr val="FF0000"/>
                          </a:solidFill>
                          <a:latin typeface="Univers" panose="020B0503020202020204" pitchFamily="34" charset="0"/>
                        </a:rPr>
                      </a:br>
                      <a:r>
                        <a:rPr lang="en-US" sz="1200" b="1" i="0" dirty="0">
                          <a:solidFill>
                            <a:srgbClr val="FF0000"/>
                          </a:solidFill>
                          <a:latin typeface="Univers" panose="020B0503020202020204" pitchFamily="34" charset="0"/>
                        </a:rPr>
                        <a:t>Safety</a:t>
                      </a:r>
                      <a:r>
                        <a:rPr lang="en-US" sz="1200" b="1" i="0" dirty="0">
                          <a:latin typeface="Univers" panose="020B0503020202020204" pitchFamily="34" charset="0"/>
                        </a:rPr>
                        <a:t> </a:t>
                      </a:r>
                    </a:p>
                  </a:txBody>
                  <a:tcPr marB="137160" vert="vert" anchor="ctr">
                    <a:lnL w="12700" cmpd="sng">
                      <a:noFill/>
                    </a:lnL>
                    <a:lnR w="12700" cmpd="sng">
                      <a:noFill/>
                    </a:lnR>
                    <a:lnT w="12700" cmpd="sng">
                      <a:noFill/>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BD"/>
                    </a:solidFill>
                  </a:tcPr>
                </a:tc>
                <a:tc>
                  <a:txBody>
                    <a:bodyPr/>
                    <a:lstStyle/>
                    <a:p>
                      <a:pPr algn="r"/>
                      <a:r>
                        <a:rPr lang="en-US" sz="1200" b="1" i="0" dirty="0">
                          <a:latin typeface="Univers" panose="020B0503020202020204" pitchFamily="34" charset="0"/>
                        </a:rPr>
                        <a:t>Type Safety  </a:t>
                      </a:r>
                    </a:p>
                  </a:txBody>
                  <a:tcPr marB="137160" vert="vert" anchor="ctr">
                    <a:lnL w="12700" cmpd="sng">
                      <a:noFill/>
                    </a:lnL>
                    <a:lnR w="12700" cmpd="sng">
                      <a:noFill/>
                    </a:lnR>
                    <a:lnT w="12700" cmpd="sng">
                      <a:noFill/>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E5E5"/>
                    </a:solidFill>
                  </a:tcPr>
                </a:tc>
                <a:extLst>
                  <a:ext uri="{0D108BD9-81ED-4DB2-BD59-A6C34878D82A}">
                    <a16:rowId xmlns:a16="http://schemas.microsoft.com/office/drawing/2014/main" val="4248254683"/>
                  </a:ext>
                </a:extLst>
              </a:tr>
              <a:tr h="370840">
                <a:tc>
                  <a:txBody>
                    <a:bodyPr/>
                    <a:lstStyle/>
                    <a:p>
                      <a:pPr algn="l"/>
                      <a:r>
                        <a:rPr lang="en-US" sz="1800" dirty="0">
                          <a:latin typeface="Univers" panose="020B0503020202020204" pitchFamily="34" charset="0"/>
                        </a:rPr>
                        <a:t>Rich functional API with good symmetry </a:t>
                      </a: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1DDFF"/>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BD"/>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E5E5"/>
                    </a:solidFill>
                  </a:tcPr>
                </a:tc>
                <a:extLst>
                  <a:ext uri="{0D108BD9-81ED-4DB2-BD59-A6C34878D82A}">
                    <a16:rowId xmlns:a16="http://schemas.microsoft.com/office/drawing/2014/main" val="2765802696"/>
                  </a:ext>
                </a:extLst>
              </a:tr>
              <a:tr h="370840">
                <a:tc>
                  <a:txBody>
                    <a:bodyPr/>
                    <a:lstStyle/>
                    <a:p>
                      <a:pPr algn="l"/>
                      <a:r>
                        <a:rPr lang="en-US" sz="1800" dirty="0"/>
                        <a:t>Memory Efficiency </a:t>
                      </a:r>
                      <a:endParaRPr lang="en-US" sz="1800"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1DDFF"/>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BD"/>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E5E5"/>
                    </a:solidFill>
                  </a:tcPr>
                </a:tc>
                <a:extLst>
                  <a:ext uri="{0D108BD9-81ED-4DB2-BD59-A6C34878D82A}">
                    <a16:rowId xmlns:a16="http://schemas.microsoft.com/office/drawing/2014/main" val="4024684856"/>
                  </a:ext>
                </a:extLst>
              </a:tr>
              <a:tr h="370840">
                <a:tc>
                  <a:txBody>
                    <a:bodyPr/>
                    <a:lstStyle/>
                    <a:p>
                      <a:pPr algn="l"/>
                      <a:r>
                        <a:rPr lang="en-US" sz="1800" dirty="0"/>
                        <a:t>Optimized Eager API </a:t>
                      </a:r>
                      <a:endParaRPr lang="en-US" sz="1800"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1DDFF"/>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BD"/>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E5E5"/>
                    </a:solidFill>
                  </a:tcPr>
                </a:tc>
                <a:extLst>
                  <a:ext uri="{0D108BD9-81ED-4DB2-BD59-A6C34878D82A}">
                    <a16:rowId xmlns:a16="http://schemas.microsoft.com/office/drawing/2014/main" val="1978593091"/>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Primitive Collections </a:t>
                      </a:r>
                      <a:endParaRPr lang="en-US" sz="1800"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1DDFF"/>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BD"/>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E5E5"/>
                    </a:solidFill>
                  </a:tcPr>
                </a:tc>
                <a:extLst>
                  <a:ext uri="{0D108BD9-81ED-4DB2-BD59-A6C34878D82A}">
                    <a16:rowId xmlns:a16="http://schemas.microsoft.com/office/drawing/2014/main" val="334828528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Immutable Collections </a:t>
                      </a:r>
                      <a:endParaRPr lang="en-US" sz="1800"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1DDFF"/>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BD"/>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E5E5"/>
                    </a:solidFill>
                  </a:tcPr>
                </a:tc>
                <a:extLst>
                  <a:ext uri="{0D108BD9-81ED-4DB2-BD59-A6C34878D82A}">
                    <a16:rowId xmlns:a16="http://schemas.microsoft.com/office/drawing/2014/main" val="227291154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Lazy and Parallel Lazy API </a:t>
                      </a:r>
                      <a:endParaRPr lang="en-US" sz="1800"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1DDFF"/>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BD"/>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E5E5"/>
                    </a:solidFill>
                  </a:tcPr>
                </a:tc>
                <a:extLst>
                  <a:ext uri="{0D108BD9-81ED-4DB2-BD59-A6C34878D82A}">
                    <a16:rowId xmlns:a16="http://schemas.microsoft.com/office/drawing/2014/main" val="328162279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Multimap, Bag, </a:t>
                      </a:r>
                      <a:r>
                        <a:rPr lang="en-US" sz="1800" dirty="0" err="1"/>
                        <a:t>BiMap</a:t>
                      </a:r>
                      <a:r>
                        <a:rPr lang="en-US" sz="1800" dirty="0"/>
                        <a:t>, Pool, Interval </a:t>
                      </a:r>
                      <a:endParaRPr lang="en-US" sz="1800"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1DDFF"/>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BD"/>
                    </a:solidFill>
                  </a:tcPr>
                </a:tc>
                <a:tc>
                  <a:txBody>
                    <a:bodyPr/>
                    <a:lstStyle/>
                    <a:p>
                      <a:pPr algn="ct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E5E5"/>
                    </a:solidFill>
                  </a:tcPr>
                </a:tc>
                <a:extLst>
                  <a:ext uri="{0D108BD9-81ED-4DB2-BD59-A6C34878D82A}">
                    <a16:rowId xmlns:a16="http://schemas.microsoft.com/office/drawing/2014/main" val="187186043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Hashing Strategy Data Structures </a:t>
                      </a:r>
                      <a:endParaRPr lang="en-US" sz="1800"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1DDFF"/>
                    </a:solidFill>
                  </a:tcPr>
                </a:tc>
                <a:tc>
                  <a:txBody>
                    <a:bodyPr/>
                    <a:lstStyle/>
                    <a:p>
                      <a:pPr algn="ct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BD"/>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E5E5"/>
                    </a:solidFill>
                  </a:tcPr>
                </a:tc>
                <a:extLst>
                  <a:ext uri="{0D108BD9-81ED-4DB2-BD59-A6C34878D82A}">
                    <a16:rowId xmlns:a16="http://schemas.microsoft.com/office/drawing/2014/main" val="397945503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Multi-reader Data Structures </a:t>
                      </a:r>
                      <a:endParaRPr lang="en-US" sz="1800"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1DDFF"/>
                    </a:solidFill>
                  </a:tcPr>
                </a:tc>
                <a:tc>
                  <a:txBody>
                    <a:bodyPr/>
                    <a:lstStyle/>
                    <a:p>
                      <a:pPr algn="ct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BD"/>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E5E5"/>
                    </a:solidFill>
                  </a:tcPr>
                </a:tc>
                <a:extLst>
                  <a:ext uri="{0D108BD9-81ED-4DB2-BD59-A6C34878D82A}">
                    <a16:rowId xmlns:a16="http://schemas.microsoft.com/office/drawing/2014/main" val="290448383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Mutable and Immutable Collection Factories </a:t>
                      </a:r>
                      <a:endParaRPr lang="en-US" sz="1800"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rgbClr val="F1DDFF"/>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rgbClr val="FFFFBD"/>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rgbClr val="FFE5E5"/>
                    </a:solidFill>
                  </a:tcPr>
                </a:tc>
                <a:extLst>
                  <a:ext uri="{0D108BD9-81ED-4DB2-BD59-A6C34878D82A}">
                    <a16:rowId xmlns:a16="http://schemas.microsoft.com/office/drawing/2014/main" val="2114184197"/>
                  </a:ext>
                </a:extLst>
              </a:tr>
            </a:tbl>
          </a:graphicData>
        </a:graphic>
      </p:graphicFrame>
      <p:sp>
        <p:nvSpPr>
          <p:cNvPr id="5" name="Slide Number Placeholder 3">
            <a:extLst>
              <a:ext uri="{FF2B5EF4-FFF2-40B4-BE49-F238E27FC236}">
                <a16:creationId xmlns:a16="http://schemas.microsoft.com/office/drawing/2014/main" id="{281B4505-03EC-F4D7-73C2-41FC5E11C1B4}"/>
              </a:ext>
            </a:extLst>
          </p:cNvPr>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6E087A0-8E33-4AD2-B40F-AC5841A95ADE}" type="slidenum">
              <a:rPr lang="en-US" smtClean="0"/>
              <a:pPr/>
              <a:t>15</a:t>
            </a:fld>
            <a:endParaRPr lang="en-US"/>
          </a:p>
        </p:txBody>
      </p:sp>
      <p:sp>
        <p:nvSpPr>
          <p:cNvPr id="8" name="TextBox 7">
            <a:extLst>
              <a:ext uri="{FF2B5EF4-FFF2-40B4-BE49-F238E27FC236}">
                <a16:creationId xmlns:a16="http://schemas.microsoft.com/office/drawing/2014/main" id="{931A5B18-EC76-0D07-1117-7770FDB14336}"/>
              </a:ext>
            </a:extLst>
          </p:cNvPr>
          <p:cNvSpPr txBox="1"/>
          <p:nvPr/>
        </p:nvSpPr>
        <p:spPr>
          <a:xfrm>
            <a:off x="3128" y="612542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Tree>
    <p:extLst>
      <p:ext uri="{BB962C8B-B14F-4D97-AF65-F5344CB8AC3E}">
        <p14:creationId xmlns:p14="http://schemas.microsoft.com/office/powerpoint/2010/main" val="13499799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ABA412-CE6A-77D7-4649-3AB93838B83D}"/>
              </a:ext>
            </a:extLst>
          </p:cNvPr>
          <p:cNvSpPr>
            <a:spLocks noGrp="1"/>
          </p:cNvSpPr>
          <p:nvPr>
            <p:ph type="title"/>
          </p:nvPr>
        </p:nvSpPr>
        <p:spPr/>
        <p:txBody>
          <a:bodyPr>
            <a:normAutofit/>
          </a:bodyPr>
          <a:lstStyle/>
          <a:p>
            <a:r>
              <a:rPr lang="en-US"/>
              <a:t>Example: DataFrame-EC</a:t>
            </a:r>
            <a:endParaRPr lang="en-US" dirty="0"/>
          </a:p>
        </p:txBody>
      </p:sp>
      <p:sp>
        <p:nvSpPr>
          <p:cNvPr id="3" name="Content Placeholder 2">
            <a:extLst>
              <a:ext uri="{FF2B5EF4-FFF2-40B4-BE49-F238E27FC236}">
                <a16:creationId xmlns:a16="http://schemas.microsoft.com/office/drawing/2014/main" id="{AF1755EC-F5A3-A627-4AE2-5F65B92463B0}"/>
              </a:ext>
            </a:extLst>
          </p:cNvPr>
          <p:cNvSpPr>
            <a:spLocks noGrp="1"/>
          </p:cNvSpPr>
          <p:nvPr>
            <p:ph idx="1"/>
          </p:nvPr>
        </p:nvSpPr>
        <p:spPr>
          <a:xfrm>
            <a:off x="838200" y="1164922"/>
            <a:ext cx="10515600" cy="518835"/>
          </a:xfrm>
        </p:spPr>
        <p:txBody>
          <a:bodyPr/>
          <a:lstStyle/>
          <a:p>
            <a:pPr marL="0" indent="0" algn="ctr">
              <a:buNone/>
            </a:pPr>
            <a:r>
              <a:rPr lang="en-US"/>
              <a:t>…built on the solid foundation of Eclipse Collections types</a:t>
            </a:r>
          </a:p>
          <a:p>
            <a:pPr marL="0" indent="0" algn="ctr">
              <a:buNone/>
            </a:pPr>
            <a:endParaRPr lang="en-US" dirty="0"/>
          </a:p>
        </p:txBody>
      </p:sp>
      <p:sp>
        <p:nvSpPr>
          <p:cNvPr id="4" name="Slide Number Placeholder 3">
            <a:extLst>
              <a:ext uri="{FF2B5EF4-FFF2-40B4-BE49-F238E27FC236}">
                <a16:creationId xmlns:a16="http://schemas.microsoft.com/office/drawing/2014/main" id="{46487245-B1B3-6984-BCE1-C19BB158CF80}"/>
              </a:ext>
            </a:extLst>
          </p:cNvPr>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6E087A0-8E33-4AD2-B40F-AC5841A95ADE}" type="slidenum">
              <a:rPr lang="en-US" smtClean="0"/>
              <a:pPr/>
              <a:t>16</a:t>
            </a:fld>
            <a:endParaRPr lang="en-US"/>
          </a:p>
        </p:txBody>
      </p:sp>
      <p:pic>
        <p:nvPicPr>
          <p:cNvPr id="6" name="Graphic 5">
            <a:extLst>
              <a:ext uri="{FF2B5EF4-FFF2-40B4-BE49-F238E27FC236}">
                <a16:creationId xmlns:a16="http://schemas.microsoft.com/office/drawing/2014/main" id="{31D391CA-EB22-11A3-49E3-605B690910A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12296" y="1831247"/>
            <a:ext cx="4581525" cy="3352800"/>
          </a:xfrm>
          <a:prstGeom prst="rect">
            <a:avLst/>
          </a:prstGeom>
        </p:spPr>
      </p:pic>
      <p:sp>
        <p:nvSpPr>
          <p:cNvPr id="9" name="TextBox 8">
            <a:extLst>
              <a:ext uri="{FF2B5EF4-FFF2-40B4-BE49-F238E27FC236}">
                <a16:creationId xmlns:a16="http://schemas.microsoft.com/office/drawing/2014/main" id="{61495054-12D5-B6D0-7BE9-CFCC22A911B4}"/>
              </a:ext>
            </a:extLst>
          </p:cNvPr>
          <p:cNvSpPr txBox="1"/>
          <p:nvPr/>
        </p:nvSpPr>
        <p:spPr>
          <a:xfrm>
            <a:off x="3128" y="612542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Tree>
    <p:extLst>
      <p:ext uri="{BB962C8B-B14F-4D97-AF65-F5344CB8AC3E}">
        <p14:creationId xmlns:p14="http://schemas.microsoft.com/office/powerpoint/2010/main" val="28699901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ABA412-CE6A-77D7-4649-3AB93838B83D}"/>
              </a:ext>
            </a:extLst>
          </p:cNvPr>
          <p:cNvSpPr>
            <a:spLocks noGrp="1"/>
          </p:cNvSpPr>
          <p:nvPr>
            <p:ph type="title"/>
          </p:nvPr>
        </p:nvSpPr>
        <p:spPr/>
        <p:txBody>
          <a:bodyPr>
            <a:normAutofit/>
          </a:bodyPr>
          <a:lstStyle/>
          <a:p>
            <a:r>
              <a:rPr lang="en-US"/>
              <a:t>Example: DataFrame-EC</a:t>
            </a:r>
            <a:endParaRPr lang="en-US" dirty="0"/>
          </a:p>
        </p:txBody>
      </p:sp>
      <p:sp>
        <p:nvSpPr>
          <p:cNvPr id="3" name="Content Placeholder 2">
            <a:extLst>
              <a:ext uri="{FF2B5EF4-FFF2-40B4-BE49-F238E27FC236}">
                <a16:creationId xmlns:a16="http://schemas.microsoft.com/office/drawing/2014/main" id="{AF1755EC-F5A3-A627-4AE2-5F65B92463B0}"/>
              </a:ext>
            </a:extLst>
          </p:cNvPr>
          <p:cNvSpPr>
            <a:spLocks noGrp="1"/>
          </p:cNvSpPr>
          <p:nvPr>
            <p:ph idx="1"/>
          </p:nvPr>
        </p:nvSpPr>
        <p:spPr>
          <a:xfrm>
            <a:off x="838200" y="1164922"/>
            <a:ext cx="10515600" cy="518835"/>
          </a:xfrm>
        </p:spPr>
        <p:txBody>
          <a:bodyPr/>
          <a:lstStyle/>
          <a:p>
            <a:pPr marL="0" indent="0" algn="ctr">
              <a:buNone/>
            </a:pPr>
            <a:r>
              <a:rPr lang="en-US"/>
              <a:t>…the foundation, and walls, and joints, and studs, and…</a:t>
            </a:r>
          </a:p>
          <a:p>
            <a:pPr marL="0" indent="0" algn="ctr">
              <a:buNone/>
            </a:pPr>
            <a:endParaRPr lang="en-US" dirty="0"/>
          </a:p>
        </p:txBody>
      </p:sp>
      <p:sp>
        <p:nvSpPr>
          <p:cNvPr id="4" name="Slide Number Placeholder 3">
            <a:extLst>
              <a:ext uri="{FF2B5EF4-FFF2-40B4-BE49-F238E27FC236}">
                <a16:creationId xmlns:a16="http://schemas.microsoft.com/office/drawing/2014/main" id="{46487245-B1B3-6984-BCE1-C19BB158CF80}"/>
              </a:ext>
            </a:extLst>
          </p:cNvPr>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6E087A0-8E33-4AD2-B40F-AC5841A95ADE}" type="slidenum">
              <a:rPr lang="en-US" smtClean="0"/>
              <a:pPr/>
              <a:t>17</a:t>
            </a:fld>
            <a:endParaRPr lang="en-US" dirty="0"/>
          </a:p>
        </p:txBody>
      </p:sp>
      <p:pic>
        <p:nvPicPr>
          <p:cNvPr id="93" name="Graphic 92">
            <a:extLst>
              <a:ext uri="{FF2B5EF4-FFF2-40B4-BE49-F238E27FC236}">
                <a16:creationId xmlns:a16="http://schemas.microsoft.com/office/drawing/2014/main" id="{1DF8A637-887F-4002-15CA-0756C0A3E4B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8162" y="1807371"/>
            <a:ext cx="11115675" cy="4314825"/>
          </a:xfrm>
          <a:prstGeom prst="rect">
            <a:avLst/>
          </a:prstGeom>
        </p:spPr>
      </p:pic>
      <p:sp>
        <p:nvSpPr>
          <p:cNvPr id="8" name="TextBox 7">
            <a:extLst>
              <a:ext uri="{FF2B5EF4-FFF2-40B4-BE49-F238E27FC236}">
                <a16:creationId xmlns:a16="http://schemas.microsoft.com/office/drawing/2014/main" id="{2D0CBBDB-6F49-592D-E4F0-BF5B368D196F}"/>
              </a:ext>
            </a:extLst>
          </p:cNvPr>
          <p:cNvSpPr txBox="1"/>
          <p:nvPr/>
        </p:nvSpPr>
        <p:spPr>
          <a:xfrm>
            <a:off x="3128" y="612542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Tree>
    <p:extLst>
      <p:ext uri="{BB962C8B-B14F-4D97-AF65-F5344CB8AC3E}">
        <p14:creationId xmlns:p14="http://schemas.microsoft.com/office/powerpoint/2010/main" val="268095974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TotalTime>
  <Words>802</Words>
  <Application>Microsoft Office PowerPoint</Application>
  <PresentationFormat>Widescreen</PresentationFormat>
  <Paragraphs>240</Paragraphs>
  <Slides>17</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17</vt:i4>
      </vt:variant>
    </vt:vector>
  </HeadingPairs>
  <TitlesOfParts>
    <vt:vector size="26" baseType="lpstr">
      <vt:lpstr>Aptos</vt:lpstr>
      <vt:lpstr>Aptos Display</vt:lpstr>
      <vt:lpstr>Aptos Narrow</vt:lpstr>
      <vt:lpstr>Arial</vt:lpstr>
      <vt:lpstr>Consolas</vt:lpstr>
      <vt:lpstr>JetBrains Mono Medium</vt:lpstr>
      <vt:lpstr>Univers</vt:lpstr>
      <vt:lpstr>Wingdings</vt:lpstr>
      <vt:lpstr>Office Theme</vt:lpstr>
      <vt:lpstr>Refactoring. to  </vt:lpstr>
      <vt:lpstr>Introduction</vt:lpstr>
      <vt:lpstr>Book: Eclipse Collections Categorically</vt:lpstr>
      <vt:lpstr>Why Refactor to EC?</vt:lpstr>
      <vt:lpstr>Any Types You Need</vt:lpstr>
      <vt:lpstr>Instantiate Them Using Factories</vt:lpstr>
      <vt:lpstr>Methods by Category - Highlights</vt:lpstr>
      <vt:lpstr>Methods – Lots More…</vt:lpstr>
      <vt:lpstr>Simulating Method Categories in Java</vt:lpstr>
      <vt:lpstr>Let’s Do It!</vt:lpstr>
      <vt:lpstr>Memory: Methodology</vt:lpstr>
      <vt:lpstr>Memory: Generation Set</vt:lpstr>
      <vt:lpstr>Memory: Year  Generation Map</vt:lpstr>
      <vt:lpstr>Memory Usage (Overhead in KB, Count)</vt:lpstr>
      <vt:lpstr>Eclipse Collections – What’s in It for Me?</vt:lpstr>
      <vt:lpstr>Example: DataFrame-EC</vt:lpstr>
      <vt:lpstr>Example: DataFrame-EC</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Vladimir Zakharov</dc:creator>
  <cp:lastModifiedBy>Vladimir Zakharov</cp:lastModifiedBy>
  <cp:revision>3</cp:revision>
  <dcterms:created xsi:type="dcterms:W3CDTF">2025-09-21T17:56:41Z</dcterms:created>
  <dcterms:modified xsi:type="dcterms:W3CDTF">2025-09-21T18:09:08Z</dcterms:modified>
</cp:coreProperties>
</file>