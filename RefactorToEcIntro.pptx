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sldIdLst>
    <p:sldId id="334" r:id="rId2"/>
    <p:sldId id="265" r:id="rId3"/>
    <p:sldId id="258" r:id="rId4"/>
    <p:sldId id="259" r:id="rId5"/>
    <p:sldId id="260" r:id="rId6"/>
    <p:sldId id="349" r:id="rId7"/>
    <p:sldId id="348" r:id="rId8"/>
    <p:sldId id="338" r:id="rId9"/>
    <p:sldId id="261" r:id="rId10"/>
    <p:sldId id="343" r:id="rId11"/>
    <p:sldId id="263" r:id="rId12"/>
    <p:sldId id="344" r:id="rId13"/>
    <p:sldId id="347" r:id="rId14"/>
    <p:sldId id="270" r:id="rId15"/>
    <p:sldId id="271" r:id="rId16"/>
    <p:sldId id="264" r:id="rId17"/>
    <p:sldId id="333" r:id="rId18"/>
    <p:sldId id="308" r:id="rId19"/>
    <p:sldId id="309" r:id="rId20"/>
    <p:sldId id="336" r:id="rId21"/>
    <p:sldId id="339" r:id="rId22"/>
    <p:sldId id="340" r:id="rId23"/>
    <p:sldId id="34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69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8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075" y="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CF7272-9B1D-4C9A-BAA4-A2C3BF62B1D2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9100B-F611-4B83-9AF4-01D82287C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2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3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877B5-DBE6-3F46-B290-E941D6ED0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D97D8-1881-94D9-5C3F-017AAD3BC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D83FF-B319-E078-A02D-D484E56B2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9EC34-11B5-9226-36CB-9EDDE40E0A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16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0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A925-E073-1352-4E7A-21B73E753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4F156-E62D-66EE-FCDC-6D3926EAF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CD391-3C43-DFD0-9F66-2DBA31F7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8A291-C87E-4583-AB2D-5CAEB7F4C3DE}" type="datetime1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CB1-D1B7-A4B3-ABEB-255191D5C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AD3C4-4128-4E01-8A40-E85EC52AF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094D-1336-F9EB-9410-5AC7FF8A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5061-A23C-68D7-6DC7-69469FA7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B7132-991D-1E65-604B-E9C14516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79B33-F1DD-498D-93C7-6B8EC548F6D2}" type="datetime1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FBAC5-40B8-83F4-84EA-01EF882C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85073-C5F3-8286-188D-F9F9EA29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Straight Connector 7">
            <a:extLst>
              <a:ext uri="{FF2B5EF4-FFF2-40B4-BE49-F238E27FC236}">
                <a16:creationId xmlns:a16="http://schemas.microsoft.com/office/drawing/2014/main" id="{CF321A31-2616-DCBF-8531-B17C24BD02A1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89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9CE8-3EFF-2D4C-15F5-7E99BE8A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C618E-CD17-C6D2-FC47-2B5123A65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84A6-5333-EE21-43C1-16A36F7D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0CCE4-48AB-4521-B222-52BFE717148C}" type="datetime1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56D9F-BBA6-CB91-0C55-D4BA0543E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211C7-67BB-93D9-1FDC-C0B11263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4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83BC3-AF71-DEAD-9659-297C3DC2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C076-CE50-F5A7-F9C9-1461DC19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4152A-B5FD-36A5-5634-D6799284C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2D4C-0990-B05A-D857-534368D18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19DA7-183B-4551-9BD3-7C8E51B9184E}" type="datetime1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D6045-0A4E-BA7F-2D52-3F5D18E2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4C539-102A-A0E0-5484-64D0C1B0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47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0EF3-EA5C-CB77-F151-EAF17DF6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D74E4-25D8-5225-5249-87DC9086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BBA45-7B63-7F1C-A067-28574A14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DAB50-5088-0827-0FB5-B342767B6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29AF9-7D4A-8D40-993E-A9418A8C9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E4F92-DE73-BC10-9492-C2F67DA4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26BFC-E9D5-40BE-8176-572BC6F88714}" type="datetime1">
              <a:rPr lang="en-US" smtClean="0"/>
              <a:t>9/26/2025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445B52-B932-8510-352A-0816B3CE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E3782E-CDC0-417C-C8A2-07BF34EB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0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20B4-F8FB-3523-76E3-DDD8550DC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01F1B-3F09-C742-AB27-EAFA5300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F6A97-0388-4AFE-AA88-9F8EE659E9FB}" type="datetime1">
              <a:rPr lang="en-US" smtClean="0"/>
              <a:t>9/26/2025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59AB55-FA9C-CFB9-D544-3754A81F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8082B-44FA-D2A9-D3BD-9284FD8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Straight Connector 7">
            <a:extLst>
              <a:ext uri="{FF2B5EF4-FFF2-40B4-BE49-F238E27FC236}">
                <a16:creationId xmlns:a16="http://schemas.microsoft.com/office/drawing/2014/main" id="{BEC36D4D-203D-4D95-7FF0-2C38FE001EB5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8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12927-BCF6-D71D-DBC8-6D5EF5C96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BCB5A-D4E0-47ED-AB71-73E5049E5258}" type="datetime1">
              <a:rPr lang="en-US" smtClean="0"/>
              <a:t>9/26/2025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879E2-0EA0-77F9-CBB8-D827091C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7983D-2467-9A9A-D2E1-DFC7489C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41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FB50-F548-3A92-B738-B657E58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F0F81-AE7B-8FAF-072E-A4D8C30A2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FE31-CD5C-FA74-787B-6FDE7C0A4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E22BD-F087-F4F5-2828-2EB0CB24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B721B-115B-4B8B-AFC8-140F455CE774}" type="datetime1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12E01-670B-7FB9-2477-16B43AEC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5FC-7357-EF61-2A1C-2C846A99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0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AA0B5-09E4-C0A1-5FC1-319D885B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AE16C-98C4-DC0F-D35B-37F173FF9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6D893-93D7-1592-F20E-B2469E2D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7C78-F8AE-7E51-F1A6-6E31AF7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E6149-AA0E-47F5-B01B-3D90BEF64480}" type="datetime1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67550-5A06-201C-FCBA-E19CCD01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84005-F19A-47DB-EE9A-84827E968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01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8A92-C8E5-20FC-58B5-14406984A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8A3B5-9F3C-560F-2CE3-C43A1890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92985-F393-6DBE-EEBA-044F1849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48513-3721-474C-BE80-7871409E66CD}" type="datetime1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F541-A58C-5F96-F1AB-58718D3D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1AD23-804C-FDD2-C7E3-C70C4D1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7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12BE8-6BA6-3FFB-F49A-60496B7BB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91720-C204-4B3E-0BFA-655895412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8C33-BBE4-41C8-DBA0-E396B160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EB91-5253-4CC2-B144-C35513BB77D7}" type="datetime1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9C718-6874-5B7D-0FBE-C532B9CF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7FCB4-C288-4078-3512-4A0D01FC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0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D86B40-7313-A41C-3591-57A0EC36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ED253-66BC-7411-BF01-C98FF7F5C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32747"/>
            <a:ext cx="10515600" cy="4944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A6324-66EE-A965-20FF-AD9A47E1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E06C6-629D-4C3F-AD68-BEBDFC283B8F}" type="datetime1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F221D-9C12-DA76-2B9F-692A6FF49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BF2ED-5C79-4FD8-B35E-819455480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8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javarevisited/how-do-you-know-if-a-java-collection-is-mutable-or-immutable-b397dfc5d231?source=friends_link&amp;sk=4f29c9d4977f76884a75efa51dec353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javarevisited/how-do-you-know-if-a-java-collection-is-mutable-or-immutable-b397dfc5d231?source=friends_link&amp;sk=4f29c9d4977f76884a75efa51dec353e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eldung.com/java-memory-layout" TargetMode="External"/><Relationship Id="rId2" Type="http://schemas.openxmlformats.org/officeDocument/2006/relationships/hyperlink" Target="https://openjdk.org/projects/code-tools/jo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ckoverflow.com/questions/79769855/does-java-object-layout-jol-work-with-java-25-and-compact-object-headers-enabl" TargetMode="External"/><Relationship Id="rId4" Type="http://schemas.openxmlformats.org/officeDocument/2006/relationships/hyperlink" Target="https://stackoverflow.com/questions/76130264/does-java-object-layout-work-with-java-record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clipse-collections/eclipse-collections-kata" TargetMode="External"/><Relationship Id="rId2" Type="http://schemas.openxmlformats.org/officeDocument/2006/relationships/hyperlink" Target="https://github.com/eclipse-collections/eclipse-collection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F5AA-0871-8876-19DB-00AFD273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>
            <a:extLst>
              <a:ext uri="{FF2B5EF4-FFF2-40B4-BE49-F238E27FC236}">
                <a16:creationId xmlns:a16="http://schemas.microsoft.com/office/drawing/2014/main" id="{48A42719-47BA-FEA3-3944-F8ACA128C5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0766" y="879473"/>
            <a:ext cx="10091738" cy="238760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R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efactoring</a:t>
            </a:r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. 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to </a:t>
            </a:r>
            <a:b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</a:br>
            <a:endParaRPr sz="4800" dirty="0"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</p:txBody>
      </p:sp>
      <p:sp>
        <p:nvSpPr>
          <p:cNvPr id="114" name="Subtitle 2">
            <a:extLst>
              <a:ext uri="{FF2B5EF4-FFF2-40B4-BE49-F238E27FC236}">
                <a16:creationId xmlns:a16="http://schemas.microsoft.com/office/drawing/2014/main" id="{CAC379AF-70D8-E715-0558-F253007ED9D7}"/>
              </a:ext>
            </a:extLst>
          </p:cNvPr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59190"/>
            <a:ext cx="9144000" cy="11557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Making Your Java Streams</a:t>
            </a:r>
            <a:b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</a:b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Leaner, Meaner, and Cleaner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8D06-FDEE-DBF2-1974-7291C483823E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8B405-AAF4-89D5-BBEB-99CBB32DF92B}"/>
              </a:ext>
            </a:extLst>
          </p:cNvPr>
          <p:cNvSpPr txBox="1"/>
          <p:nvPr/>
        </p:nvSpPr>
        <p:spPr>
          <a:xfrm>
            <a:off x="521493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94E2E0C-60BE-525B-66B3-A158A54C6C43}"/>
              </a:ext>
            </a:extLst>
          </p:cNvPr>
          <p:cNvSpPr txBox="1">
            <a:spLocks/>
          </p:cNvSpPr>
          <p:nvPr/>
        </p:nvSpPr>
        <p:spPr>
          <a:xfrm>
            <a:off x="1524000" y="5745718"/>
            <a:ext cx="9144000" cy="761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normAutofit lnSpcReduction="10000"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9pPr>
          </a:lstStyle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Donald Raab, Vladimir Zakharov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dev2next • Colorado Springs, CO • September 29 - October 2, 2025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7F2FECC-480C-2F02-FCD7-9A91EC5B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8255" y="1522310"/>
            <a:ext cx="4951962" cy="136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6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idx="1"/>
          </p:nvPr>
        </p:nvSpPr>
        <p:spPr>
          <a:xfrm>
            <a:off x="838200" y="1232747"/>
            <a:ext cx="10515600" cy="49442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What is Eclipse Collections?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Feature rich, memory efficient Java Collections framework</a:t>
            </a:r>
          </a:p>
          <a:p>
            <a:pPr>
              <a:lnSpc>
                <a:spcPct val="110000"/>
              </a:lnSpc>
            </a:pPr>
            <a:r>
              <a:rPr lang="en-US" dirty="0"/>
              <a:t>History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started off as an internal collections</a:t>
            </a:r>
            <a:br>
              <a:rPr lang="en-US" dirty="0"/>
            </a:br>
            <a:r>
              <a:rPr lang="en-US" dirty="0"/>
              <a:t>framework named Caramel at Goldman Sachs in 2004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In 2012, it was open sourced to GitHub as a project called </a:t>
            </a:r>
            <a:r>
              <a:rPr lang="en-US" dirty="0">
                <a:hlinkClick r:id="rId3"/>
              </a:rPr>
              <a:t>GS Collections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GS Collections was migrated to the Eclipse Foundation, re-branded as </a:t>
            </a:r>
            <a:r>
              <a:rPr lang="en-US" dirty="0">
                <a:hlinkClick r:id="rId4"/>
              </a:rPr>
              <a:t>Eclipse Collections</a:t>
            </a:r>
            <a:r>
              <a:rPr lang="en-US" dirty="0"/>
              <a:t> in 2015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12.0 (Java 11+) &amp; 13.0 (Java 17+) released in June 2025</a:t>
            </a:r>
          </a:p>
          <a:p>
            <a:pPr>
              <a:lnSpc>
                <a:spcPct val="110000"/>
              </a:lnSpc>
            </a:pPr>
            <a:r>
              <a:rPr lang="en-US" dirty="0"/>
              <a:t>Learn Eclipse Collections with </a:t>
            </a:r>
            <a:r>
              <a:rPr lang="en-US" dirty="0">
                <a:hlinkClick r:id="rId5"/>
              </a:rPr>
              <a:t>Kata</a:t>
            </a:r>
          </a:p>
          <a:p>
            <a:pPr>
              <a:lnSpc>
                <a:spcPct val="110000"/>
              </a:lnSpc>
            </a:pPr>
            <a:r>
              <a:rPr lang="en-US" dirty="0"/>
              <a:t>Eclipse Collections is </a:t>
            </a:r>
            <a:r>
              <a:rPr lang="en-US" dirty="0">
                <a:hlinkClick r:id="rId6"/>
              </a:rPr>
              <a:t>open for contributions</a:t>
            </a:r>
            <a:r>
              <a:rPr lang="en-US" dirty="0"/>
              <a:t>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951FD-72B5-1819-93DD-3D1D3503E3C2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41E92-7F43-0355-4145-C0CFE4F8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8"/>
            <a:ext cx="10515600" cy="822960"/>
          </a:xfrm>
          <a:prstGeom prst="rect">
            <a:avLst/>
          </a:prstGeom>
        </p:spPr>
        <p:txBody>
          <a:bodyPr/>
          <a:lstStyle/>
          <a:p>
            <a:r>
              <a:rPr dirty="0"/>
              <a:t>Why Refactor to EC?</a:t>
            </a:r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rPr dirty="0"/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rPr dirty="0" err="1"/>
                  <a:t>TestUtils</a:t>
                </a:r>
                <a:endParaRPr dirty="0"/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2450E-B314-8D09-28D5-7D3BFF37FA73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D37C5-CCDF-6C03-A0F7-365594D16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dirty="0"/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MutableIntList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LongStack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SortedBagMultimap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ImmutableObjectLongMap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MutableSortedSetMultimap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06A3-FBFF-CA24-15CE-B1374E069D0C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A433A-D6D5-F5C2-9352-3775078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9765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graphicFrame>
        <p:nvGraphicFramePr>
          <p:cNvPr id="238" name="Table 3"/>
          <p:cNvGraphicFramePr/>
          <p:nvPr>
            <p:extLst>
              <p:ext uri="{D42A27DB-BD31-4B8C-83A1-F6EECF244321}">
                <p14:modId xmlns:p14="http://schemas.microsoft.com/office/powerpoint/2010/main" val="3985011068"/>
              </p:ext>
            </p:extLst>
          </p:nvPr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/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Primitive Type</a:t>
                      </a:r>
                      <a:r>
                        <a:rPr lang="en-US" b="1" baseline="30000" dirty="0"/>
                        <a:t>*</a:t>
                      </a:r>
                      <a:endParaRPr b="1" baseline="30000" dirty="0"/>
                    </a:p>
                  </a:txBody>
                  <a:tcPr marL="45720" marR="45720" anchor="b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Lazy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Boolean</a:t>
                      </a:r>
                      <a:br>
                        <a:rPr dirty="0"/>
                      </a:br>
                      <a:r>
                        <a:rPr dirty="0"/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Short</a:t>
                      </a:r>
                    </a:p>
                  </a:txBody>
                  <a:tcPr marL="45720" marR="45720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BiMaps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SortedBags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SortedSets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Stacks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</a:t>
                      </a:r>
                      <a:r>
                        <a:rPr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asLazy</a:t>
                      </a: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380197"/>
            <a:ext cx="920634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LongStacks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b="1" i="1" dirty="0" err="1">
                <a:solidFill>
                  <a:srgbClr val="660E7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.with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).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asLazy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75073" y="6068286"/>
            <a:ext cx="304185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LazyLongIterable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16255"/>
            <a:ext cx="3969329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ImmutableLongStack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5D627A-BC4C-5496-C154-CB951FEDAFD1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0D15EA-778D-05EC-B96F-D7585E1D7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407409"/>
              </p:ext>
            </p:extLst>
          </p:nvPr>
        </p:nvGraphicFramePr>
        <p:xfrm>
          <a:off x="1032568" y="4648849"/>
          <a:ext cx="1353444" cy="518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031">
                  <a:extLst>
                    <a:ext uri="{9D8B030D-6E8A-4147-A177-3AD203B41FA5}">
                      <a16:colId xmlns:a16="http://schemas.microsoft.com/office/drawing/2014/main" val="3255514871"/>
                    </a:ext>
                  </a:extLst>
                </a:gridCol>
                <a:gridCol w="1014413">
                  <a:extLst>
                    <a:ext uri="{9D8B030D-6E8A-4147-A177-3AD203B41FA5}">
                      <a16:colId xmlns:a16="http://schemas.microsoft.com/office/drawing/2014/main" val="627946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baseline="0" dirty="0"/>
                        <a:t>* </a:t>
                      </a:r>
                      <a:endParaRPr lang="en-US" sz="1400" b="1" i="1" baseline="0" dirty="0"/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Pick two</a:t>
                      </a:r>
                      <a:br>
                        <a:rPr lang="en-US" sz="1400" i="1" dirty="0"/>
                      </a:br>
                      <a:r>
                        <a:rPr lang="en-US" sz="1400" i="1" dirty="0"/>
                        <a:t>for maps</a:t>
                      </a:r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9495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BC222FD-97C5-4176-B56B-FA9332F7BEBF}"/>
              </a:ext>
            </a:extLst>
          </p:cNvPr>
          <p:cNvCxnSpPr>
            <a:endCxn id="4" idx="0"/>
          </p:cNvCxnSpPr>
          <p:nvPr/>
        </p:nvCxnSpPr>
        <p:spPr>
          <a:xfrm>
            <a:off x="1031513" y="4648849"/>
            <a:ext cx="6777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D2E3A2-24E6-FDAF-25E2-D07BD6FC9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990B6-0667-0702-98CB-3F59DB561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8BB24-7855-E523-8133-360E06625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6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DE60E9-30C9-8C4B-7FA3-64A247631702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60EE34D-975E-93CD-57CD-7C8076449D3B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BF92E0-EFB8-CC61-9CCC-14775E91AC8D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7568BD-C56D-8F7B-1C76-BA7CF8A2709A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4280C52-6178-113E-8062-B33F3BC12785}"/>
              </a:ext>
            </a:extLst>
          </p:cNvPr>
          <p:cNvGraphicFramePr>
            <a:graphicFrameLocks noGrp="1"/>
          </p:cNvGraphicFramePr>
          <p:nvPr/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42430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3469650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HashSet&lt;&gt;(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95589FC3-72A7-E0AE-7908-D283DC361C5D}"/>
              </a:ext>
            </a:extLst>
          </p:cNvPr>
          <p:cNvGraphicFramePr>
            <a:graphicFrameLocks noGrp="1"/>
          </p:cNvGraphicFramePr>
          <p:nvPr/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2614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79467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castToSet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A62EB326-A1CC-3F70-3387-229CA7125CDE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D9F9071-8F59-5CC9-B5DB-12963D3B16D4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80D213-724F-2252-1314-BF176C7C8F9E}"/>
              </a:ext>
            </a:extLst>
          </p:cNvPr>
          <p:cNvSpPr/>
          <p:nvPr/>
        </p:nvSpPr>
        <p:spPr>
          <a:xfrm>
            <a:off x="5199373" y="1239934"/>
            <a:ext cx="1793254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ctr"/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1235CCB-890F-42AA-3B47-5A51683A625C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411F28A-C79D-029D-FE04-A477E9D91E9F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CE8453F-24E6-0DF4-E2AC-4B45AAD212FD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B4B6569C-FBD8-4402-3A7F-30D5F46CE1D0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5FA79BAF-0A55-B427-FC5A-5D046BA0258F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12DA848-C6D3-FBE2-0169-BBB99D7F1A01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TextBox 4">
            <a:hlinkClick r:id="rId3"/>
            <a:extLst>
              <a:ext uri="{FF2B5EF4-FFF2-40B4-BE49-F238E27FC236}">
                <a16:creationId xmlns:a16="http://schemas.microsoft.com/office/drawing/2014/main" id="{6EE611B0-890B-C492-9390-B15884DECB3E}"/>
              </a:ext>
            </a:extLst>
          </p:cNvPr>
          <p:cNvSpPr txBox="1"/>
          <p:nvPr/>
        </p:nvSpPr>
        <p:spPr>
          <a:xfrm>
            <a:off x="3143025" y="2565822"/>
            <a:ext cx="5905947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hlinkClick r:id="rId3"/>
              </a:rPr>
              <a:t>How do you know if a collection is mutable or immutable?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7576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9853E-7839-D887-1C2A-D24B07D3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9C4B6-4478-A74D-210A-D9CE9FF42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ED3636-499F-38AE-530C-1CB3854F8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7</a:t>
            </a:fld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84827B-D3BF-B9DC-A0AC-E3F53F2F913E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C771E80-3764-7E52-FFAF-C24D515794ED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39997FA-CCE1-18EE-E455-93CA7652B7A9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E386F-B7B1-DCF9-0709-4D7A514B50C2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A7495635-7E97-97CD-0E4E-4D814ADDE5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775478"/>
              </p:ext>
            </p:extLst>
          </p:nvPr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1889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214312">
                  <a:extLst>
                    <a:ext uri="{9D8B030D-6E8A-4147-A177-3AD203B41FA5}">
                      <a16:colId xmlns:a16="http://schemas.microsoft.com/office/drawing/2014/main" val="1191194110"/>
                    </a:ext>
                  </a:extLst>
                </a:gridCol>
                <a:gridCol w="3275879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0" marR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ArrayList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0" marR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239A8D97-FE28-7570-A56D-D7B1069A0A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361740"/>
              </p:ext>
            </p:extLst>
          </p:nvPr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4747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07334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castToList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ImmutableList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2A3057DF-4A2F-9016-72AB-E1086E1FC4E7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AF6F63C-7E7E-DE85-6DDB-97CD9D3C4181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F6803B-9BA2-6777-E3EE-576E169CD592}"/>
              </a:ext>
            </a:extLst>
          </p:cNvPr>
          <p:cNvSpPr/>
          <p:nvPr/>
        </p:nvSpPr>
        <p:spPr>
          <a:xfrm>
            <a:off x="5141119" y="1239934"/>
            <a:ext cx="1909762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algn="ctr"/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List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C50DB08-F138-D440-00EF-ED7D284AF7CA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92366FC-3468-A36B-3C68-933D79F6C99C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7AEFA2C4-83FF-65AC-A449-2913E2D5B582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793EA71D-1835-59A2-65A3-2F458AA6D11C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8E487A91-B8AB-4D07-A88C-032B3087F382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E06CAD2-DEA5-2D1B-FE01-AC7E9527D80A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5" name="TextBox 4">
            <a:hlinkClick r:id="rId3"/>
            <a:extLst>
              <a:ext uri="{FF2B5EF4-FFF2-40B4-BE49-F238E27FC236}">
                <a16:creationId xmlns:a16="http://schemas.microsoft.com/office/drawing/2014/main" id="{7C78BBAF-C083-832D-12F8-8507D14D4CF4}"/>
              </a:ext>
            </a:extLst>
          </p:cNvPr>
          <p:cNvSpPr txBox="1"/>
          <p:nvPr/>
        </p:nvSpPr>
        <p:spPr>
          <a:xfrm>
            <a:off x="3143025" y="2565822"/>
            <a:ext cx="5905947" cy="36933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dirty="0">
                <a:hlinkClick r:id="rId3"/>
              </a:rPr>
              <a:t>How do you know if a collection is mutable or immutable?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279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CEE7-2521-86AA-E33B-DF7889E6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" descr="Picture 4">
            <a:extLst>
              <a:ext uri="{FF2B5EF4-FFF2-40B4-BE49-F238E27FC236}">
                <a16:creationId xmlns:a16="http://schemas.microsoft.com/office/drawing/2014/main" id="{CB580C99-DE4D-D5F5-BDE9-8C3916DD1CA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65" y="1312918"/>
            <a:ext cx="5369728" cy="5369728"/>
          </a:xfrm>
          <a:prstGeom prst="ellipse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724B78-2286-695B-79DD-F7CE0656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Set/Stream vs. </a:t>
            </a:r>
            <a:r>
              <a:rPr lang="en-US" dirty="0" err="1"/>
              <a:t>ImmutableSet</a:t>
            </a:r>
            <a:endParaRPr lang="en-US" dirty="0"/>
          </a:p>
        </p:txBody>
      </p:sp>
      <p:sp>
        <p:nvSpPr>
          <p:cNvPr id="24" name="ImmutableSet…">
            <a:extLst>
              <a:ext uri="{FF2B5EF4-FFF2-40B4-BE49-F238E27FC236}">
                <a16:creationId xmlns:a16="http://schemas.microsoft.com/office/drawing/2014/main" id="{AC6E8F1E-FC51-1300-A64E-671BDA89383D}"/>
              </a:ext>
            </a:extLst>
          </p:cNvPr>
          <p:cNvSpPr/>
          <p:nvPr/>
        </p:nvSpPr>
        <p:spPr>
          <a:xfrm>
            <a:off x="3652345" y="1266799"/>
            <a:ext cx="5461967" cy="5461966"/>
          </a:xfrm>
          <a:prstGeom prst="ellipse">
            <a:avLst/>
          </a:prstGeom>
          <a:solidFill>
            <a:srgbClr val="C2FEE1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7200" b="1">
                <a:solidFill>
                  <a:srgbClr val="000000"/>
                </a:solidFill>
              </a:defRPr>
            </a:pPr>
            <a:r>
              <a:rPr lang="en-US" sz="3600" dirty="0" err="1"/>
              <a:t>ImmutableSet</a:t>
            </a:r>
            <a:endParaRPr lang="en-US" sz="3600" dirty="0"/>
          </a:p>
          <a:p>
            <a:pPr lvl="1" indent="0" defTabSz="825500">
              <a:defRPr sz="20000" b="1">
                <a:solidFill>
                  <a:srgbClr val="942192"/>
                </a:solidFill>
              </a:defRPr>
            </a:pPr>
            <a:r>
              <a:rPr lang="en-US" sz="8800" dirty="0"/>
              <a:t>158</a:t>
            </a:r>
          </a:p>
        </p:txBody>
      </p:sp>
      <p:sp>
        <p:nvSpPr>
          <p:cNvPr id="25" name="Set…">
            <a:extLst>
              <a:ext uri="{FF2B5EF4-FFF2-40B4-BE49-F238E27FC236}">
                <a16:creationId xmlns:a16="http://schemas.microsoft.com/office/drawing/2014/main" id="{76CADFEC-3728-D2E0-3431-9C4F945F8C7B}"/>
              </a:ext>
            </a:extLst>
          </p:cNvPr>
          <p:cNvSpPr/>
          <p:nvPr/>
        </p:nvSpPr>
        <p:spPr>
          <a:xfrm>
            <a:off x="2893987" y="3529939"/>
            <a:ext cx="1128003" cy="106557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Set</a:t>
            </a:r>
          </a:p>
          <a:p>
            <a:pPr lvl="1" indent="0" defTabSz="825500">
              <a:defRPr sz="3400" b="1">
                <a:solidFill>
                  <a:srgbClr val="942192"/>
                </a:solidFill>
              </a:defRPr>
            </a:pPr>
            <a:r>
              <a:rPr sz="2000" dirty="0"/>
              <a:t>21</a:t>
            </a:r>
          </a:p>
        </p:txBody>
      </p:sp>
      <p:sp>
        <p:nvSpPr>
          <p:cNvPr id="26" name="Stream…">
            <a:extLst>
              <a:ext uri="{FF2B5EF4-FFF2-40B4-BE49-F238E27FC236}">
                <a16:creationId xmlns:a16="http://schemas.microsoft.com/office/drawing/2014/main" id="{459BA0AD-704F-EA8E-968E-2C69DCA89213}"/>
              </a:ext>
            </a:extLst>
          </p:cNvPr>
          <p:cNvSpPr/>
          <p:nvPr/>
        </p:nvSpPr>
        <p:spPr>
          <a:xfrm>
            <a:off x="1997416" y="2372988"/>
            <a:ext cx="2044765" cy="2044765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Stream</a:t>
            </a:r>
          </a:p>
          <a:p>
            <a:pPr defTabSz="825500">
              <a:defRPr sz="4900" b="1">
                <a:solidFill>
                  <a:srgbClr val="942192"/>
                </a:solidFill>
              </a:defRPr>
            </a:pPr>
            <a:r>
              <a:rPr sz="3200" dirty="0"/>
              <a:t>50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856E94A4-D9CE-580A-00C1-65A24B575E66}"/>
              </a:ext>
            </a:extLst>
          </p:cNvPr>
          <p:cNvSpPr txBox="1"/>
          <p:nvPr/>
        </p:nvSpPr>
        <p:spPr>
          <a:xfrm>
            <a:off x="3757973" y="3316497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10</a:t>
            </a:r>
          </a:p>
        </p:txBody>
      </p:sp>
      <p:sp>
        <p:nvSpPr>
          <p:cNvPr id="28" name="Collectors…">
            <a:extLst>
              <a:ext uri="{FF2B5EF4-FFF2-40B4-BE49-F238E27FC236}">
                <a16:creationId xmlns:a16="http://schemas.microsoft.com/office/drawing/2014/main" id="{7F0E9E95-ABF4-1926-1641-67CD10DEED8E}"/>
              </a:ext>
            </a:extLst>
          </p:cNvPr>
          <p:cNvSpPr/>
          <p:nvPr/>
        </p:nvSpPr>
        <p:spPr>
          <a:xfrm>
            <a:off x="8163979" y="2170148"/>
            <a:ext cx="1310872" cy="1310872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1600" dirty="0"/>
              <a:t>Collectors</a:t>
            </a:r>
          </a:p>
          <a:p>
            <a:pPr lvl="1" indent="0" defTabSz="825500">
              <a:defRPr sz="3000" b="1">
                <a:solidFill>
                  <a:srgbClr val="942192"/>
                </a:solidFill>
              </a:defRPr>
            </a:pPr>
            <a:r>
              <a:rPr sz="1600" dirty="0"/>
              <a:t>30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18A84FF-6190-E8A1-E26A-EDE1BA07C652}"/>
              </a:ext>
            </a:extLst>
          </p:cNvPr>
          <p:cNvSpPr txBox="1"/>
          <p:nvPr/>
        </p:nvSpPr>
        <p:spPr>
          <a:xfrm>
            <a:off x="8239690" y="279348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0" name="Collectors2…">
            <a:extLst>
              <a:ext uri="{FF2B5EF4-FFF2-40B4-BE49-F238E27FC236}">
                <a16:creationId xmlns:a16="http://schemas.microsoft.com/office/drawing/2014/main" id="{3B01523C-87A5-30FE-C52B-F2DEB915AD83}"/>
              </a:ext>
            </a:extLst>
          </p:cNvPr>
          <p:cNvSpPr/>
          <p:nvPr/>
        </p:nvSpPr>
        <p:spPr>
          <a:xfrm>
            <a:off x="7278466" y="3182041"/>
            <a:ext cx="3146093" cy="3146093"/>
          </a:xfrm>
          <a:prstGeom prst="ellipse">
            <a:avLst/>
          </a:prstGeom>
          <a:solidFill>
            <a:srgbClr val="A6FCD6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3" defTabSz="825500">
              <a:defRPr sz="4200" b="1">
                <a:solidFill>
                  <a:srgbClr val="000000"/>
                </a:solidFill>
              </a:defRPr>
            </a:pPr>
            <a:r>
              <a:rPr sz="3200" dirty="0"/>
              <a:t>            </a:t>
            </a:r>
            <a:r>
              <a:rPr sz="2200" dirty="0"/>
              <a:t>Collectors2</a:t>
            </a:r>
            <a:r>
              <a:rPr sz="3200" dirty="0"/>
              <a:t>           </a:t>
            </a:r>
            <a:r>
              <a:rPr lang="en-US" sz="3200" dirty="0"/>
              <a:t>	</a:t>
            </a:r>
            <a:r>
              <a:rPr sz="3200" dirty="0">
                <a:solidFill>
                  <a:srgbClr val="942192"/>
                </a:solidFill>
              </a:rPr>
              <a:t>72</a:t>
            </a:r>
          </a:p>
        </p:txBody>
      </p:sp>
      <p:sp>
        <p:nvSpPr>
          <p:cNvPr id="31" name="56">
            <a:extLst>
              <a:ext uri="{FF2B5EF4-FFF2-40B4-BE49-F238E27FC236}">
                <a16:creationId xmlns:a16="http://schemas.microsoft.com/office/drawing/2014/main" id="{ACB7A2EA-54E0-9F90-8503-02EC31B6AC87}"/>
              </a:ext>
            </a:extLst>
          </p:cNvPr>
          <p:cNvSpPr txBox="1"/>
          <p:nvPr/>
        </p:nvSpPr>
        <p:spPr>
          <a:xfrm>
            <a:off x="7755460" y="3824779"/>
            <a:ext cx="553854" cy="595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57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3200" dirty="0"/>
              <a:t>56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5AEDCCFE-AFF5-25F8-9DC4-E508FAEF59F5}"/>
              </a:ext>
            </a:extLst>
          </p:cNvPr>
          <p:cNvSpPr txBox="1"/>
          <p:nvPr/>
        </p:nvSpPr>
        <p:spPr>
          <a:xfrm>
            <a:off x="8709930" y="3242525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3</a:t>
            </a:r>
          </a:p>
        </p:txBody>
      </p:sp>
      <p:sp>
        <p:nvSpPr>
          <p:cNvPr id="33" name="5">
            <a:extLst>
              <a:ext uri="{FF2B5EF4-FFF2-40B4-BE49-F238E27FC236}">
                <a16:creationId xmlns:a16="http://schemas.microsoft.com/office/drawing/2014/main" id="{3A43B2FE-39A2-6759-9A0B-B17635D8F2AE}"/>
              </a:ext>
            </a:extLst>
          </p:cNvPr>
          <p:cNvSpPr txBox="1"/>
          <p:nvPr/>
        </p:nvSpPr>
        <p:spPr>
          <a:xfrm>
            <a:off x="3056285" y="37614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4" name="Java Collections / Streams…">
            <a:extLst>
              <a:ext uri="{FF2B5EF4-FFF2-40B4-BE49-F238E27FC236}">
                <a16:creationId xmlns:a16="http://schemas.microsoft.com/office/drawing/2014/main" id="{9096C22A-C62D-F9A8-7624-FD161FB3C089}"/>
              </a:ext>
            </a:extLst>
          </p:cNvPr>
          <p:cNvSpPr txBox="1"/>
          <p:nvPr/>
        </p:nvSpPr>
        <p:spPr>
          <a:xfrm>
            <a:off x="1361516" y="1150919"/>
            <a:ext cx="2879891" cy="656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Java Collections / Streams</a:t>
            </a:r>
          </a:p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Eclipse Collections</a:t>
            </a:r>
          </a:p>
        </p:txBody>
      </p:sp>
      <p:sp>
        <p:nvSpPr>
          <p:cNvPr id="35" name="Collections…">
            <a:extLst>
              <a:ext uri="{FF2B5EF4-FFF2-40B4-BE49-F238E27FC236}">
                <a16:creationId xmlns:a16="http://schemas.microsoft.com/office/drawing/2014/main" id="{418FBF99-05A2-DC85-8DE6-31B541D51987}"/>
              </a:ext>
            </a:extLst>
          </p:cNvPr>
          <p:cNvSpPr/>
          <p:nvPr/>
        </p:nvSpPr>
        <p:spPr>
          <a:xfrm>
            <a:off x="1724403" y="4064640"/>
            <a:ext cx="2141091" cy="214109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200" dirty="0"/>
              <a:t>Collections</a:t>
            </a:r>
          </a:p>
          <a:p>
            <a:pPr defTabSz="825500">
              <a:defRPr sz="6400" b="1">
                <a:solidFill>
                  <a:srgbClr val="942192"/>
                </a:solidFill>
              </a:defRPr>
            </a:pPr>
            <a:r>
              <a:rPr sz="4000" dirty="0"/>
              <a:t>64</a:t>
            </a:r>
          </a:p>
        </p:txBody>
      </p:sp>
      <p:sp>
        <p:nvSpPr>
          <p:cNvPr id="36" name="1">
            <a:extLst>
              <a:ext uri="{FF2B5EF4-FFF2-40B4-BE49-F238E27FC236}">
                <a16:creationId xmlns:a16="http://schemas.microsoft.com/office/drawing/2014/main" id="{720DE3E7-80BB-2DE5-AB74-E8917E10C94C}"/>
              </a:ext>
            </a:extLst>
          </p:cNvPr>
          <p:cNvSpPr txBox="1"/>
          <p:nvPr/>
        </p:nvSpPr>
        <p:spPr>
          <a:xfrm>
            <a:off x="3318459" y="435825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1</a:t>
            </a:r>
          </a:p>
        </p:txBody>
      </p:sp>
      <p:sp>
        <p:nvSpPr>
          <p:cNvPr id="37" name="2">
            <a:extLst>
              <a:ext uri="{FF2B5EF4-FFF2-40B4-BE49-F238E27FC236}">
                <a16:creationId xmlns:a16="http://schemas.microsoft.com/office/drawing/2014/main" id="{1191ED59-E6C1-FB6F-71D7-107B5FAD0778}"/>
              </a:ext>
            </a:extLst>
          </p:cNvPr>
          <p:cNvSpPr txBox="1"/>
          <p:nvPr/>
        </p:nvSpPr>
        <p:spPr>
          <a:xfrm>
            <a:off x="2562987" y="41167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2</a:t>
            </a:r>
          </a:p>
        </p:txBody>
      </p:sp>
      <p:sp>
        <p:nvSpPr>
          <p:cNvPr id="38" name="3">
            <a:extLst>
              <a:ext uri="{FF2B5EF4-FFF2-40B4-BE49-F238E27FC236}">
                <a16:creationId xmlns:a16="http://schemas.microsoft.com/office/drawing/2014/main" id="{F491EBBC-EE53-A561-8686-9ACE08632D4B}"/>
              </a:ext>
            </a:extLst>
          </p:cNvPr>
          <p:cNvSpPr txBox="1"/>
          <p:nvPr/>
        </p:nvSpPr>
        <p:spPr>
          <a:xfrm>
            <a:off x="3527410" y="4873470"/>
            <a:ext cx="235535" cy="284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76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2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600"/>
              <a:t>3</a:t>
            </a:r>
          </a:p>
        </p:txBody>
      </p:sp>
      <p:sp>
        <p:nvSpPr>
          <p:cNvPr id="39" name="Metric - Number of Non-overloaded Methods">
            <a:extLst>
              <a:ext uri="{FF2B5EF4-FFF2-40B4-BE49-F238E27FC236}">
                <a16:creationId xmlns:a16="http://schemas.microsoft.com/office/drawing/2014/main" id="{A5B89E80-EBCE-837D-A887-5496085151DE}"/>
              </a:ext>
            </a:extLst>
          </p:cNvPr>
          <p:cNvSpPr txBox="1"/>
          <p:nvPr/>
        </p:nvSpPr>
        <p:spPr>
          <a:xfrm>
            <a:off x="7715250" y="1096748"/>
            <a:ext cx="3638550" cy="318036"/>
          </a:xfrm>
          <a:prstGeom prst="rect">
            <a:avLst/>
          </a:prstGeom>
          <a:solidFill>
            <a:srgbClr val="94219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400" dirty="0"/>
              <a:t>Metric - Number of Non-overloaded Methods</a:t>
            </a: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160199A8-D8B8-8225-2AC9-F8BEFE9A02C1}"/>
              </a:ext>
            </a:extLst>
          </p:cNvPr>
          <p:cNvSpPr/>
          <p:nvPr/>
        </p:nvSpPr>
        <p:spPr>
          <a:xfrm>
            <a:off x="1045049" y="1501063"/>
            <a:ext cx="250205" cy="251643"/>
          </a:xfrm>
          <a:prstGeom prst="ellipse">
            <a:avLst/>
          </a:prstGeom>
          <a:solidFill>
            <a:srgbClr val="A6FCD6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FFAD304E-41F0-435A-48CC-7282D3766A42}"/>
              </a:ext>
            </a:extLst>
          </p:cNvPr>
          <p:cNvSpPr/>
          <p:nvPr/>
        </p:nvSpPr>
        <p:spPr>
          <a:xfrm>
            <a:off x="1045049" y="1206117"/>
            <a:ext cx="250205" cy="251643"/>
          </a:xfrm>
          <a:prstGeom prst="ellipse">
            <a:avLst/>
          </a:prstGeom>
          <a:solidFill>
            <a:srgbClr val="FFFED5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2" name="Gatherers…">
            <a:extLst>
              <a:ext uri="{FF2B5EF4-FFF2-40B4-BE49-F238E27FC236}">
                <a16:creationId xmlns:a16="http://schemas.microsoft.com/office/drawing/2014/main" id="{6DF9435A-5C41-9ABC-0722-F2B9B202E432}"/>
              </a:ext>
            </a:extLst>
          </p:cNvPr>
          <p:cNvSpPr/>
          <p:nvPr/>
        </p:nvSpPr>
        <p:spPr>
          <a:xfrm>
            <a:off x="1214884" y="2072014"/>
            <a:ext cx="850960" cy="822960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0" tIns="50800" rIns="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algn="l" defTabSz="825500">
              <a:defRPr sz="2300" b="1">
                <a:solidFill>
                  <a:srgbClr val="000000"/>
                </a:solidFill>
              </a:defRPr>
            </a:pPr>
            <a:r>
              <a:rPr sz="1100" dirty="0"/>
              <a:t>Gatherers</a:t>
            </a:r>
          </a:p>
          <a:p>
            <a:pPr defTabSz="825500">
              <a:defRPr b="1">
                <a:solidFill>
                  <a:srgbClr val="942192"/>
                </a:solidFill>
              </a:defRPr>
            </a:pPr>
            <a:r>
              <a:rPr sz="1100" dirty="0"/>
              <a:t>5</a:t>
            </a:r>
          </a:p>
        </p:txBody>
      </p:sp>
      <p:sp>
        <p:nvSpPr>
          <p:cNvPr id="43" name="12">
            <a:extLst>
              <a:ext uri="{FF2B5EF4-FFF2-40B4-BE49-F238E27FC236}">
                <a16:creationId xmlns:a16="http://schemas.microsoft.com/office/drawing/2014/main" id="{6AF7B2D3-C5B3-8636-C282-E47A394AEE7E}"/>
              </a:ext>
            </a:extLst>
          </p:cNvPr>
          <p:cNvSpPr txBox="1"/>
          <p:nvPr/>
        </p:nvSpPr>
        <p:spPr>
          <a:xfrm>
            <a:off x="3656279" y="4199861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xmlns:lc="http://schemas.openxmlformats.org/drawingml/2006/lockedCanvas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12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3801336-2D11-CF43-495B-BAAF89F9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8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ECB8E-7FF6-48B7-C878-E85625B33A3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7463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Methods by Category - Highlights</a:t>
            </a:r>
            <a:endParaRPr lang="en-US" dirty="0"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5"/>
            <a:ext cx="5543571" cy="2700774"/>
            <a:chOff x="0" y="-1"/>
            <a:chExt cx="5543569" cy="2700772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5" y="-1"/>
              <a:ext cx="5543564" cy="650792"/>
              <a:chOff x="-1" y="-1"/>
              <a:chExt cx="5543563" cy="650791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3009"/>
                <a:ext cx="5543563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transform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6"/>
            <a:ext cx="2028574" cy="1978245"/>
            <a:chOff x="0" y="-1"/>
            <a:chExt cx="2028572" cy="1978244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0" y="-1"/>
              <a:ext cx="2028572" cy="650793"/>
              <a:chOff x="-1" y="-1"/>
              <a:chExt cx="2028571" cy="650792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wrap</a:t>
                </a:r>
                <a:r>
                  <a:rPr lang="en-US" dirty="0"/>
                  <a:t>ping</a:t>
                </a:r>
                <a:endParaRPr dirty="0"/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7"/>
            <a:ext cx="1968763" cy="4152098"/>
            <a:chOff x="0" y="-1"/>
            <a:chExt cx="1968762" cy="4152097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5" y="-1"/>
              <a:ext cx="1968757" cy="650793"/>
              <a:chOff x="-1" y="-1"/>
              <a:chExt cx="1968756" cy="650792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3010"/>
                <a:ext cx="1968756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convert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4"/>
            <a:ext cx="2241723" cy="2208202"/>
            <a:chOff x="0" y="-1"/>
            <a:chExt cx="2241722" cy="2208201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1" y="-1"/>
              <a:ext cx="2241721" cy="650793"/>
              <a:chOff x="-1" y="-1"/>
              <a:chExt cx="2241720" cy="650792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3010"/>
                <a:ext cx="2241720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filter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1"/>
            <a:ext cx="2028576" cy="1980259"/>
            <a:chOff x="0" y="-1"/>
            <a:chExt cx="2028574" cy="1980258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2" y="-1"/>
              <a:ext cx="2028572" cy="650793"/>
              <a:chOff x="-1" y="-1"/>
              <a:chExt cx="2028571" cy="650792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test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0"/>
            <a:ext cx="2214038" cy="1967832"/>
            <a:chOff x="0" y="-1"/>
            <a:chExt cx="2214037" cy="1967830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1" y="-1"/>
              <a:ext cx="2214036" cy="650793"/>
              <a:chOff x="-1" y="-1"/>
              <a:chExt cx="2214035" cy="650792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3010"/>
                <a:ext cx="2214035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find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3"/>
            <a:ext cx="3089568" cy="2478793"/>
            <a:chOff x="0" y="-1"/>
            <a:chExt cx="3089567" cy="2478791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-1"/>
              <a:ext cx="3089564" cy="650793"/>
              <a:chOff x="0" y="-1"/>
              <a:chExt cx="3089562" cy="650792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3010"/>
                <a:ext cx="3089562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="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lang="en-US" dirty="0"/>
                  <a:t>g</a:t>
                </a:r>
                <a:r>
                  <a:rPr dirty="0"/>
                  <a:t>roup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0C5AF5-537C-A608-4161-9D0310BB86B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68E1-B971-53F6-9574-60867B1F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Simulating Method Categories in IntelliJ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3324"/>
            <a:ext cx="7772400" cy="4708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EEA28-248E-27BD-0AC3-AC7DB5307E67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321D37-A392-03EE-586D-5FAD9C6A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CED0B-071D-42E7-AF1F-66B77D6AD5B3}"/>
              </a:ext>
            </a:extLst>
          </p:cNvPr>
          <p:cNvSpPr txBox="1"/>
          <p:nvPr/>
        </p:nvSpPr>
        <p:spPr>
          <a:xfrm>
            <a:off x="838200" y="1097776"/>
            <a:ext cx="422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</a:t>
            </a:r>
            <a:r>
              <a:rPr lang="en-US" b="1" dirty="0"/>
              <a:t>Custom Code Folding Regions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9A31B18-ECB7-A23A-9950-4393F056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963" y="1060309"/>
            <a:ext cx="4587479" cy="5296041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softEdge rad="0"/>
          </a:effec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81A2A41-9C6A-43D2-8239-27968DE6245B}"/>
              </a:ext>
            </a:extLst>
          </p:cNvPr>
          <p:cNvCxnSpPr>
            <a:cxnSpLocks/>
          </p:cNvCxnSpPr>
          <p:nvPr/>
        </p:nvCxnSpPr>
        <p:spPr>
          <a:xfrm flipV="1">
            <a:off x="3416643" y="1334530"/>
            <a:ext cx="2910016" cy="1075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630C00-5E55-5BF6-F05F-92601C82362D}"/>
              </a:ext>
            </a:extLst>
          </p:cNvPr>
          <p:cNvCxnSpPr>
            <a:cxnSpLocks/>
          </p:cNvCxnSpPr>
          <p:nvPr/>
        </p:nvCxnSpPr>
        <p:spPr>
          <a:xfrm>
            <a:off x="3416643" y="2409568"/>
            <a:ext cx="2910016" cy="3651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73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B5161-E119-F229-D991-9E4CD4DE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51F16C-4618-1254-5A93-A7469A69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Memory: 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69B52A-26C4-EE1A-2EFE-9E0E2642D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Java Object Layout (JOL) - </a:t>
            </a:r>
            <a:r>
              <a:rPr lang="en-US" u="sng" dirty="0">
                <a:latin typeface="Aptos" panose="020B0004020202020204" pitchFamily="34" charset="0"/>
                <a:hlinkClick r:id="rId2"/>
              </a:rPr>
              <a:t>OpenJDK Code Tools Project</a:t>
            </a:r>
            <a:br>
              <a:rPr lang="en-US" u="sng" dirty="0">
                <a:latin typeface="Aptos" panose="020B0004020202020204" pitchFamily="34" charset="0"/>
              </a:rPr>
            </a:br>
            <a:r>
              <a:rPr lang="en-US" sz="2200" i="1" dirty="0">
                <a:latin typeface="Aptos" panose="020B0004020202020204" pitchFamily="34" charset="0"/>
              </a:rPr>
              <a:t>JOL (Java Object Layout) is the tiny toolbox to analyze object layout schemes in JVMs. JOL [is] much more accurate than other tools relying on heap dumps, specification assumptions, etc.</a:t>
            </a:r>
            <a:endParaRPr lang="en-US" sz="2200" dirty="0">
              <a:latin typeface="Aptos" panose="020B0004020202020204" pitchFamily="34" charset="0"/>
            </a:endParaRPr>
          </a:p>
          <a:p>
            <a:pPr marL="1005839" lvl="2" indent="0">
              <a:lnSpc>
                <a:spcPts val="1500"/>
              </a:lnSpc>
              <a:buNone/>
            </a:pPr>
            <a:endParaRPr lang="en-US" sz="1700" dirty="0">
              <a:solidFill>
                <a:schemeClr val="accent1">
                  <a:lumMod val="50000"/>
                </a:schemeClr>
              </a:solidFill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&lt;dependency&gt;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org.openjdk.jol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&gt;jol-core&lt;/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&lt;version&gt;0.17&lt;/version&gt;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&lt;/dependency&gt;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Further reading</a:t>
            </a: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Baeldung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3"/>
              </a:rPr>
              <a:t>Memory Layout of Objects in Java</a:t>
            </a:r>
            <a:endParaRPr lang="en-US" dirty="0">
              <a:latin typeface="Aptos" panose="020B0004020202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StackOverflow</a:t>
            </a:r>
            <a:r>
              <a:rPr lang="en-US" dirty="0">
                <a:latin typeface="Aptos" panose="020B0004020202020204" pitchFamily="34" charset="0"/>
              </a:rPr>
              <a:t>: </a:t>
            </a:r>
          </a:p>
          <a:p>
            <a:pPr lvl="2">
              <a:lnSpc>
                <a:spcPct val="120000"/>
              </a:lnSpc>
            </a:pPr>
            <a:r>
              <a:rPr lang="en-US" u="sng" dirty="0">
                <a:latin typeface="Aptos" panose="020B0004020202020204" pitchFamily="34" charset="0"/>
                <a:hlinkClick r:id="rId4"/>
              </a:rPr>
              <a:t>Does Java Object Layout work with Java Records?</a:t>
            </a:r>
            <a:endParaRPr lang="en-US" u="sng" dirty="0">
              <a:latin typeface="Aptos" panose="020B0004020202020204" pitchFamily="34" charset="0"/>
            </a:endParaRPr>
          </a:p>
          <a:p>
            <a:pPr lvl="2">
              <a:lnSpc>
                <a:spcPct val="120000"/>
              </a:lnSpc>
            </a:pPr>
            <a:r>
              <a:rPr lang="en-US" dirty="0">
                <a:latin typeface="Aptos" panose="020B0004020202020204" pitchFamily="34" charset="0"/>
                <a:hlinkClick r:id="rId5"/>
              </a:rPr>
              <a:t>Does Java Object Layout (JOL) work with Java 25 and Compact Object Headers enabled?</a:t>
            </a:r>
            <a:endParaRPr lang="en-US" u="sng" dirty="0">
              <a:latin typeface="Aptos" panose="020B0004020202020204" pitchFamily="34" charset="0"/>
            </a:endParaRP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A74B74-31EE-CF78-2B4F-FAF4D7D3153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10F7F-3071-9330-399E-5EF79809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1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F4B80A-B43E-B858-17CD-6AC98AC2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Word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Count 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0DC2-21BE-4AD1-9CAC-C0FC0352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13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94C2B61-954C-6F4D-53C7-F5A60D4BA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44955"/>
            <a:ext cx="7334250" cy="45815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36F6E-5CE7-B6E0-80BD-E758EE97526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02888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Generation Set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86E335-E445-274E-68AC-FEA3C11A6B3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5F657-398C-1CA6-04C0-D750849E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A5404-5710-7A23-A097-7DB2509E272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A0EA9B-391A-B149-4F4D-67ED15C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/>
              <a:t>Memory Usage (Overhead in KB, Count)</a:t>
            </a:r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84A90-5A65-E940-BC09-C941C0C90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10470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+mn-lt"/>
                        </a:rPr>
                        <a:t>Features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+mn-lt"/>
                        </a:rPr>
                        <a:t>Thread Safety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31A5B18-EC76-0D07-1117-7770FDB14336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9B3A8-ED57-3875-16AF-F438047A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495054-12D5-B6D0-7BE9-CFCC22A911B4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ED0E4-CD55-8A36-F2B4-85A0657FB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0CBBDB-6F49-592D-E4F0-BF5B368D196F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18C11-BEA5-FBE4-773D-FB6C113B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C3F1-CC2A-F123-BDD7-5E7E9C6E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B467-ACEC-2CB6-FD26-728501ED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 more from your collections </a:t>
            </a:r>
          </a:p>
          <a:p>
            <a:r>
              <a:rPr lang="en-US" dirty="0"/>
              <a:t>Memory is an expensive resource – use it wisely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Eclipse Collections – more features with less waste</a:t>
            </a:r>
          </a:p>
          <a:p>
            <a:r>
              <a:rPr lang="en-US" dirty="0"/>
              <a:t>Intention revealing code – easy to write, easy to read!</a:t>
            </a:r>
          </a:p>
          <a:p>
            <a:r>
              <a:rPr lang="en-US" dirty="0"/>
              <a:t>Many learning resources available</a:t>
            </a:r>
          </a:p>
          <a:p>
            <a:pPr lvl="1"/>
            <a:r>
              <a:rPr lang="en-US" dirty="0"/>
              <a:t>Source code w/ Reference Guide in </a:t>
            </a:r>
            <a:r>
              <a:rPr lang="en-US" dirty="0" err="1"/>
              <a:t>AsciiDoc</a:t>
            </a:r>
            <a:endParaRPr lang="en-US" dirty="0"/>
          </a:p>
          <a:p>
            <a:pPr lvl="2"/>
            <a:r>
              <a:rPr lang="en-US" dirty="0">
                <a:hlinkClick r:id="rId2"/>
              </a:rPr>
              <a:t>https://github.com/eclipse-collections/eclipse-collections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Code katas </a:t>
            </a:r>
          </a:p>
          <a:p>
            <a:pPr lvl="2"/>
            <a:r>
              <a:rPr lang="en-US" dirty="0">
                <a:hlinkClick r:id="rId3"/>
              </a:rPr>
              <a:t>https://github.com/eclipse-collections/eclipse-collections-kata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Book: Eclipse Collections Categorically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5461">
            <a:off x="9300580" y="3661858"/>
            <a:ext cx="2113053" cy="2607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CEAE4B-1338-54D5-01E4-C5F93152FED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8079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B1840A-0A8F-15F7-2454-401F82DD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4B8D3-5139-EEF2-C2FA-E3374121C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35AA-5070-B51D-7492-7226CF8B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47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84DA-2B31-7C3D-32A6-CB43E195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Eclipse Collections Set Type Hierarchy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17414-88B9-7453-18EB-ADCFD3F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55D25964-79BD-1889-55AD-F66730D5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039" y="983330"/>
            <a:ext cx="9477922" cy="58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28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variety of objects&#10;&#10;AI-generated content may be incorrect.">
            <a:extLst>
              <a:ext uri="{FF2B5EF4-FFF2-40B4-BE49-F238E27FC236}">
                <a16:creationId xmlns:a16="http://schemas.microsoft.com/office/drawing/2014/main" id="{2699D11E-2037-AF6B-AED6-F6FEC6EC638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211" y="958109"/>
            <a:ext cx="7803578" cy="57212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4E03B-C10E-EF55-732F-BDDBEC4E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Non-JDK Collection Types in EC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6896D8-AAFA-A7F6-3552-C28C9D9B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1298</Words>
  <Application>Microsoft Office PowerPoint</Application>
  <PresentationFormat>Widescreen</PresentationFormat>
  <Paragraphs>398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4" baseType="lpstr">
      <vt:lpstr>D2CodingLigature Nerd Font</vt:lpstr>
      <vt:lpstr>Aptos</vt:lpstr>
      <vt:lpstr>Aptos Display</vt:lpstr>
      <vt:lpstr>Aptos Narrow</vt:lpstr>
      <vt:lpstr>Arial</vt:lpstr>
      <vt:lpstr>Consolas</vt:lpstr>
      <vt:lpstr>JetBrains Mono</vt:lpstr>
      <vt:lpstr>JetBrains Mono Medium</vt:lpstr>
      <vt:lpstr>Univers</vt:lpstr>
      <vt:lpstr>Wingdings</vt:lpstr>
      <vt:lpstr>Office Theme</vt:lpstr>
      <vt:lpstr>Refactoring. to  </vt:lpstr>
      <vt:lpstr>Introduction</vt:lpstr>
      <vt:lpstr>Why Refactor to EC?</vt:lpstr>
      <vt:lpstr>Any Types You Need</vt:lpstr>
      <vt:lpstr>Instantiate Them Using Factories</vt:lpstr>
      <vt:lpstr>Evolving from JDK to EC Factories and Types</vt:lpstr>
      <vt:lpstr>Evolving from JDK to EC Factories and Types</vt:lpstr>
      <vt:lpstr>Set/Stream vs. ImmutableSet</vt:lpstr>
      <vt:lpstr>Methods by Category - Highlights</vt:lpstr>
      <vt:lpstr>Simulating Method Categories in IntelliJ</vt:lpstr>
      <vt:lpstr>Let’s Do It!</vt:lpstr>
      <vt:lpstr>Memory: Methodology</vt:lpstr>
      <vt:lpstr>Memory: Word  Count Map</vt:lpstr>
      <vt:lpstr>Memory: Generation Set</vt:lpstr>
      <vt:lpstr>Memory: Year  Generation Map</vt:lpstr>
      <vt:lpstr>Memory Usage (Overhead in KB, Count)</vt:lpstr>
      <vt:lpstr>Eclipse Collections – What’s in It for Me?</vt:lpstr>
      <vt:lpstr>Example: DataFrame-EC</vt:lpstr>
      <vt:lpstr>Example: DataFrame-EC</vt:lpstr>
      <vt:lpstr>Takeaways</vt:lpstr>
      <vt:lpstr>Appendix</vt:lpstr>
      <vt:lpstr>Eclipse Collections Set Type Hierarchy</vt:lpstr>
      <vt:lpstr>Non-JDK Collection Types in 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Vladimir Zakharov</dc:creator>
  <cp:lastModifiedBy>Vladimir Zakharov</cp:lastModifiedBy>
  <cp:revision>26</cp:revision>
  <dcterms:created xsi:type="dcterms:W3CDTF">2025-09-21T17:56:41Z</dcterms:created>
  <dcterms:modified xsi:type="dcterms:W3CDTF">2025-09-27T03:15:49Z</dcterms:modified>
</cp:coreProperties>
</file>