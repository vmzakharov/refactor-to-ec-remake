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66" r:id="rId4"/>
    <p:sldId id="269" r:id="rId5"/>
    <p:sldId id="267" r:id="rId6"/>
    <p:sldId id="258" r:id="rId7"/>
    <p:sldId id="259" r:id="rId8"/>
    <p:sldId id="260" r:id="rId9"/>
    <p:sldId id="261" r:id="rId10"/>
    <p:sldId id="262" r:id="rId11"/>
    <p:sldId id="263" r:id="rId12"/>
    <p:sldId id="270" r:id="rId13"/>
    <p:sldId id="271" r:id="rId14"/>
    <p:sldId id="264" r:id="rId1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307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11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1" name="Shape 11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65230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21753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0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2200" y="121753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4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4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Text"/>
          <p:cNvSpPr txBox="1"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287886"/>
            <a:ext cx="10515600" cy="4889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  <p:sp>
        <p:nvSpPr>
          <p:cNvPr id="5" name="Straight Connector 7"/>
          <p:cNvSpPr/>
          <p:nvPr/>
        </p:nvSpPr>
        <p:spPr>
          <a:xfrm>
            <a:off x="838200" y="1017431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ransition spd="med"/>
  <p:hf hdr="0" ftr="0" dt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nesandnoble.com/w/eclipse-collections-categorically-donald-raab/1147510676?ean=9798992700732" TargetMode="External"/><Relationship Id="rId2" Type="http://schemas.openxmlformats.org/officeDocument/2006/relationships/hyperlink" Target="https://www.amazon.com/Eclipse-Collections-Categorically-Level-programming/dp/B0F6713S3W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nesandnoble.com/w/eclipse-collections-categorically-donald-raab/1147510676?ean=9798992700732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s://www.amazon.com/Eclipse-Collections-Categorically-Level-programming/dp/B0F6713S3W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Refactoring to </a:t>
            </a:r>
            <a:br/>
            <a:r>
              <a:t>Eclipse Collections</a:t>
            </a:r>
          </a:p>
        </p:txBody>
      </p:sp>
      <p:sp>
        <p:nvSpPr>
          <p:cNvPr id="114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02037"/>
            <a:ext cx="9144000" cy="165576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endParaRPr/>
          </a:p>
          <a:p>
            <a:pPr>
              <a:defRPr sz="3200">
                <a:solidFill>
                  <a:srgbClr val="808080"/>
                </a:solidFill>
              </a:defRPr>
            </a:pPr>
            <a:r>
              <a:t>Making Your Java Streams</a:t>
            </a:r>
            <a:br/>
            <a:r>
              <a:t>Leaner, Meaner, and Cleaner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287886"/>
            <a:ext cx="10515600" cy="4889077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pPr>
              <a:lnSpc>
                <a:spcPct val="108000"/>
              </a:lnSpc>
              <a:defRPr sz="2500"/>
            </a:pPr>
            <a:r>
              <a:rPr dirty="0"/>
              <a:t>What is Eclipse Collections?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Feature rich, memory efficient Java Collections framework</a:t>
            </a:r>
          </a:p>
          <a:p>
            <a:pPr>
              <a:lnSpc>
                <a:spcPct val="108000"/>
              </a:lnSpc>
              <a:defRPr sz="2500"/>
            </a:pPr>
            <a:r>
              <a:rPr dirty="0"/>
              <a:t>History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Eclipse Collections started off as an internal collections</a:t>
            </a:r>
            <a:br>
              <a:rPr dirty="0"/>
            </a:br>
            <a:r>
              <a:rPr dirty="0"/>
              <a:t>framework named Caramel at Goldman Sachs in 2004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In 2012, it was open sourced to GitHub as a project called 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/>
              </a:rPr>
              <a:t>GS Collections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GS Collections was migrated to the Eclipse Foundation, re-branded as 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/>
              </a:rPr>
              <a:t>Eclipse Collections</a:t>
            </a:r>
            <a:r>
              <a:rPr dirty="0">
                <a:solidFill>
                  <a:srgbClr val="FF0000"/>
                </a:solidFill>
              </a:rPr>
              <a:t> </a:t>
            </a:r>
            <a:r>
              <a:rPr dirty="0"/>
              <a:t>in 2015</a:t>
            </a:r>
            <a:endParaRPr lang="en-US" dirty="0"/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lang="en-US" dirty="0"/>
              <a:t>Eclipse Collections 12.0 (Java 11+) &amp; 13.0 (Java 17+) released in June 2025</a:t>
            </a:r>
            <a:endParaRPr dirty="0"/>
          </a:p>
          <a:p>
            <a:pPr>
              <a:lnSpc>
                <a:spcPct val="108000"/>
              </a:lnSpc>
              <a:defRPr sz="2500"/>
            </a:pPr>
            <a:r>
              <a:rPr dirty="0"/>
              <a:t>Learn Eclipse Collections with 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/>
              </a:rPr>
              <a:t>Kata</a:t>
            </a:r>
          </a:p>
          <a:p>
            <a:pPr>
              <a:lnSpc>
                <a:spcPct val="108000"/>
              </a:lnSpc>
              <a:defRPr sz="2500"/>
            </a:pPr>
            <a:r>
              <a:rPr dirty="0"/>
              <a:t>Eclipse Collections is 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/>
              </a:rPr>
              <a:t>open for contributions</a:t>
            </a:r>
            <a:r>
              <a:rPr dirty="0"/>
              <a:t>!</a:t>
            </a:r>
          </a:p>
        </p:txBody>
      </p:sp>
      <p:sp>
        <p:nvSpPr>
          <p:cNvPr id="11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6E4A0-E5EE-8898-B895-69DBDFC69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Book: Eclipse Collections Categorically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90573-B873-36D3-5696-37C7353E0C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Paperback, Hardcover(x2), and eBook Versions Available</a:t>
            </a:r>
          </a:p>
          <a:p>
            <a:r>
              <a:rPr lang="en-US" dirty="0">
                <a:hlinkClick r:id="rId2"/>
              </a:rPr>
              <a:t>Amazon</a:t>
            </a:r>
            <a:r>
              <a:rPr lang="en-US" dirty="0"/>
              <a:t> / </a:t>
            </a:r>
            <a:r>
              <a:rPr lang="en-US" dirty="0">
                <a:hlinkClick r:id="rId3"/>
              </a:rPr>
              <a:t>Barnes &amp; Noble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7AF773-CB70-3B5B-0DB8-279E16D83B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468390"/>
            <a:ext cx="7219164" cy="4060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EBA83C-A2BA-A70E-AF79-131C825E159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7364" y="2458639"/>
            <a:ext cx="3052899" cy="407053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371D9-9F31-1770-11A4-F948DAB826EA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3463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29DB-F132-1CDD-B0AC-FDD56811B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56C1E-2DF4-224F-A78F-EE95CF50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Book: Eclipse Collections Categorically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E1F3B-31EF-B567-26A6-3CF0B9A8D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Paperback, Hardcover(x2), and eBook Versions Available</a:t>
            </a:r>
          </a:p>
          <a:p>
            <a:r>
              <a:rPr lang="en-US" dirty="0">
                <a:hlinkClick r:id="rId2"/>
              </a:rPr>
              <a:t>Amazon</a:t>
            </a:r>
            <a:r>
              <a:rPr lang="en-US" dirty="0"/>
              <a:t> / </a:t>
            </a:r>
            <a:r>
              <a:rPr lang="en-US" dirty="0">
                <a:hlinkClick r:id="rId3"/>
              </a:rPr>
              <a:t>Barnes &amp; Noble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1845BA-7DEE-DA32-D5ED-B225F441C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8083" y="2471735"/>
            <a:ext cx="2990884" cy="38485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FB2F71A-38D3-5E9B-ABA0-5ECDE410C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688" y="3103681"/>
            <a:ext cx="2224384" cy="275316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4512" y="3001707"/>
            <a:ext cx="2321742" cy="286522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A2FAC23-E225-045D-3924-56C311FB59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01694" y="2746444"/>
            <a:ext cx="2640950" cy="33757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FF7FC18-535D-D34A-D488-0BC47BB35900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5066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Simulating Method Categories in Java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A876A-D174-1114-EF8D-0AAC7D13D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IntelliJ Custom Code Folding Regions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02" y="1825720"/>
            <a:ext cx="7772400" cy="470878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7081E-1F5C-17DB-0560-70997DA10A6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244876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Why Refactor to EC?</a:t>
            </a:r>
          </a:p>
        </p:txBody>
      </p:sp>
      <p:sp>
        <p:nvSpPr>
          <p:cNvPr id="136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TestUtils</a:t>
                </a:r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1" name="Slide Number Placeholder 47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MutableIntList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LongStack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SortedBagMultimap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ImmutableObjectLongMap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MutableSortedSetMultimap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0600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sp>
        <p:nvSpPr>
          <p:cNvPr id="237" name="Slide Number Placeholder 47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graphicFrame>
        <p:nvGraphicFramePr>
          <p:cNvPr id="238" name="Table 3"/>
          <p:cNvGraphicFramePr/>
          <p:nvPr/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Primitive Type</a:t>
                      </a:r>
                    </a:p>
                  </a:txBody>
                  <a:tcPr marL="45720" marR="45720" anchor="b" horzOverflow="overflow">
                    <a:lnL w="38100">
                      <a:solidFill>
                        <a:srgbClr val="FFFFFF"/>
                      </a:solidFill>
                    </a:lnL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Lazy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Boolean</a:t>
                      </a:r>
                      <a:br/>
                      <a:r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Short</a:t>
                      </a:r>
                    </a:p>
                  </a:txBody>
                  <a:tcPr marL="45720" marR="45720" horzOverflow="overflow">
                    <a:lnL w="38100">
                      <a:solidFill>
                        <a:srgbClr val="FFFFFF"/>
                      </a:solidFill>
                    </a:lnL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BiMaps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SortedBags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SortedMaps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SortedSets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Stacks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.asLazy()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458909"/>
            <a:ext cx="9206346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LongStacks</a:t>
            </a:r>
            <a:r>
              <a:rPr>
                <a:solidFill>
                  <a:srgbClr val="000000"/>
                </a:solidFill>
              </a:rPr>
              <a:t>.</a:t>
            </a:r>
            <a:r>
              <a:rPr b="1" i="1">
                <a:solidFill>
                  <a:srgbClr val="660E7A"/>
                </a:solidFill>
              </a:rPr>
              <a:t>immutable</a:t>
            </a:r>
            <a:r>
              <a:rPr>
                <a:solidFill>
                  <a:srgbClr val="000000"/>
                </a:solidFill>
              </a:rPr>
              <a:t>.with(</a:t>
            </a:r>
            <a:r>
              <a:rPr>
                <a:solidFill>
                  <a:srgbClr val="0000FF"/>
                </a:solidFill>
              </a:rPr>
              <a:t>1</a:t>
            </a:r>
            <a:r>
              <a:rPr>
                <a:solidFill>
                  <a:srgbClr val="000000"/>
                </a:solidFill>
              </a:rPr>
              <a:t>, </a:t>
            </a:r>
            <a:r>
              <a:rPr>
                <a:solidFill>
                  <a:srgbClr val="0000FF"/>
                </a:solidFill>
              </a:rPr>
              <a:t>2</a:t>
            </a:r>
            <a:r>
              <a:rPr>
                <a:solidFill>
                  <a:srgbClr val="000000"/>
                </a:solidFill>
              </a:rPr>
              <a:t>, </a:t>
            </a:r>
            <a:r>
              <a:rPr>
                <a:solidFill>
                  <a:srgbClr val="0000FF"/>
                </a:solidFill>
              </a:rPr>
              <a:t>3</a:t>
            </a:r>
            <a:r>
              <a:rPr>
                <a:solidFill>
                  <a:srgbClr val="000000"/>
                </a:solidFill>
              </a:rPr>
              <a:t>).asLazy()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80652" y="6068286"/>
            <a:ext cx="3030697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LazyLongIterable</a:t>
            </a: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94967"/>
            <a:ext cx="3969329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ImmutableLongStack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Methods by Category - Highlights</a:t>
            </a:r>
          </a:p>
        </p:txBody>
      </p:sp>
      <p:sp>
        <p:nvSpPr>
          <p:cNvPr id="247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6"/>
            <a:ext cx="5543569" cy="2700772"/>
            <a:chOff x="0" y="0"/>
            <a:chExt cx="5543567" cy="2700770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6" y="0"/>
              <a:ext cx="5543562" cy="650790"/>
              <a:chOff x="0" y="0"/>
              <a:chExt cx="5543561" cy="650789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8374"/>
                <a:ext cx="5543563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transform</a:t>
                </a:r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7"/>
            <a:ext cx="2028572" cy="1978243"/>
            <a:chOff x="0" y="0"/>
            <a:chExt cx="2028570" cy="1978242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1" y="0"/>
              <a:ext cx="2028570" cy="650791"/>
              <a:chOff x="0" y="0"/>
              <a:chExt cx="2028569" cy="650790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8375"/>
                <a:ext cx="2028571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wrap</a:t>
                </a:r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8"/>
            <a:ext cx="1968761" cy="4152097"/>
            <a:chOff x="0" y="0"/>
            <a:chExt cx="1968760" cy="4152096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6" y="0"/>
              <a:ext cx="1968755" cy="650791"/>
              <a:chOff x="0" y="0"/>
              <a:chExt cx="1968754" cy="650790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8375"/>
                <a:ext cx="1968756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convert</a:t>
                </a:r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5"/>
            <a:ext cx="2241721" cy="2208200"/>
            <a:chOff x="0" y="0"/>
            <a:chExt cx="2241720" cy="2208199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2" y="0"/>
              <a:ext cx="2241719" cy="650791"/>
              <a:chOff x="0" y="0"/>
              <a:chExt cx="2241718" cy="650790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8375"/>
                <a:ext cx="2241720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filter</a:t>
                </a:r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2"/>
            <a:ext cx="2028574" cy="1980257"/>
            <a:chOff x="0" y="0"/>
            <a:chExt cx="2028572" cy="1980256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3" y="0"/>
              <a:ext cx="2028570" cy="650791"/>
              <a:chOff x="0" y="0"/>
              <a:chExt cx="2028569" cy="650790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8375"/>
                <a:ext cx="2028571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test</a:t>
                </a:r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1"/>
            <a:ext cx="2214036" cy="1967830"/>
            <a:chOff x="0" y="0"/>
            <a:chExt cx="2214035" cy="1967828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2" y="0"/>
              <a:ext cx="2214034" cy="650791"/>
              <a:chOff x="0" y="0"/>
              <a:chExt cx="2214033" cy="650790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8375"/>
                <a:ext cx="2214035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find</a:t>
                </a:r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4"/>
            <a:ext cx="3089566" cy="2478791"/>
            <a:chOff x="0" y="0"/>
            <a:chExt cx="3089565" cy="2478789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0"/>
              <a:ext cx="3089563" cy="650791"/>
              <a:chOff x="0" y="0"/>
              <a:chExt cx="3089561" cy="650790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8375"/>
                <a:ext cx="3089562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group</a:t>
                </a:r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Methods – Lots More…</a:t>
            </a:r>
          </a:p>
        </p:txBody>
      </p:sp>
      <p:sp>
        <p:nvSpPr>
          <p:cNvPr id="292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  <p:pic>
        <p:nvPicPr>
          <p:cNvPr id="293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083336"/>
            <a:ext cx="9144000" cy="5715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96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Generation Set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B65E37-BB5E-0551-7961-F486D3A8990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12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1E16ED-F707-24A2-D230-49A8350B38E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13</a:t>
            </a:fld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Generations By Year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Memory Usage (Overhead in KB, Count)</a:t>
            </a:r>
          </a:p>
        </p:txBody>
      </p:sp>
      <p:sp>
        <p:nvSpPr>
          <p:cNvPr id="299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</TotalTime>
  <Words>552</Words>
  <Application>Microsoft Office PowerPoint</Application>
  <PresentationFormat>Widescreen</PresentationFormat>
  <Paragraphs>180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Consolas</vt:lpstr>
      <vt:lpstr>Univers</vt:lpstr>
      <vt:lpstr>Univers Condensed</vt:lpstr>
      <vt:lpstr>Office Theme</vt:lpstr>
      <vt:lpstr>Refactoring to  Eclipse Collections</vt:lpstr>
      <vt:lpstr>Introduction</vt:lpstr>
      <vt:lpstr>Book: Eclipse Collections Categorically</vt:lpstr>
      <vt:lpstr>Book: Eclipse Collections Categorically</vt:lpstr>
      <vt:lpstr>Simulating Method Categories in Java</vt:lpstr>
      <vt:lpstr>Why Refactor to EC?</vt:lpstr>
      <vt:lpstr>Any Types You Need</vt:lpstr>
      <vt:lpstr>Instantiate Them Using Factories</vt:lpstr>
      <vt:lpstr>Methods by Category - Highlights</vt:lpstr>
      <vt:lpstr>Methods – Lots More…</vt:lpstr>
      <vt:lpstr>Let’s Do It!</vt:lpstr>
      <vt:lpstr>Memory: Generation Set</vt:lpstr>
      <vt:lpstr>Memory: Generations By Year</vt:lpstr>
      <vt:lpstr>Memory Usage (Overhead in KB, Count)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to  Eclipse Collections</dc:title>
  <dc:creator>Vladimir Zakharov</dc:creator>
  <cp:lastModifiedBy>Vladimir Zakharov</cp:lastModifiedBy>
  <cp:revision>10</cp:revision>
  <dcterms:modified xsi:type="dcterms:W3CDTF">2025-09-18T22:16:02Z</dcterms:modified>
</cp:coreProperties>
</file>